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 Studio lets educators author virtual patient activities: a scripted sequence of steps in which an LLM tutor, and optionally an LLM patient, guide a student through clinical cases. This deck walks through how an author builds one: the Activity Script, the structure of a phase, and the three kinds of elements in a phase's pipeline.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New case opens a gallery: start from scratch, from a script template, or import a case file. 2. Shape the script: the editor enforces Welcome first, Final feedback last, transfers and assessments after Explain case 1, single steps at most once. 3. Each step holds an ordered list of elements. 4. Side information and strategies guide the agents; {{fields}} pull in authored content and earlier answers; the Strategies panel holds the agent prompts. 5. Preview and Generate sample; Try it plays the current draft, even unsaved. 6. Publish runs the readiness checks; students always play the published copy.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case is one JSON document; its steps list is the Activity Script. Welcome and Final feedback are fixed at the ends. Each step type has a default phase name shown in the banner (a step's title replaces it) and records the student's answer under a field later steps can use. Assessments and transfers need Explain case 1 before them; a transfer introduces case 2, 3, and so on. Custom steps get their own title and answer key; renaming one rewrites every reference to its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explain step from the anemia example. The banner shows the phase name, which the step's title can replace. The pipeline is the ordered list of elements: here a generated introduction, a literal opening question, and an interaction that carries the expert explanation as hidden side information. The student's answer in this step becomes {{case1.answer}} for later steps.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literal element is shown as written; it is the only kind the LLM does not touch. A literal without a card, placed right before an interaction, works as the opening question: the student answers it first, and the conversation continues from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generated element the text is an instruction to the LLM, not what the student reads. The tutor writes the text at that point in the session, with the fields filled in and the tutor persona and guardrails applied. With an 'on start' strategy such as self-rating, the tutor first asks that question and waits for the reply.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interaction ends by the turn limit, by the author's 'Ends when…' condition, or when the student presses I'm done. The hidden evaluator runs only if the element carries an expert explanation (side information generated from the case); the tutor sees what is covered, missing or misconceived. Realistic limits: 6 to 10 turns for discussions, 8 to 12 for interviews.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information reaches the agents only through fields and the evaluator. Fields that point to something not yet available at that step (a later step's answer, for example) are flagged in red and block publishing. Strategy texts come from the content pack and are copied into each new case, where authors can edit them in the Strategies panel. Strategy names listed here are those of the public placeholder pack.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610"/>
        </a:solidFill>
        <a:effectLst/>
      </p:bgPr>
    </p:bg>
    <p:spTree>
      <p:nvGrpSpPr>
        <p:cNvPr id="1" name=""/>
        <p:cNvGrpSpPr/>
        <p:nvPr/>
      </p:nvGrpSpPr>
      <p:grpSpPr/>
      <p:sp>
        <p:nvSpPr>
          <p:cNvPr id="2" name="TextBox 1"/>
          <p:cNvSpPr txBox="1"/>
          <p:nvPr/>
        </p:nvSpPr>
        <p:spPr>
          <a:xfrm>
            <a:off x="822960" y="1554480"/>
            <a:ext cx="10515600" cy="1097280"/>
          </a:xfrm>
          <a:prstGeom prst="rect">
            <a:avLst/>
          </a:prstGeom>
          <a:noFill/>
        </p:spPr>
        <p:txBody>
          <a:bodyPr wrap="square" anchor="t" lIns="0" rIns="0" tIns="0" bIns="0">
            <a:spAutoFit/>
          </a:bodyPr>
          <a:lstStyle/>
          <a:p>
            <a:pPr algn="l"/>
            <a:r>
              <a:rPr sz="4800" b="1" i="0">
                <a:solidFill>
                  <a:srgbClr val="F5F2EC"/>
                </a:solidFill>
                <a:latin typeface="Cambria"/>
              </a:rPr>
              <a:t>Authoring a Virtual Patient</a:t>
            </a:r>
          </a:p>
        </p:txBody>
      </p:sp>
      <p:sp>
        <p:nvSpPr>
          <p:cNvPr id="3" name="TextBox 2"/>
          <p:cNvSpPr txBox="1"/>
          <p:nvPr/>
        </p:nvSpPr>
        <p:spPr>
          <a:xfrm>
            <a:off x="822960" y="2606040"/>
            <a:ext cx="10515600" cy="548640"/>
          </a:xfrm>
          <a:prstGeom prst="rect">
            <a:avLst/>
          </a:prstGeom>
          <a:noFill/>
        </p:spPr>
        <p:txBody>
          <a:bodyPr wrap="square" anchor="t" lIns="0" rIns="0" tIns="0" bIns="0">
            <a:spAutoFit/>
          </a:bodyPr>
          <a:lstStyle/>
          <a:p>
            <a:pPr algn="l"/>
            <a:r>
              <a:rPr sz="2200" b="0" i="0">
                <a:solidFill>
                  <a:srgbClr val="C9BFAE"/>
                </a:solidFill>
                <a:latin typeface="Calibri"/>
              </a:rPr>
              <a:t>How an author builds a VP activity in VP Studio</a:t>
            </a:r>
          </a:p>
        </p:txBody>
      </p:sp>
      <p:sp>
        <p:nvSpPr>
          <p:cNvPr id="4" name="Oval 3"/>
          <p:cNvSpPr/>
          <p:nvPr/>
        </p:nvSpPr>
        <p:spPr>
          <a:xfrm>
            <a:off x="822960" y="4343400"/>
            <a:ext cx="731520" cy="731520"/>
          </a:xfrm>
          <a:prstGeom prst="ellipse">
            <a:avLst/>
          </a:prstGeom>
          <a:solidFill>
            <a:srgbClr val="7A3E1A"/>
          </a:solidFill>
          <a:ln>
            <a:noFill/>
          </a:ln>
        </p:spPr>
        <p:txBody>
          <a:bodyPr rtlCol="0" anchor="ctr"/>
          <a:lstStyle/>
          <a:p/>
        </p:txBody>
      </p:sp>
      <p:pic>
        <p:nvPicPr>
          <p:cNvPr id="5" name="Picture 4" descr="image.png"/>
          <p:cNvPicPr>
            <a:picLocks noChangeAspect="1"/>
          </p:cNvPicPr>
          <p:nvPr/>
        </p:nvPicPr>
        <p:blipFill>
          <a:blip r:embed="rId2"/>
          <a:stretch>
            <a:fillRect/>
          </a:stretch>
        </p:blipFill>
        <p:spPr>
          <a:xfrm>
            <a:off x="983894" y="4504334"/>
            <a:ext cx="409651" cy="409651"/>
          </a:xfrm>
          <a:prstGeom prst="rect">
            <a:avLst/>
          </a:prstGeom>
        </p:spPr>
      </p:pic>
      <p:sp>
        <p:nvSpPr>
          <p:cNvPr id="6" name="TextBox 5"/>
          <p:cNvSpPr txBox="1"/>
          <p:nvPr/>
        </p:nvSpPr>
        <p:spPr>
          <a:xfrm>
            <a:off x="1737360" y="4370832"/>
            <a:ext cx="2286000" cy="365760"/>
          </a:xfrm>
          <a:prstGeom prst="rect">
            <a:avLst/>
          </a:prstGeom>
          <a:noFill/>
        </p:spPr>
        <p:txBody>
          <a:bodyPr wrap="square" anchor="t" lIns="0" rIns="0" tIns="0" bIns="0">
            <a:spAutoFit/>
          </a:bodyPr>
          <a:lstStyle/>
          <a:p>
            <a:pPr algn="l"/>
            <a:r>
              <a:rPr sz="1800" b="1" i="0">
                <a:solidFill>
                  <a:srgbClr val="F5F2EC"/>
                </a:solidFill>
                <a:latin typeface="Calibri"/>
              </a:rPr>
              <a:t>Literal text</a:t>
            </a:r>
          </a:p>
        </p:txBody>
      </p:sp>
      <p:sp>
        <p:nvSpPr>
          <p:cNvPr id="7" name="TextBox 6"/>
          <p:cNvSpPr txBox="1"/>
          <p:nvPr/>
        </p:nvSpPr>
        <p:spPr>
          <a:xfrm>
            <a:off x="1737360" y="4709160"/>
            <a:ext cx="2286000" cy="365760"/>
          </a:xfrm>
          <a:prstGeom prst="rect">
            <a:avLst/>
          </a:prstGeom>
          <a:noFill/>
        </p:spPr>
        <p:txBody>
          <a:bodyPr wrap="square" anchor="t" lIns="0" rIns="0" tIns="0" bIns="0">
            <a:spAutoFit/>
          </a:bodyPr>
          <a:lstStyle/>
          <a:p>
            <a:pPr algn="l"/>
            <a:r>
              <a:rPr sz="1400" b="0" i="0">
                <a:solidFill>
                  <a:srgbClr val="C9BFAE"/>
                </a:solidFill>
                <a:latin typeface="Calibri"/>
              </a:rPr>
              <a:t>shown as written</a:t>
            </a:r>
          </a:p>
        </p:txBody>
      </p:sp>
      <p:sp>
        <p:nvSpPr>
          <p:cNvPr id="8" name="Oval 7"/>
          <p:cNvSpPr/>
          <p:nvPr/>
        </p:nvSpPr>
        <p:spPr>
          <a:xfrm>
            <a:off x="4114800" y="4343400"/>
            <a:ext cx="731520" cy="731520"/>
          </a:xfrm>
          <a:prstGeom prst="ellipse">
            <a:avLst/>
          </a:prstGeom>
          <a:solidFill>
            <a:srgbClr val="4A2A6A"/>
          </a:solidFill>
          <a:ln>
            <a:noFill/>
          </a:ln>
        </p:spPr>
        <p:txBody>
          <a:bodyPr rtlCol="0" anchor="ctr"/>
          <a:lstStyle/>
          <a:p/>
        </p:txBody>
      </p:sp>
      <p:pic>
        <p:nvPicPr>
          <p:cNvPr id="9" name="Picture 8" descr="image.png"/>
          <p:cNvPicPr>
            <a:picLocks noChangeAspect="1"/>
          </p:cNvPicPr>
          <p:nvPr/>
        </p:nvPicPr>
        <p:blipFill>
          <a:blip r:embed="rId3"/>
          <a:stretch>
            <a:fillRect/>
          </a:stretch>
        </p:blipFill>
        <p:spPr>
          <a:xfrm>
            <a:off x="4275734" y="4504334"/>
            <a:ext cx="409651" cy="409651"/>
          </a:xfrm>
          <a:prstGeom prst="rect">
            <a:avLst/>
          </a:prstGeom>
        </p:spPr>
      </p:pic>
      <p:sp>
        <p:nvSpPr>
          <p:cNvPr id="10" name="TextBox 9"/>
          <p:cNvSpPr txBox="1"/>
          <p:nvPr/>
        </p:nvSpPr>
        <p:spPr>
          <a:xfrm>
            <a:off x="5029200" y="4370832"/>
            <a:ext cx="2286000" cy="365760"/>
          </a:xfrm>
          <a:prstGeom prst="rect">
            <a:avLst/>
          </a:prstGeom>
          <a:noFill/>
        </p:spPr>
        <p:txBody>
          <a:bodyPr wrap="square" anchor="t" lIns="0" rIns="0" tIns="0" bIns="0">
            <a:spAutoFit/>
          </a:bodyPr>
          <a:lstStyle/>
          <a:p>
            <a:pPr algn="l"/>
            <a:r>
              <a:rPr sz="1800" b="1" i="0">
                <a:solidFill>
                  <a:srgbClr val="F5F2EC"/>
                </a:solidFill>
                <a:latin typeface="Calibri"/>
              </a:rPr>
              <a:t>Generated text</a:t>
            </a:r>
          </a:p>
        </p:txBody>
      </p:sp>
      <p:sp>
        <p:nvSpPr>
          <p:cNvPr id="11" name="TextBox 10"/>
          <p:cNvSpPr txBox="1"/>
          <p:nvPr/>
        </p:nvSpPr>
        <p:spPr>
          <a:xfrm>
            <a:off x="5029200" y="4709160"/>
            <a:ext cx="2286000" cy="365760"/>
          </a:xfrm>
          <a:prstGeom prst="rect">
            <a:avLst/>
          </a:prstGeom>
          <a:noFill/>
        </p:spPr>
        <p:txBody>
          <a:bodyPr wrap="square" anchor="t" lIns="0" rIns="0" tIns="0" bIns="0">
            <a:spAutoFit/>
          </a:bodyPr>
          <a:lstStyle/>
          <a:p>
            <a:pPr algn="l"/>
            <a:r>
              <a:rPr sz="1400" b="0" i="0">
                <a:solidFill>
                  <a:srgbClr val="C9BFAE"/>
                </a:solidFill>
                <a:latin typeface="Calibri"/>
              </a:rPr>
              <a:t>the LLM writes it</a:t>
            </a:r>
          </a:p>
        </p:txBody>
      </p:sp>
      <p:sp>
        <p:nvSpPr>
          <p:cNvPr id="12" name="Oval 11"/>
          <p:cNvSpPr/>
          <p:nvPr/>
        </p:nvSpPr>
        <p:spPr>
          <a:xfrm>
            <a:off x="7406640" y="4343400"/>
            <a:ext cx="731520" cy="731520"/>
          </a:xfrm>
          <a:prstGeom prst="ellipse">
            <a:avLst/>
          </a:prstGeom>
          <a:solidFill>
            <a:srgbClr val="1A3A30"/>
          </a:solidFill>
          <a:ln>
            <a:noFill/>
          </a:ln>
        </p:spPr>
        <p:txBody>
          <a:bodyPr rtlCol="0" anchor="ctr"/>
          <a:lstStyle/>
          <a:p/>
        </p:txBody>
      </p:sp>
      <p:pic>
        <p:nvPicPr>
          <p:cNvPr id="13" name="Picture 12" descr="image.png"/>
          <p:cNvPicPr>
            <a:picLocks noChangeAspect="1"/>
          </p:cNvPicPr>
          <p:nvPr/>
        </p:nvPicPr>
        <p:blipFill>
          <a:blip r:embed="rId4"/>
          <a:stretch>
            <a:fillRect/>
          </a:stretch>
        </p:blipFill>
        <p:spPr>
          <a:xfrm>
            <a:off x="7567574" y="4504334"/>
            <a:ext cx="409651" cy="409651"/>
          </a:xfrm>
          <a:prstGeom prst="rect">
            <a:avLst/>
          </a:prstGeom>
        </p:spPr>
      </p:pic>
      <p:sp>
        <p:nvSpPr>
          <p:cNvPr id="14" name="TextBox 13"/>
          <p:cNvSpPr txBox="1"/>
          <p:nvPr/>
        </p:nvSpPr>
        <p:spPr>
          <a:xfrm>
            <a:off x="8321040" y="4370832"/>
            <a:ext cx="2286000" cy="365760"/>
          </a:xfrm>
          <a:prstGeom prst="rect">
            <a:avLst/>
          </a:prstGeom>
          <a:noFill/>
        </p:spPr>
        <p:txBody>
          <a:bodyPr wrap="square" anchor="t" lIns="0" rIns="0" tIns="0" bIns="0">
            <a:spAutoFit/>
          </a:bodyPr>
          <a:lstStyle/>
          <a:p>
            <a:pPr algn="l"/>
            <a:r>
              <a:rPr sz="1800" b="1" i="0">
                <a:solidFill>
                  <a:srgbClr val="F5F2EC"/>
                </a:solidFill>
                <a:latin typeface="Calibri"/>
              </a:rPr>
              <a:t>Interaction</a:t>
            </a:r>
          </a:p>
        </p:txBody>
      </p:sp>
      <p:sp>
        <p:nvSpPr>
          <p:cNvPr id="15" name="TextBox 14"/>
          <p:cNvSpPr txBox="1"/>
          <p:nvPr/>
        </p:nvSpPr>
        <p:spPr>
          <a:xfrm>
            <a:off x="8321040" y="4709160"/>
            <a:ext cx="2286000" cy="365760"/>
          </a:xfrm>
          <a:prstGeom prst="rect">
            <a:avLst/>
          </a:prstGeom>
          <a:noFill/>
        </p:spPr>
        <p:txBody>
          <a:bodyPr wrap="square" anchor="t" lIns="0" rIns="0" tIns="0" bIns="0">
            <a:spAutoFit/>
          </a:bodyPr>
          <a:lstStyle/>
          <a:p>
            <a:pPr algn="l"/>
            <a:r>
              <a:rPr sz="1400" b="0" i="0">
                <a:solidFill>
                  <a:srgbClr val="C9BFAE"/>
                </a:solidFill>
                <a:latin typeface="Calibri"/>
              </a:rPr>
              <a:t>the agent converses</a:t>
            </a:r>
          </a:p>
        </p:txBody>
      </p:sp>
      <p:sp>
        <p:nvSpPr>
          <p:cNvPr id="16" name="TextBox 15"/>
          <p:cNvSpPr txBox="1"/>
          <p:nvPr/>
        </p:nvSpPr>
        <p:spPr>
          <a:xfrm>
            <a:off x="822960" y="6035040"/>
            <a:ext cx="10515600" cy="365760"/>
          </a:xfrm>
          <a:prstGeom prst="rect">
            <a:avLst/>
          </a:prstGeom>
          <a:noFill/>
        </p:spPr>
        <p:txBody>
          <a:bodyPr wrap="square" anchor="t" lIns="0" rIns="0" tIns="0" bIns="0">
            <a:spAutoFit/>
          </a:bodyPr>
          <a:lstStyle/>
          <a:p>
            <a:pPr algn="l"/>
            <a:r>
              <a:rPr sz="1200" b="0" i="0">
                <a:solidFill>
                  <a:srgbClr val="C9BFAE"/>
                </a:solidFill>
                <a:latin typeface="Calibri"/>
              </a:rPr>
              <a:t>Mundorum Platform · VP 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From idea to student link</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The author's path through VP Studio's simple-mode editor</a:t>
            </a:r>
          </a:p>
        </p:txBody>
      </p:sp>
      <p:sp>
        <p:nvSpPr>
          <p:cNvPr id="4" name="Rounded Rectangle 3"/>
          <p:cNvSpPr/>
          <p:nvPr/>
        </p:nvSpPr>
        <p:spPr>
          <a:xfrm>
            <a:off x="548640" y="1691640"/>
            <a:ext cx="3456432" cy="2148840"/>
          </a:xfrm>
          <a:prstGeom prst="roundRect">
            <a:avLst>
              <a:gd name="adj" fmla="val 6000"/>
            </a:avLst>
          </a:prstGeom>
          <a:solidFill>
            <a:srgbClr val="FAF8F4"/>
          </a:solidFill>
          <a:ln w="9525">
            <a:solidFill>
              <a:srgbClr val="DDD6C8"/>
            </a:solidFill>
          </a:ln>
        </p:spPr>
        <p:txBody>
          <a:bodyPr rtlCol="0" anchor="ctr"/>
          <a:lstStyle/>
          <a:p/>
        </p:txBody>
      </p:sp>
      <p:sp>
        <p:nvSpPr>
          <p:cNvPr id="5" name="Oval 4"/>
          <p:cNvSpPr/>
          <p:nvPr/>
        </p:nvSpPr>
        <p:spPr>
          <a:xfrm>
            <a:off x="822959" y="1965960"/>
            <a:ext cx="566928" cy="566928"/>
          </a:xfrm>
          <a:prstGeom prst="ellipse">
            <a:avLst/>
          </a:prstGeom>
          <a:solidFill>
            <a:srgbClr val="7A3E1A"/>
          </a:solidFill>
          <a:ln>
            <a:noFill/>
          </a:ln>
        </p:spPr>
        <p:txBody>
          <a:bodyPr rtlCol="0" anchor="ctr"/>
          <a:lstStyle/>
          <a:p/>
        </p:txBody>
      </p:sp>
      <p:pic>
        <p:nvPicPr>
          <p:cNvPr id="6" name="Picture 5" descr="image.png"/>
          <p:cNvPicPr>
            <a:picLocks noChangeAspect="1"/>
          </p:cNvPicPr>
          <p:nvPr/>
        </p:nvPicPr>
        <p:blipFill>
          <a:blip r:embed="rId2"/>
          <a:stretch>
            <a:fillRect/>
          </a:stretch>
        </p:blipFill>
        <p:spPr>
          <a:xfrm>
            <a:off x="947684" y="2090684"/>
            <a:ext cx="317479" cy="317479"/>
          </a:xfrm>
          <a:prstGeom prst="rect">
            <a:avLst/>
          </a:prstGeom>
        </p:spPr>
      </p:pic>
      <p:sp>
        <p:nvSpPr>
          <p:cNvPr id="7" name="TextBox 6"/>
          <p:cNvSpPr txBox="1"/>
          <p:nvPr/>
        </p:nvSpPr>
        <p:spPr>
          <a:xfrm>
            <a:off x="1536192" y="1965960"/>
            <a:ext cx="548640" cy="566928"/>
          </a:xfrm>
          <a:prstGeom prst="rect">
            <a:avLst/>
          </a:prstGeom>
          <a:noFill/>
        </p:spPr>
        <p:txBody>
          <a:bodyPr wrap="square" anchor="ctr" lIns="0" rIns="0" tIns="0" bIns="0">
            <a:spAutoFit/>
          </a:bodyPr>
          <a:lstStyle/>
          <a:p>
            <a:pPr algn="l"/>
            <a:r>
              <a:rPr sz="2600" b="1" i="0">
                <a:solidFill>
                  <a:srgbClr val="DDD6C8"/>
                </a:solidFill>
                <a:latin typeface="Cambria"/>
              </a:rPr>
              <a:t>1</a:t>
            </a:r>
          </a:p>
        </p:txBody>
      </p:sp>
      <p:sp>
        <p:nvSpPr>
          <p:cNvPr id="8" name="TextBox 7"/>
          <p:cNvSpPr txBox="1"/>
          <p:nvPr/>
        </p:nvSpPr>
        <p:spPr>
          <a:xfrm>
            <a:off x="822959" y="2651760"/>
            <a:ext cx="2907791" cy="365760"/>
          </a:xfrm>
          <a:prstGeom prst="rect">
            <a:avLst/>
          </a:prstGeom>
          <a:noFill/>
        </p:spPr>
        <p:txBody>
          <a:bodyPr wrap="square" anchor="t" lIns="0" rIns="0" tIns="0" bIns="0">
            <a:spAutoFit/>
          </a:bodyPr>
          <a:lstStyle/>
          <a:p>
            <a:pPr algn="l"/>
            <a:r>
              <a:rPr sz="1800" b="1" i="0">
                <a:solidFill>
                  <a:srgbClr val="1A1610"/>
                </a:solidFill>
                <a:latin typeface="Calibri"/>
              </a:rPr>
              <a:t>New case</a:t>
            </a:r>
          </a:p>
        </p:txBody>
      </p:sp>
      <p:sp>
        <p:nvSpPr>
          <p:cNvPr id="9" name="TextBox 8"/>
          <p:cNvSpPr txBox="1"/>
          <p:nvPr/>
        </p:nvSpPr>
        <p:spPr>
          <a:xfrm>
            <a:off x="822959" y="3017520"/>
            <a:ext cx="2907791" cy="777240"/>
          </a:xfrm>
          <a:prstGeom prst="rect">
            <a:avLst/>
          </a:prstGeom>
          <a:noFill/>
        </p:spPr>
        <p:txBody>
          <a:bodyPr wrap="square" anchor="t" lIns="0" rIns="0" tIns="0" bIns="0">
            <a:spAutoFit/>
          </a:bodyPr>
          <a:lstStyle/>
          <a:p>
            <a:pPr algn="l"/>
            <a:r>
              <a:rPr sz="1400" b="0" i="0">
                <a:solidFill>
                  <a:srgbClr val="6B6050"/>
                </a:solidFill>
                <a:latin typeface="Calibri"/>
              </a:rPr>
              <a:t>Start from scratch (Welcome + Final feedback), from a script template, or import a .vp.json file.</a:t>
            </a:r>
          </a:p>
        </p:txBody>
      </p:sp>
      <p:sp>
        <p:nvSpPr>
          <p:cNvPr id="10" name="Rounded Rectangle 9"/>
          <p:cNvSpPr/>
          <p:nvPr/>
        </p:nvSpPr>
        <p:spPr>
          <a:xfrm>
            <a:off x="4370831" y="1691640"/>
            <a:ext cx="3456432" cy="2148840"/>
          </a:xfrm>
          <a:prstGeom prst="roundRect">
            <a:avLst>
              <a:gd name="adj" fmla="val 6000"/>
            </a:avLst>
          </a:prstGeom>
          <a:solidFill>
            <a:srgbClr val="FAF8F4"/>
          </a:solidFill>
          <a:ln w="9525">
            <a:solidFill>
              <a:srgbClr val="DDD6C8"/>
            </a:solidFill>
          </a:ln>
        </p:spPr>
        <p:txBody>
          <a:bodyPr rtlCol="0" anchor="ctr"/>
          <a:lstStyle/>
          <a:p/>
        </p:txBody>
      </p:sp>
      <p:sp>
        <p:nvSpPr>
          <p:cNvPr id="11" name="Oval 10"/>
          <p:cNvSpPr/>
          <p:nvPr/>
        </p:nvSpPr>
        <p:spPr>
          <a:xfrm>
            <a:off x="4645151" y="1965960"/>
            <a:ext cx="566928" cy="566928"/>
          </a:xfrm>
          <a:prstGeom prst="ellipse">
            <a:avLst/>
          </a:prstGeom>
          <a:solidFill>
            <a:srgbClr val="7A3E1A"/>
          </a:solidFill>
          <a:ln>
            <a:noFill/>
          </a:ln>
        </p:spPr>
        <p:txBody>
          <a:bodyPr rtlCol="0" anchor="ctr"/>
          <a:lstStyle/>
          <a:p/>
        </p:txBody>
      </p:sp>
      <p:pic>
        <p:nvPicPr>
          <p:cNvPr id="12" name="Picture 11" descr="image.png"/>
          <p:cNvPicPr>
            <a:picLocks noChangeAspect="1"/>
          </p:cNvPicPr>
          <p:nvPr/>
        </p:nvPicPr>
        <p:blipFill>
          <a:blip r:embed="rId3"/>
          <a:stretch>
            <a:fillRect/>
          </a:stretch>
        </p:blipFill>
        <p:spPr>
          <a:xfrm>
            <a:off x="4769876" y="2090684"/>
            <a:ext cx="317479" cy="317479"/>
          </a:xfrm>
          <a:prstGeom prst="rect">
            <a:avLst/>
          </a:prstGeom>
        </p:spPr>
      </p:pic>
      <p:sp>
        <p:nvSpPr>
          <p:cNvPr id="13" name="TextBox 12"/>
          <p:cNvSpPr txBox="1"/>
          <p:nvPr/>
        </p:nvSpPr>
        <p:spPr>
          <a:xfrm>
            <a:off x="5358383" y="1965960"/>
            <a:ext cx="548640" cy="566928"/>
          </a:xfrm>
          <a:prstGeom prst="rect">
            <a:avLst/>
          </a:prstGeom>
          <a:noFill/>
        </p:spPr>
        <p:txBody>
          <a:bodyPr wrap="square" anchor="ctr" lIns="0" rIns="0" tIns="0" bIns="0">
            <a:spAutoFit/>
          </a:bodyPr>
          <a:lstStyle/>
          <a:p>
            <a:pPr algn="l"/>
            <a:r>
              <a:rPr sz="2600" b="1" i="0">
                <a:solidFill>
                  <a:srgbClr val="DDD6C8"/>
                </a:solidFill>
                <a:latin typeface="Cambria"/>
              </a:rPr>
              <a:t>2</a:t>
            </a:r>
          </a:p>
        </p:txBody>
      </p:sp>
      <p:sp>
        <p:nvSpPr>
          <p:cNvPr id="14" name="TextBox 13"/>
          <p:cNvSpPr txBox="1"/>
          <p:nvPr/>
        </p:nvSpPr>
        <p:spPr>
          <a:xfrm>
            <a:off x="4645151" y="2651760"/>
            <a:ext cx="2907791" cy="365760"/>
          </a:xfrm>
          <a:prstGeom prst="rect">
            <a:avLst/>
          </a:prstGeom>
          <a:noFill/>
        </p:spPr>
        <p:txBody>
          <a:bodyPr wrap="square" anchor="t" lIns="0" rIns="0" tIns="0" bIns="0">
            <a:spAutoFit/>
          </a:bodyPr>
          <a:lstStyle/>
          <a:p>
            <a:pPr algn="l"/>
            <a:r>
              <a:rPr sz="1800" b="1" i="0">
                <a:solidFill>
                  <a:srgbClr val="1A1610"/>
                </a:solidFill>
                <a:latin typeface="Calibri"/>
              </a:rPr>
              <a:t>Shape the Activity Script</a:t>
            </a:r>
          </a:p>
        </p:txBody>
      </p:sp>
      <p:sp>
        <p:nvSpPr>
          <p:cNvPr id="15" name="TextBox 14"/>
          <p:cNvSpPr txBox="1"/>
          <p:nvPr/>
        </p:nvSpPr>
        <p:spPr>
          <a:xfrm>
            <a:off x="4645151" y="3017520"/>
            <a:ext cx="2907791" cy="777240"/>
          </a:xfrm>
          <a:prstGeom prst="rect">
            <a:avLst/>
          </a:prstGeom>
          <a:noFill/>
        </p:spPr>
        <p:txBody>
          <a:bodyPr wrap="square" anchor="t" lIns="0" rIns="0" tIns="0" bIns="0">
            <a:spAutoFit/>
          </a:bodyPr>
          <a:lstStyle/>
          <a:p>
            <a:pPr algn="l"/>
            <a:r>
              <a:rPr sz="1400" b="0" i="0">
                <a:solidFill>
                  <a:srgbClr val="6B6050"/>
                </a:solidFill>
                <a:latin typeface="Calibri"/>
              </a:rPr>
              <a:t>Add, move, rename and remove steps. The editor disables options that would break the script rules.</a:t>
            </a:r>
          </a:p>
        </p:txBody>
      </p:sp>
      <p:sp>
        <p:nvSpPr>
          <p:cNvPr id="16" name="Rounded Rectangle 15"/>
          <p:cNvSpPr/>
          <p:nvPr/>
        </p:nvSpPr>
        <p:spPr>
          <a:xfrm>
            <a:off x="8193023" y="1691640"/>
            <a:ext cx="3456432" cy="2148840"/>
          </a:xfrm>
          <a:prstGeom prst="roundRect">
            <a:avLst>
              <a:gd name="adj" fmla="val 6000"/>
            </a:avLst>
          </a:prstGeom>
          <a:solidFill>
            <a:srgbClr val="FAF8F4"/>
          </a:solidFill>
          <a:ln w="9525">
            <a:solidFill>
              <a:srgbClr val="DDD6C8"/>
            </a:solidFill>
          </a:ln>
        </p:spPr>
        <p:txBody>
          <a:bodyPr rtlCol="0" anchor="ctr"/>
          <a:lstStyle/>
          <a:p/>
        </p:txBody>
      </p:sp>
      <p:sp>
        <p:nvSpPr>
          <p:cNvPr id="17" name="Oval 16"/>
          <p:cNvSpPr/>
          <p:nvPr/>
        </p:nvSpPr>
        <p:spPr>
          <a:xfrm>
            <a:off x="8467344" y="1965960"/>
            <a:ext cx="566928" cy="566928"/>
          </a:xfrm>
          <a:prstGeom prst="ellipse">
            <a:avLst/>
          </a:prstGeom>
          <a:solidFill>
            <a:srgbClr val="7A3E1A"/>
          </a:solidFill>
          <a:ln>
            <a:noFill/>
          </a:ln>
        </p:spPr>
        <p:txBody>
          <a:bodyPr rtlCol="0" anchor="ctr"/>
          <a:lstStyle/>
          <a:p/>
        </p:txBody>
      </p:sp>
      <p:pic>
        <p:nvPicPr>
          <p:cNvPr id="18" name="Picture 17" descr="image.png"/>
          <p:cNvPicPr>
            <a:picLocks noChangeAspect="1"/>
          </p:cNvPicPr>
          <p:nvPr/>
        </p:nvPicPr>
        <p:blipFill>
          <a:blip r:embed="rId4"/>
          <a:stretch>
            <a:fillRect/>
          </a:stretch>
        </p:blipFill>
        <p:spPr>
          <a:xfrm>
            <a:off x="8592068" y="2090684"/>
            <a:ext cx="317479" cy="317479"/>
          </a:xfrm>
          <a:prstGeom prst="rect">
            <a:avLst/>
          </a:prstGeom>
        </p:spPr>
      </p:pic>
      <p:sp>
        <p:nvSpPr>
          <p:cNvPr id="19" name="TextBox 18"/>
          <p:cNvSpPr txBox="1"/>
          <p:nvPr/>
        </p:nvSpPr>
        <p:spPr>
          <a:xfrm>
            <a:off x="9180576" y="1965960"/>
            <a:ext cx="548640" cy="566928"/>
          </a:xfrm>
          <a:prstGeom prst="rect">
            <a:avLst/>
          </a:prstGeom>
          <a:noFill/>
        </p:spPr>
        <p:txBody>
          <a:bodyPr wrap="square" anchor="ctr" lIns="0" rIns="0" tIns="0" bIns="0">
            <a:spAutoFit/>
          </a:bodyPr>
          <a:lstStyle/>
          <a:p>
            <a:pPr algn="l"/>
            <a:r>
              <a:rPr sz="2600" b="1" i="0">
                <a:solidFill>
                  <a:srgbClr val="DDD6C8"/>
                </a:solidFill>
                <a:latin typeface="Cambria"/>
              </a:rPr>
              <a:t>3</a:t>
            </a:r>
          </a:p>
        </p:txBody>
      </p:sp>
      <p:sp>
        <p:nvSpPr>
          <p:cNvPr id="20" name="TextBox 19"/>
          <p:cNvSpPr txBox="1"/>
          <p:nvPr/>
        </p:nvSpPr>
        <p:spPr>
          <a:xfrm>
            <a:off x="8467344" y="2651760"/>
            <a:ext cx="2907791" cy="365760"/>
          </a:xfrm>
          <a:prstGeom prst="rect">
            <a:avLst/>
          </a:prstGeom>
          <a:noFill/>
        </p:spPr>
        <p:txBody>
          <a:bodyPr wrap="square" anchor="t" lIns="0" rIns="0" tIns="0" bIns="0">
            <a:spAutoFit/>
          </a:bodyPr>
          <a:lstStyle/>
          <a:p>
            <a:pPr algn="l"/>
            <a:r>
              <a:rPr sz="1800" b="1" i="0">
                <a:solidFill>
                  <a:srgbClr val="1A1610"/>
                </a:solidFill>
                <a:latin typeface="Calibri"/>
              </a:rPr>
              <a:t>Fill each phase</a:t>
            </a:r>
          </a:p>
        </p:txBody>
      </p:sp>
      <p:sp>
        <p:nvSpPr>
          <p:cNvPr id="21" name="TextBox 20"/>
          <p:cNvSpPr txBox="1"/>
          <p:nvPr/>
        </p:nvSpPr>
        <p:spPr>
          <a:xfrm>
            <a:off x="8467344" y="3017520"/>
            <a:ext cx="2907791" cy="777240"/>
          </a:xfrm>
          <a:prstGeom prst="rect">
            <a:avLst/>
          </a:prstGeom>
          <a:noFill/>
        </p:spPr>
        <p:txBody>
          <a:bodyPr wrap="square" anchor="t" lIns="0" rIns="0" tIns="0" bIns="0">
            <a:spAutoFit/>
          </a:bodyPr>
          <a:lstStyle/>
          <a:p>
            <a:pPr algn="l"/>
            <a:r>
              <a:rPr sz="1400" b="0" i="0">
                <a:solidFill>
                  <a:srgbClr val="6B6050"/>
                </a:solidFill>
                <a:latin typeface="Calibri"/>
              </a:rPr>
              <a:t>Build the phase's pipeline of elements: Literal text, Generated text and Interaction.</a:t>
            </a:r>
          </a:p>
        </p:txBody>
      </p:sp>
      <p:sp>
        <p:nvSpPr>
          <p:cNvPr id="22" name="Rounded Rectangle 21"/>
          <p:cNvSpPr/>
          <p:nvPr/>
        </p:nvSpPr>
        <p:spPr>
          <a:xfrm>
            <a:off x="548640" y="4206240"/>
            <a:ext cx="3456432" cy="2148840"/>
          </a:xfrm>
          <a:prstGeom prst="roundRect">
            <a:avLst>
              <a:gd name="adj" fmla="val 6000"/>
            </a:avLst>
          </a:prstGeom>
          <a:solidFill>
            <a:srgbClr val="FAF8F4"/>
          </a:solidFill>
          <a:ln w="9525">
            <a:solidFill>
              <a:srgbClr val="DDD6C8"/>
            </a:solidFill>
          </a:ln>
        </p:spPr>
        <p:txBody>
          <a:bodyPr rtlCol="0" anchor="ctr"/>
          <a:lstStyle/>
          <a:p/>
        </p:txBody>
      </p:sp>
      <p:sp>
        <p:nvSpPr>
          <p:cNvPr id="23" name="Oval 22"/>
          <p:cNvSpPr/>
          <p:nvPr/>
        </p:nvSpPr>
        <p:spPr>
          <a:xfrm>
            <a:off x="822959" y="4480559"/>
            <a:ext cx="566928" cy="566928"/>
          </a:xfrm>
          <a:prstGeom prst="ellipse">
            <a:avLst/>
          </a:prstGeom>
          <a:solidFill>
            <a:srgbClr val="7A3E1A"/>
          </a:solidFill>
          <a:ln>
            <a:noFill/>
          </a:ln>
        </p:spPr>
        <p:txBody>
          <a:bodyPr rtlCol="0" anchor="ctr"/>
          <a:lstStyle/>
          <a:p/>
        </p:txBody>
      </p:sp>
      <p:pic>
        <p:nvPicPr>
          <p:cNvPr id="24" name="Picture 23" descr="image.png"/>
          <p:cNvPicPr>
            <a:picLocks noChangeAspect="1"/>
          </p:cNvPicPr>
          <p:nvPr/>
        </p:nvPicPr>
        <p:blipFill>
          <a:blip r:embed="rId5"/>
          <a:stretch>
            <a:fillRect/>
          </a:stretch>
        </p:blipFill>
        <p:spPr>
          <a:xfrm>
            <a:off x="947684" y="4605284"/>
            <a:ext cx="317479" cy="317479"/>
          </a:xfrm>
          <a:prstGeom prst="rect">
            <a:avLst/>
          </a:prstGeom>
        </p:spPr>
      </p:pic>
      <p:sp>
        <p:nvSpPr>
          <p:cNvPr id="25" name="TextBox 24"/>
          <p:cNvSpPr txBox="1"/>
          <p:nvPr/>
        </p:nvSpPr>
        <p:spPr>
          <a:xfrm>
            <a:off x="1536192" y="4480559"/>
            <a:ext cx="548640" cy="566928"/>
          </a:xfrm>
          <a:prstGeom prst="rect">
            <a:avLst/>
          </a:prstGeom>
          <a:noFill/>
        </p:spPr>
        <p:txBody>
          <a:bodyPr wrap="square" anchor="ctr" lIns="0" rIns="0" tIns="0" bIns="0">
            <a:spAutoFit/>
          </a:bodyPr>
          <a:lstStyle/>
          <a:p>
            <a:pPr algn="l"/>
            <a:r>
              <a:rPr sz="2600" b="1" i="0">
                <a:solidFill>
                  <a:srgbClr val="DDD6C8"/>
                </a:solidFill>
                <a:latin typeface="Cambria"/>
              </a:rPr>
              <a:t>4</a:t>
            </a:r>
          </a:p>
        </p:txBody>
      </p:sp>
      <p:sp>
        <p:nvSpPr>
          <p:cNvPr id="26" name="TextBox 25"/>
          <p:cNvSpPr txBox="1"/>
          <p:nvPr/>
        </p:nvSpPr>
        <p:spPr>
          <a:xfrm>
            <a:off x="822959" y="5166359"/>
            <a:ext cx="2907791" cy="365760"/>
          </a:xfrm>
          <a:prstGeom prst="rect">
            <a:avLst/>
          </a:prstGeom>
          <a:noFill/>
        </p:spPr>
        <p:txBody>
          <a:bodyPr wrap="square" anchor="t" lIns="0" rIns="0" tIns="0" bIns="0">
            <a:spAutoFit/>
          </a:bodyPr>
          <a:lstStyle/>
          <a:p>
            <a:pPr algn="l"/>
            <a:r>
              <a:rPr sz="1800" b="1" i="0">
                <a:solidFill>
                  <a:srgbClr val="1A1610"/>
                </a:solidFill>
                <a:latin typeface="Calibri"/>
              </a:rPr>
              <a:t>Guide the agents</a:t>
            </a:r>
          </a:p>
        </p:txBody>
      </p:sp>
      <p:sp>
        <p:nvSpPr>
          <p:cNvPr id="27" name="TextBox 26"/>
          <p:cNvSpPr txBox="1"/>
          <p:nvPr/>
        </p:nvSpPr>
        <p:spPr>
          <a:xfrm>
            <a:off x="822959" y="5532120"/>
            <a:ext cx="2907791" cy="777240"/>
          </a:xfrm>
          <a:prstGeom prst="rect">
            <a:avLst/>
          </a:prstGeom>
          <a:noFill/>
        </p:spPr>
        <p:txBody>
          <a:bodyPr wrap="square" anchor="t" lIns="0" rIns="0" tIns="0" bIns="0">
            <a:spAutoFit/>
          </a:bodyPr>
          <a:lstStyle/>
          <a:p>
            <a:pPr algn="l"/>
            <a:r>
              <a:rPr sz="1400" b="0" i="0">
                <a:solidFill>
                  <a:srgbClr val="6B6050"/>
                </a:solidFill>
                <a:latin typeface="Calibri"/>
              </a:rPr>
              <a:t>Attach hidden side information and strategies, insert {{fields}}, and tune the agent prompts.</a:t>
            </a:r>
          </a:p>
        </p:txBody>
      </p:sp>
      <p:sp>
        <p:nvSpPr>
          <p:cNvPr id="28" name="Rounded Rectangle 27"/>
          <p:cNvSpPr/>
          <p:nvPr/>
        </p:nvSpPr>
        <p:spPr>
          <a:xfrm>
            <a:off x="4370831" y="4206240"/>
            <a:ext cx="3456432" cy="2148840"/>
          </a:xfrm>
          <a:prstGeom prst="roundRect">
            <a:avLst>
              <a:gd name="adj" fmla="val 6000"/>
            </a:avLst>
          </a:prstGeom>
          <a:solidFill>
            <a:srgbClr val="FAF8F4"/>
          </a:solidFill>
          <a:ln w="9525">
            <a:solidFill>
              <a:srgbClr val="DDD6C8"/>
            </a:solidFill>
          </a:ln>
        </p:spPr>
        <p:txBody>
          <a:bodyPr rtlCol="0" anchor="ctr"/>
          <a:lstStyle/>
          <a:p/>
        </p:txBody>
      </p:sp>
      <p:sp>
        <p:nvSpPr>
          <p:cNvPr id="29" name="Oval 28"/>
          <p:cNvSpPr/>
          <p:nvPr/>
        </p:nvSpPr>
        <p:spPr>
          <a:xfrm>
            <a:off x="4645151" y="4480559"/>
            <a:ext cx="566928" cy="566928"/>
          </a:xfrm>
          <a:prstGeom prst="ellipse">
            <a:avLst/>
          </a:prstGeom>
          <a:solidFill>
            <a:srgbClr val="7A3E1A"/>
          </a:solidFill>
          <a:ln>
            <a:noFill/>
          </a:ln>
        </p:spPr>
        <p:txBody>
          <a:bodyPr rtlCol="0" anchor="ctr"/>
          <a:lstStyle/>
          <a:p/>
        </p:txBody>
      </p:sp>
      <p:pic>
        <p:nvPicPr>
          <p:cNvPr id="30" name="Picture 29" descr="image.png"/>
          <p:cNvPicPr>
            <a:picLocks noChangeAspect="1"/>
          </p:cNvPicPr>
          <p:nvPr/>
        </p:nvPicPr>
        <p:blipFill>
          <a:blip r:embed="rId6"/>
          <a:stretch>
            <a:fillRect/>
          </a:stretch>
        </p:blipFill>
        <p:spPr>
          <a:xfrm>
            <a:off x="4769876" y="4605284"/>
            <a:ext cx="317479" cy="317479"/>
          </a:xfrm>
          <a:prstGeom prst="rect">
            <a:avLst/>
          </a:prstGeom>
        </p:spPr>
      </p:pic>
      <p:sp>
        <p:nvSpPr>
          <p:cNvPr id="31" name="TextBox 30"/>
          <p:cNvSpPr txBox="1"/>
          <p:nvPr/>
        </p:nvSpPr>
        <p:spPr>
          <a:xfrm>
            <a:off x="5358383" y="4480559"/>
            <a:ext cx="548640" cy="566928"/>
          </a:xfrm>
          <a:prstGeom prst="rect">
            <a:avLst/>
          </a:prstGeom>
          <a:noFill/>
        </p:spPr>
        <p:txBody>
          <a:bodyPr wrap="square" anchor="ctr" lIns="0" rIns="0" tIns="0" bIns="0">
            <a:spAutoFit/>
          </a:bodyPr>
          <a:lstStyle/>
          <a:p>
            <a:pPr algn="l"/>
            <a:r>
              <a:rPr sz="2600" b="1" i="0">
                <a:solidFill>
                  <a:srgbClr val="DDD6C8"/>
                </a:solidFill>
                <a:latin typeface="Cambria"/>
              </a:rPr>
              <a:t>5</a:t>
            </a:r>
          </a:p>
        </p:txBody>
      </p:sp>
      <p:sp>
        <p:nvSpPr>
          <p:cNvPr id="32" name="TextBox 31"/>
          <p:cNvSpPr txBox="1"/>
          <p:nvPr/>
        </p:nvSpPr>
        <p:spPr>
          <a:xfrm>
            <a:off x="4645151" y="5166359"/>
            <a:ext cx="2907791" cy="365760"/>
          </a:xfrm>
          <a:prstGeom prst="rect">
            <a:avLst/>
          </a:prstGeom>
          <a:noFill/>
        </p:spPr>
        <p:txBody>
          <a:bodyPr wrap="square" anchor="t" lIns="0" rIns="0" tIns="0" bIns="0">
            <a:spAutoFit/>
          </a:bodyPr>
          <a:lstStyle/>
          <a:p>
            <a:pPr algn="l"/>
            <a:r>
              <a:rPr sz="1800" b="1" i="0">
                <a:solidFill>
                  <a:srgbClr val="1A1610"/>
                </a:solidFill>
                <a:latin typeface="Calibri"/>
              </a:rPr>
              <a:t>Preview and try</a:t>
            </a:r>
          </a:p>
        </p:txBody>
      </p:sp>
      <p:sp>
        <p:nvSpPr>
          <p:cNvPr id="33" name="TextBox 32"/>
          <p:cNvSpPr txBox="1"/>
          <p:nvPr/>
        </p:nvSpPr>
        <p:spPr>
          <a:xfrm>
            <a:off x="4645151" y="5532120"/>
            <a:ext cx="2907791" cy="777240"/>
          </a:xfrm>
          <a:prstGeom prst="rect">
            <a:avLst/>
          </a:prstGeom>
          <a:noFill/>
        </p:spPr>
        <p:txBody>
          <a:bodyPr wrap="square" anchor="t" lIns="0" rIns="0" tIns="0" bIns="0">
            <a:spAutoFit/>
          </a:bodyPr>
          <a:lstStyle/>
          <a:p>
            <a:pPr algn="l"/>
            <a:r>
              <a:rPr sz="1400" b="0" i="0">
                <a:solidFill>
                  <a:srgbClr val="6B6050"/>
                </a:solidFill>
                <a:latin typeface="Calibri"/>
              </a:rPr>
              <a:t>Preview shows what the student sees. Try it plays the draft, with trace notes only the author sees.</a:t>
            </a:r>
          </a:p>
        </p:txBody>
      </p:sp>
      <p:sp>
        <p:nvSpPr>
          <p:cNvPr id="34" name="Rounded Rectangle 33"/>
          <p:cNvSpPr/>
          <p:nvPr/>
        </p:nvSpPr>
        <p:spPr>
          <a:xfrm>
            <a:off x="8193023" y="4206240"/>
            <a:ext cx="3456432" cy="2148840"/>
          </a:xfrm>
          <a:prstGeom prst="roundRect">
            <a:avLst>
              <a:gd name="adj" fmla="val 6000"/>
            </a:avLst>
          </a:prstGeom>
          <a:solidFill>
            <a:srgbClr val="FAF8F4"/>
          </a:solidFill>
          <a:ln w="9525">
            <a:solidFill>
              <a:srgbClr val="DDD6C8"/>
            </a:solidFill>
          </a:ln>
        </p:spPr>
        <p:txBody>
          <a:bodyPr rtlCol="0" anchor="ctr"/>
          <a:lstStyle/>
          <a:p/>
        </p:txBody>
      </p:sp>
      <p:sp>
        <p:nvSpPr>
          <p:cNvPr id="35" name="Oval 34"/>
          <p:cNvSpPr/>
          <p:nvPr/>
        </p:nvSpPr>
        <p:spPr>
          <a:xfrm>
            <a:off x="8467344" y="4480559"/>
            <a:ext cx="566928" cy="566928"/>
          </a:xfrm>
          <a:prstGeom prst="ellipse">
            <a:avLst/>
          </a:prstGeom>
          <a:solidFill>
            <a:srgbClr val="7A3E1A"/>
          </a:solidFill>
          <a:ln>
            <a:noFill/>
          </a:ln>
        </p:spPr>
        <p:txBody>
          <a:bodyPr rtlCol="0" anchor="ctr"/>
          <a:lstStyle/>
          <a:p/>
        </p:txBody>
      </p:sp>
      <p:pic>
        <p:nvPicPr>
          <p:cNvPr id="36" name="Picture 35" descr="image.png"/>
          <p:cNvPicPr>
            <a:picLocks noChangeAspect="1"/>
          </p:cNvPicPr>
          <p:nvPr/>
        </p:nvPicPr>
        <p:blipFill>
          <a:blip r:embed="rId7"/>
          <a:stretch>
            <a:fillRect/>
          </a:stretch>
        </p:blipFill>
        <p:spPr>
          <a:xfrm>
            <a:off x="8592068" y="4605284"/>
            <a:ext cx="317479" cy="317479"/>
          </a:xfrm>
          <a:prstGeom prst="rect">
            <a:avLst/>
          </a:prstGeom>
        </p:spPr>
      </p:pic>
      <p:sp>
        <p:nvSpPr>
          <p:cNvPr id="37" name="TextBox 36"/>
          <p:cNvSpPr txBox="1"/>
          <p:nvPr/>
        </p:nvSpPr>
        <p:spPr>
          <a:xfrm>
            <a:off x="9180576" y="4480559"/>
            <a:ext cx="548640" cy="566928"/>
          </a:xfrm>
          <a:prstGeom prst="rect">
            <a:avLst/>
          </a:prstGeom>
          <a:noFill/>
        </p:spPr>
        <p:txBody>
          <a:bodyPr wrap="square" anchor="ctr" lIns="0" rIns="0" tIns="0" bIns="0">
            <a:spAutoFit/>
          </a:bodyPr>
          <a:lstStyle/>
          <a:p>
            <a:pPr algn="l"/>
            <a:r>
              <a:rPr sz="2600" b="1" i="0">
                <a:solidFill>
                  <a:srgbClr val="DDD6C8"/>
                </a:solidFill>
                <a:latin typeface="Cambria"/>
              </a:rPr>
              <a:t>6</a:t>
            </a:r>
          </a:p>
        </p:txBody>
      </p:sp>
      <p:sp>
        <p:nvSpPr>
          <p:cNvPr id="38" name="TextBox 37"/>
          <p:cNvSpPr txBox="1"/>
          <p:nvPr/>
        </p:nvSpPr>
        <p:spPr>
          <a:xfrm>
            <a:off x="8467344" y="5166359"/>
            <a:ext cx="2907791" cy="365760"/>
          </a:xfrm>
          <a:prstGeom prst="rect">
            <a:avLst/>
          </a:prstGeom>
          <a:noFill/>
        </p:spPr>
        <p:txBody>
          <a:bodyPr wrap="square" anchor="t" lIns="0" rIns="0" tIns="0" bIns="0">
            <a:spAutoFit/>
          </a:bodyPr>
          <a:lstStyle/>
          <a:p>
            <a:pPr algn="l"/>
            <a:r>
              <a:rPr sz="1800" b="1" i="0">
                <a:solidFill>
                  <a:srgbClr val="1A1610"/>
                </a:solidFill>
                <a:latin typeface="Calibri"/>
              </a:rPr>
              <a:t>Publish and share</a:t>
            </a:r>
          </a:p>
        </p:txBody>
      </p:sp>
      <p:sp>
        <p:nvSpPr>
          <p:cNvPr id="39" name="TextBox 38"/>
          <p:cNvSpPr txBox="1"/>
          <p:nvPr/>
        </p:nvSpPr>
        <p:spPr>
          <a:xfrm>
            <a:off x="8467344" y="5532120"/>
            <a:ext cx="2907791" cy="777240"/>
          </a:xfrm>
          <a:prstGeom prst="rect">
            <a:avLst/>
          </a:prstGeom>
          <a:noFill/>
        </p:spPr>
        <p:txBody>
          <a:bodyPr wrap="square" anchor="t" lIns="0" rIns="0" tIns="0" bIns="0">
            <a:spAutoFit/>
          </a:bodyPr>
          <a:lstStyle/>
          <a:p>
            <a:pPr algn="l"/>
            <a:r>
              <a:rPr sz="1400" b="0" i="0">
                <a:solidFill>
                  <a:srgbClr val="6B6050"/>
                </a:solidFill>
                <a:latin typeface="Calibri"/>
              </a:rPr>
              <a:t>Publish checks readiness and freezes a copy. Students play it at /vp/play/&lt;case id&gt;/.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The Activity Script</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An ordered list of steps; each step after Welcome shows the student a phase</a:t>
            </a:r>
          </a:p>
        </p:txBody>
      </p:sp>
      <p:sp>
        <p:nvSpPr>
          <p:cNvPr id="4" name="Rounded Rectangle 3"/>
          <p:cNvSpPr/>
          <p:nvPr/>
        </p:nvSpPr>
        <p:spPr>
          <a:xfrm>
            <a:off x="548640" y="1600200"/>
            <a:ext cx="1938528" cy="640080"/>
          </a:xfrm>
          <a:prstGeom prst="roundRect">
            <a:avLst>
              <a:gd name="adj" fmla="val 20000"/>
            </a:avLst>
          </a:prstGeom>
          <a:solidFill>
            <a:srgbClr val="7A3E1A"/>
          </a:solidFill>
          <a:ln>
            <a:noFill/>
          </a:ln>
        </p:spPr>
        <p:txBody>
          <a:bodyPr rtlCol="0" anchor="ctr"/>
          <a:lstStyle/>
          <a:p/>
        </p:txBody>
      </p:sp>
      <p:sp>
        <p:nvSpPr>
          <p:cNvPr id="5" name="TextBox 4"/>
          <p:cNvSpPr txBox="1"/>
          <p:nvPr/>
        </p:nvSpPr>
        <p:spPr>
          <a:xfrm>
            <a:off x="548640" y="1600200"/>
            <a:ext cx="1938528" cy="640080"/>
          </a:xfrm>
          <a:prstGeom prst="rect">
            <a:avLst/>
          </a:prstGeom>
          <a:noFill/>
        </p:spPr>
        <p:txBody>
          <a:bodyPr wrap="square" anchor="ctr" lIns="0" rIns="0" tIns="0" bIns="0">
            <a:spAutoFit/>
          </a:bodyPr>
          <a:lstStyle/>
          <a:p>
            <a:pPr algn="ctr"/>
            <a:r>
              <a:rPr sz="1400" b="1" i="0">
                <a:solidFill>
                  <a:srgbClr val="FFFFFF"/>
                </a:solidFill>
                <a:latin typeface="Calibri"/>
              </a:rPr>
              <a:t>Welcome &amp; case 1</a:t>
            </a:r>
          </a:p>
        </p:txBody>
      </p:sp>
      <p:sp>
        <p:nvSpPr>
          <p:cNvPr id="6" name="Right Arrow 5"/>
          <p:cNvSpPr/>
          <p:nvPr/>
        </p:nvSpPr>
        <p:spPr>
          <a:xfrm>
            <a:off x="2551176" y="1783080"/>
            <a:ext cx="219456" cy="274320"/>
          </a:xfrm>
          <a:prstGeom prst="rightArrow">
            <a:avLst/>
          </a:prstGeom>
          <a:solidFill>
            <a:srgbClr val="DDD6C8"/>
          </a:solidFill>
          <a:ln>
            <a:noFill/>
          </a:ln>
        </p:spPr>
        <p:txBody>
          <a:bodyPr rtlCol="0" anchor="ctr"/>
          <a:lstStyle/>
          <a:p/>
        </p:txBody>
      </p:sp>
      <p:sp>
        <p:nvSpPr>
          <p:cNvPr id="7" name="Rounded Rectangle 6"/>
          <p:cNvSpPr/>
          <p:nvPr/>
        </p:nvSpPr>
        <p:spPr>
          <a:xfrm>
            <a:off x="2839212" y="1600200"/>
            <a:ext cx="1938528" cy="640080"/>
          </a:xfrm>
          <a:prstGeom prst="roundRect">
            <a:avLst>
              <a:gd name="adj" fmla="val 20000"/>
            </a:avLst>
          </a:prstGeom>
          <a:solidFill>
            <a:srgbClr val="F0E8DE"/>
          </a:solidFill>
          <a:ln>
            <a:noFill/>
          </a:ln>
        </p:spPr>
        <p:txBody>
          <a:bodyPr rtlCol="0" anchor="ctr"/>
          <a:lstStyle/>
          <a:p/>
        </p:txBody>
      </p:sp>
      <p:sp>
        <p:nvSpPr>
          <p:cNvPr id="8" name="TextBox 7"/>
          <p:cNvSpPr txBox="1"/>
          <p:nvPr/>
        </p:nvSpPr>
        <p:spPr>
          <a:xfrm>
            <a:off x="2839212" y="1600200"/>
            <a:ext cx="1938528" cy="640080"/>
          </a:xfrm>
          <a:prstGeom prst="rect">
            <a:avLst/>
          </a:prstGeom>
          <a:noFill/>
        </p:spPr>
        <p:txBody>
          <a:bodyPr wrap="square" anchor="ctr" lIns="0" rIns="0" tIns="0" bIns="0">
            <a:spAutoFit/>
          </a:bodyPr>
          <a:lstStyle/>
          <a:p>
            <a:pPr algn="ctr"/>
            <a:r>
              <a:rPr sz="1400" b="1" i="0">
                <a:solidFill>
                  <a:srgbClr val="7A3E1A"/>
                </a:solidFill>
                <a:latin typeface="Calibri"/>
              </a:rPr>
              <a:t>Knowledge activation</a:t>
            </a:r>
          </a:p>
        </p:txBody>
      </p:sp>
      <p:sp>
        <p:nvSpPr>
          <p:cNvPr id="9" name="Right Arrow 8"/>
          <p:cNvSpPr/>
          <p:nvPr/>
        </p:nvSpPr>
        <p:spPr>
          <a:xfrm>
            <a:off x="4841748" y="1783080"/>
            <a:ext cx="219456" cy="274320"/>
          </a:xfrm>
          <a:prstGeom prst="rightArrow">
            <a:avLst/>
          </a:prstGeom>
          <a:solidFill>
            <a:srgbClr val="DDD6C8"/>
          </a:solidFill>
          <a:ln>
            <a:noFill/>
          </a:ln>
        </p:spPr>
        <p:txBody>
          <a:bodyPr rtlCol="0" anchor="ctr"/>
          <a:lstStyle/>
          <a:p/>
        </p:txBody>
      </p:sp>
      <p:sp>
        <p:nvSpPr>
          <p:cNvPr id="10" name="Rounded Rectangle 9"/>
          <p:cNvSpPr/>
          <p:nvPr/>
        </p:nvSpPr>
        <p:spPr>
          <a:xfrm>
            <a:off x="5129783" y="1600200"/>
            <a:ext cx="1938528" cy="640080"/>
          </a:xfrm>
          <a:prstGeom prst="roundRect">
            <a:avLst>
              <a:gd name="adj" fmla="val 20000"/>
            </a:avLst>
          </a:prstGeom>
          <a:solidFill>
            <a:srgbClr val="F0E8DE"/>
          </a:solidFill>
          <a:ln>
            <a:noFill/>
          </a:ln>
        </p:spPr>
        <p:txBody>
          <a:bodyPr rtlCol="0" anchor="ctr"/>
          <a:lstStyle/>
          <a:p/>
        </p:txBody>
      </p:sp>
      <p:sp>
        <p:nvSpPr>
          <p:cNvPr id="11" name="TextBox 10"/>
          <p:cNvSpPr txBox="1"/>
          <p:nvPr/>
        </p:nvSpPr>
        <p:spPr>
          <a:xfrm>
            <a:off x="5129783" y="1600200"/>
            <a:ext cx="1938528" cy="640080"/>
          </a:xfrm>
          <a:prstGeom prst="rect">
            <a:avLst/>
          </a:prstGeom>
          <a:noFill/>
        </p:spPr>
        <p:txBody>
          <a:bodyPr wrap="square" anchor="ctr" lIns="0" rIns="0" tIns="0" bIns="0">
            <a:spAutoFit/>
          </a:bodyPr>
          <a:lstStyle/>
          <a:p>
            <a:pPr algn="ctr"/>
            <a:r>
              <a:rPr sz="1400" b="1" i="0">
                <a:solidFill>
                  <a:srgbClr val="7A3E1A"/>
                </a:solidFill>
                <a:latin typeface="Calibri"/>
              </a:rPr>
              <a:t>Explain case 1</a:t>
            </a:r>
          </a:p>
        </p:txBody>
      </p:sp>
      <p:sp>
        <p:nvSpPr>
          <p:cNvPr id="12" name="Right Arrow 11"/>
          <p:cNvSpPr/>
          <p:nvPr/>
        </p:nvSpPr>
        <p:spPr>
          <a:xfrm>
            <a:off x="7132320" y="1783080"/>
            <a:ext cx="219456" cy="274320"/>
          </a:xfrm>
          <a:prstGeom prst="rightArrow">
            <a:avLst/>
          </a:prstGeom>
          <a:solidFill>
            <a:srgbClr val="DDD6C8"/>
          </a:solidFill>
          <a:ln>
            <a:noFill/>
          </a:ln>
        </p:spPr>
        <p:txBody>
          <a:bodyPr rtlCol="0" anchor="ctr"/>
          <a:lstStyle/>
          <a:p/>
        </p:txBody>
      </p:sp>
      <p:sp>
        <p:nvSpPr>
          <p:cNvPr id="13" name="Rounded Rectangle 12"/>
          <p:cNvSpPr/>
          <p:nvPr/>
        </p:nvSpPr>
        <p:spPr>
          <a:xfrm>
            <a:off x="7420356" y="1600200"/>
            <a:ext cx="1938528" cy="640080"/>
          </a:xfrm>
          <a:prstGeom prst="roundRect">
            <a:avLst>
              <a:gd name="adj" fmla="val 20000"/>
            </a:avLst>
          </a:prstGeom>
          <a:solidFill>
            <a:srgbClr val="F0E8DE"/>
          </a:solidFill>
          <a:ln>
            <a:noFill/>
          </a:ln>
        </p:spPr>
        <p:txBody>
          <a:bodyPr rtlCol="0" anchor="ctr"/>
          <a:lstStyle/>
          <a:p/>
        </p:txBody>
      </p:sp>
      <p:sp>
        <p:nvSpPr>
          <p:cNvPr id="14" name="TextBox 13"/>
          <p:cNvSpPr txBox="1"/>
          <p:nvPr/>
        </p:nvSpPr>
        <p:spPr>
          <a:xfrm>
            <a:off x="7420356" y="1600200"/>
            <a:ext cx="1938528" cy="640080"/>
          </a:xfrm>
          <a:prstGeom prst="rect">
            <a:avLst/>
          </a:prstGeom>
          <a:noFill/>
        </p:spPr>
        <p:txBody>
          <a:bodyPr wrap="square" anchor="ctr" lIns="0" rIns="0" tIns="0" bIns="0">
            <a:spAutoFit/>
          </a:bodyPr>
          <a:lstStyle/>
          <a:p>
            <a:pPr algn="ctr"/>
            <a:r>
              <a:rPr sz="1400" b="1" i="0">
                <a:solidFill>
                  <a:srgbClr val="7A3E1A"/>
                </a:solidFill>
                <a:latin typeface="Calibri"/>
              </a:rPr>
              <a:t>Transfer to case 2</a:t>
            </a:r>
          </a:p>
        </p:txBody>
      </p:sp>
      <p:sp>
        <p:nvSpPr>
          <p:cNvPr id="15" name="Right Arrow 14"/>
          <p:cNvSpPr/>
          <p:nvPr/>
        </p:nvSpPr>
        <p:spPr>
          <a:xfrm>
            <a:off x="9422892" y="1783080"/>
            <a:ext cx="219456" cy="274320"/>
          </a:xfrm>
          <a:prstGeom prst="rightArrow">
            <a:avLst/>
          </a:prstGeom>
          <a:solidFill>
            <a:srgbClr val="DDD6C8"/>
          </a:solidFill>
          <a:ln>
            <a:noFill/>
          </a:ln>
        </p:spPr>
        <p:txBody>
          <a:bodyPr rtlCol="0" anchor="ctr"/>
          <a:lstStyle/>
          <a:p/>
        </p:txBody>
      </p:sp>
      <p:sp>
        <p:nvSpPr>
          <p:cNvPr id="16" name="Rounded Rectangle 15"/>
          <p:cNvSpPr/>
          <p:nvPr/>
        </p:nvSpPr>
        <p:spPr>
          <a:xfrm>
            <a:off x="9710928" y="1600200"/>
            <a:ext cx="1938528" cy="640080"/>
          </a:xfrm>
          <a:prstGeom prst="roundRect">
            <a:avLst>
              <a:gd name="adj" fmla="val 20000"/>
            </a:avLst>
          </a:prstGeom>
          <a:solidFill>
            <a:srgbClr val="7A3E1A"/>
          </a:solidFill>
          <a:ln>
            <a:noFill/>
          </a:ln>
        </p:spPr>
        <p:txBody>
          <a:bodyPr rtlCol="0" anchor="ctr"/>
          <a:lstStyle/>
          <a:p/>
        </p:txBody>
      </p:sp>
      <p:sp>
        <p:nvSpPr>
          <p:cNvPr id="17" name="TextBox 16"/>
          <p:cNvSpPr txBox="1"/>
          <p:nvPr/>
        </p:nvSpPr>
        <p:spPr>
          <a:xfrm>
            <a:off x="9710928" y="1600200"/>
            <a:ext cx="1938528" cy="640080"/>
          </a:xfrm>
          <a:prstGeom prst="rect">
            <a:avLst/>
          </a:prstGeom>
          <a:noFill/>
        </p:spPr>
        <p:txBody>
          <a:bodyPr wrap="square" anchor="ctr" lIns="0" rIns="0" tIns="0" bIns="0">
            <a:spAutoFit/>
          </a:bodyPr>
          <a:lstStyle/>
          <a:p>
            <a:pPr algn="ctr"/>
            <a:r>
              <a:rPr sz="1400" b="1" i="0">
                <a:solidFill>
                  <a:srgbClr val="FFFFFF"/>
                </a:solidFill>
                <a:latin typeface="Calibri"/>
              </a:rPr>
              <a:t>Final feedback</a:t>
            </a:r>
          </a:p>
        </p:txBody>
      </p:sp>
      <p:sp>
        <p:nvSpPr>
          <p:cNvPr id="18" name="TextBox 17"/>
          <p:cNvSpPr txBox="1"/>
          <p:nvPr/>
        </p:nvSpPr>
        <p:spPr>
          <a:xfrm>
            <a:off x="548640" y="2304288"/>
            <a:ext cx="11064240" cy="320040"/>
          </a:xfrm>
          <a:prstGeom prst="rect">
            <a:avLst/>
          </a:prstGeom>
          <a:noFill/>
        </p:spPr>
        <p:txBody>
          <a:bodyPr wrap="square" anchor="t" lIns="0" rIns="0" tIns="0" bIns="0">
            <a:spAutoFit/>
          </a:bodyPr>
          <a:lstStyle/>
          <a:p>
            <a:pPr algn="l"/>
            <a:r>
              <a:rPr sz="1300" b="1" i="0">
                <a:solidFill>
                  <a:srgbClr val="1A1610"/>
                </a:solidFill>
                <a:latin typeface="Calibri"/>
              </a:rPr>
              <a:t>Fixed ends: </a:t>
            </a:r>
            <a:r>
              <a:rPr sz="1300" b="0" i="0">
                <a:solidFill>
                  <a:srgbClr val="6B6050"/>
                </a:solidFill>
                <a:latin typeface="Calibri"/>
              </a:rPr>
              <a:t>Welcome first, Final feedback last.   </a:t>
            </a:r>
            <a:r>
              <a:rPr sz="1300" b="1" i="0">
                <a:solidFill>
                  <a:srgbClr val="1A1610"/>
                </a:solidFill>
                <a:latin typeface="Calibri"/>
              </a:rPr>
              <a:t>Middle: </a:t>
            </a:r>
            <a:r>
              <a:rPr sz="1300" b="0" i="0">
                <a:solidFill>
                  <a:srgbClr val="6B6050"/>
                </a:solidFill>
                <a:latin typeface="Calibri"/>
              </a:rPr>
              <a:t>pick the steps, e.g. the Recall → Explain → Transfer script above.</a:t>
            </a:r>
          </a:p>
        </p:txBody>
      </p:sp>
      <p:graphicFrame>
        <p:nvGraphicFramePr>
          <p:cNvPr id="19" name="Table 18"/>
          <p:cNvGraphicFramePr>
            <a:graphicFrameLocks noGrp="1"/>
          </p:cNvGraphicFramePr>
          <p:nvPr/>
        </p:nvGraphicFramePr>
        <p:xfrm>
          <a:off x="548640" y="2788920"/>
          <a:ext cx="7406640" cy="3383280"/>
        </p:xfrm>
        <a:graphic>
          <a:graphicData uri="http://schemas.openxmlformats.org/drawingml/2006/table">
            <a:tbl>
              <a:tblPr firstRow="1" bandRow="1">
                <a:tableStyleId>{5C22544A-7EE6-4342-B048-85BDC9FD1C3A}</a:tableStyleId>
              </a:tblPr>
              <a:tblGrid>
                <a:gridCol w="1143000"/>
                <a:gridCol w="2103120"/>
                <a:gridCol w="2148840"/>
                <a:gridCol w="2011680"/>
              </a:tblGrid>
              <a:tr h="338328">
                <a:tc>
                  <a:txBody>
                    <a:bodyPr/>
                    <a:lstStyle/>
                    <a:p>
                      <a:r>
                        <a:rPr sz="1300" b="1">
                          <a:solidFill>
                            <a:srgbClr val="FFFFFF"/>
                          </a:solidFill>
                          <a:latin typeface="Calibri"/>
                        </a:rPr>
                        <a:t>Step type</a:t>
                      </a:r>
                    </a:p>
                  </a:txBody>
                  <a:tcPr marL="73152" marR="73152" marT="18288" marB="18288" anchor="ctr">
                    <a:solidFill>
                      <a:srgbClr val="7A3E1A"/>
                    </a:solidFill>
                  </a:tcPr>
                </a:tc>
                <a:tc>
                  <a:txBody>
                    <a:bodyPr/>
                    <a:lstStyle/>
                    <a:p>
                      <a:r>
                        <a:rPr sz="1300" b="1">
                          <a:solidFill>
                            <a:srgbClr val="FFFFFF"/>
                          </a:solidFill>
                          <a:latin typeface="Calibri"/>
                        </a:rPr>
                        <a:t>Phase banner</a:t>
                      </a:r>
                    </a:p>
                  </a:txBody>
                  <a:tcPr marL="73152" marR="73152" marT="18288" marB="18288" anchor="ctr">
                    <a:solidFill>
                      <a:srgbClr val="7A3E1A"/>
                    </a:solidFill>
                  </a:tcPr>
                </a:tc>
                <a:tc>
                  <a:txBody>
                    <a:bodyPr/>
                    <a:lstStyle/>
                    <a:p>
                      <a:r>
                        <a:rPr sz="1300" b="1">
                          <a:solidFill>
                            <a:srgbClr val="FFFFFF"/>
                          </a:solidFill>
                          <a:latin typeface="Calibri"/>
                        </a:rPr>
                        <a:t>Answer field</a:t>
                      </a:r>
                    </a:p>
                  </a:txBody>
                  <a:tcPr marL="73152" marR="73152" marT="18288" marB="18288" anchor="ctr">
                    <a:solidFill>
                      <a:srgbClr val="7A3E1A"/>
                    </a:solidFill>
                  </a:tcPr>
                </a:tc>
                <a:tc>
                  <a:txBody>
                    <a:bodyPr/>
                    <a:lstStyle/>
                    <a:p>
                      <a:r>
                        <a:rPr sz="1300" b="1">
                          <a:solidFill>
                            <a:srgbClr val="FFFFFF"/>
                          </a:solidFill>
                          <a:latin typeface="Calibri"/>
                        </a:rPr>
                        <a:t>Rule</a:t>
                      </a:r>
                    </a:p>
                  </a:txBody>
                  <a:tcPr marL="73152" marR="73152" marT="18288" marB="18288" anchor="ctr">
                    <a:solidFill>
                      <a:srgbClr val="7A3E1A"/>
                    </a:solidFill>
                  </a:tcPr>
                </a:tc>
              </a:tr>
              <a:tr h="338328">
                <a:tc>
                  <a:txBody>
                    <a:bodyPr/>
                    <a:lstStyle/>
                    <a:p>
                      <a:r>
                        <a:rPr sz="1200" b="1">
                          <a:solidFill>
                            <a:srgbClr val="7A3E1A"/>
                          </a:solidFill>
                          <a:latin typeface="Courier New"/>
                        </a:rPr>
                        <a:t>welcome</a:t>
                      </a:r>
                    </a:p>
                  </a:txBody>
                  <a:tcPr marL="73152" marR="73152" marT="18288" marB="18288" anchor="ctr">
                    <a:solidFill>
                      <a:srgbClr val="FFFFFF"/>
                    </a:solidFill>
                  </a:tcPr>
                </a:tc>
                <a:tc>
                  <a:txBody>
                    <a:bodyPr/>
                    <a:lstStyle/>
                    <a:p>
                      <a:r>
                        <a:rPr sz="1300" b="0">
                          <a:solidFill>
                            <a:srgbClr val="1A1610"/>
                          </a:solidFill>
                          <a:latin typeface="Calibri"/>
                        </a:rPr>
                        <a:t>(none)</a:t>
                      </a:r>
                    </a:p>
                  </a:txBody>
                  <a:tcPr marL="73152" marR="73152" marT="18288" marB="18288" anchor="ctr">
                    <a:solidFill>
                      <a:srgbClr val="FFFFFF"/>
                    </a:solidFill>
                  </a:tcPr>
                </a:tc>
                <a:tc>
                  <a:txBody>
                    <a:bodyPr/>
                    <a:lstStyle/>
                    <a:p>
                      <a:r>
                        <a:rPr sz="1200" b="0">
                          <a:solidFill>
                            <a:srgbClr val="1A1610"/>
                          </a:solidFill>
                          <a:latin typeface="Courier New"/>
                        </a:rPr>
                        <a:t>{{welcome.answer}}</a:t>
                      </a:r>
                    </a:p>
                  </a:txBody>
                  <a:tcPr marL="73152" marR="73152" marT="18288" marB="18288" anchor="ctr">
                    <a:solidFill>
                      <a:srgbClr val="FFFFFF"/>
                    </a:solidFill>
                  </a:tcPr>
                </a:tc>
                <a:tc>
                  <a:txBody>
                    <a:bodyPr/>
                    <a:lstStyle/>
                    <a:p>
                      <a:r>
                        <a:rPr sz="1300" b="0">
                          <a:solidFill>
                            <a:srgbClr val="1A1610"/>
                          </a:solidFill>
                          <a:latin typeface="Calibri"/>
                        </a:rPr>
                        <a:t>Exactly one, first</a:t>
                      </a:r>
                    </a:p>
                  </a:txBody>
                  <a:tcPr marL="73152" marR="73152" marT="18288" marB="18288" anchor="ctr">
                    <a:solidFill>
                      <a:srgbClr val="FFFFFF"/>
                    </a:solidFill>
                  </a:tcPr>
                </a:tc>
              </a:tr>
              <a:tr h="338328">
                <a:tc>
                  <a:txBody>
                    <a:bodyPr/>
                    <a:lstStyle/>
                    <a:p>
                      <a:r>
                        <a:rPr sz="1200" b="1">
                          <a:solidFill>
                            <a:srgbClr val="7A3E1A"/>
                          </a:solidFill>
                          <a:latin typeface="Courier New"/>
                        </a:rPr>
                        <a:t>know</a:t>
                      </a:r>
                    </a:p>
                  </a:txBody>
                  <a:tcPr marL="73152" marR="73152" marT="18288" marB="18288" anchor="ctr">
                    <a:solidFill>
                      <a:srgbClr val="FAF8F4"/>
                    </a:solidFill>
                  </a:tcPr>
                </a:tc>
                <a:tc>
                  <a:txBody>
                    <a:bodyPr/>
                    <a:lstStyle/>
                    <a:p>
                      <a:r>
                        <a:rPr sz="1300" b="0">
                          <a:solidFill>
                            <a:srgbClr val="1A1610"/>
                          </a:solidFill>
                          <a:latin typeface="Calibri"/>
                        </a:rPr>
                        <a:t>Knowledge Activation</a:t>
                      </a:r>
                    </a:p>
                  </a:txBody>
                  <a:tcPr marL="73152" marR="73152" marT="18288" marB="18288" anchor="ctr">
                    <a:solidFill>
                      <a:srgbClr val="FAF8F4"/>
                    </a:solidFill>
                  </a:tcPr>
                </a:tc>
                <a:tc>
                  <a:txBody>
                    <a:bodyPr/>
                    <a:lstStyle/>
                    <a:p>
                      <a:r>
                        <a:rPr sz="1200" b="0">
                          <a:solidFill>
                            <a:srgbClr val="1A1610"/>
                          </a:solidFill>
                          <a:latin typeface="Courier New"/>
                        </a:rPr>
                        <a:t>{{knowledge.answer}}</a:t>
                      </a:r>
                    </a:p>
                  </a:txBody>
                  <a:tcPr marL="73152" marR="73152" marT="18288" marB="18288" anchor="ctr">
                    <a:solidFill>
                      <a:srgbClr val="FAF8F4"/>
                    </a:solidFill>
                  </a:tcPr>
                </a:tc>
                <a:tc>
                  <a:txBody>
                    <a:bodyPr/>
                    <a:lstStyle/>
                    <a:p>
                      <a:r>
                        <a:rPr sz="1300" b="0">
                          <a:solidFill>
                            <a:srgbClr val="1A1610"/>
                          </a:solidFill>
                          <a:latin typeface="Calibri"/>
                        </a:rPr>
                        <a:t>At most once</a:t>
                      </a:r>
                    </a:p>
                  </a:txBody>
                  <a:tcPr marL="73152" marR="73152" marT="18288" marB="18288" anchor="ctr">
                    <a:solidFill>
                      <a:srgbClr val="FAF8F4"/>
                    </a:solidFill>
                  </a:tcPr>
                </a:tc>
              </a:tr>
              <a:tr h="338328">
                <a:tc>
                  <a:txBody>
                    <a:bodyPr/>
                    <a:lstStyle/>
                    <a:p>
                      <a:r>
                        <a:rPr sz="1200" b="1">
                          <a:solidFill>
                            <a:srgbClr val="7A3E1A"/>
                          </a:solidFill>
                          <a:latin typeface="Courier New"/>
                        </a:rPr>
                        <a:t>explain</a:t>
                      </a:r>
                    </a:p>
                  </a:txBody>
                  <a:tcPr marL="73152" marR="73152" marT="18288" marB="18288" anchor="ctr">
                    <a:solidFill>
                      <a:srgbClr val="FFFFFF"/>
                    </a:solidFill>
                  </a:tcPr>
                </a:tc>
                <a:tc>
                  <a:txBody>
                    <a:bodyPr/>
                    <a:lstStyle/>
                    <a:p>
                      <a:r>
                        <a:rPr sz="1300" b="0">
                          <a:solidFill>
                            <a:srgbClr val="1A1610"/>
                          </a:solidFill>
                          <a:latin typeface="Calibri"/>
                        </a:rPr>
                        <a:t>Narrative Construction</a:t>
                      </a:r>
                    </a:p>
                  </a:txBody>
                  <a:tcPr marL="73152" marR="73152" marT="18288" marB="18288" anchor="ctr">
                    <a:solidFill>
                      <a:srgbClr val="FFFFFF"/>
                    </a:solidFill>
                  </a:tcPr>
                </a:tc>
                <a:tc>
                  <a:txBody>
                    <a:bodyPr/>
                    <a:lstStyle/>
                    <a:p>
                      <a:r>
                        <a:rPr sz="1200" b="0">
                          <a:solidFill>
                            <a:srgbClr val="1A1610"/>
                          </a:solidFill>
                          <a:latin typeface="Courier New"/>
                        </a:rPr>
                        <a:t>{{case1.answer}}</a:t>
                      </a:r>
                    </a:p>
                  </a:txBody>
                  <a:tcPr marL="73152" marR="73152" marT="18288" marB="18288" anchor="ctr">
                    <a:solidFill>
                      <a:srgbClr val="FFFFFF"/>
                    </a:solidFill>
                  </a:tcPr>
                </a:tc>
                <a:tc>
                  <a:txBody>
                    <a:bodyPr/>
                    <a:lstStyle/>
                    <a:p>
                      <a:r>
                        <a:rPr sz="1300" b="0">
                          <a:solidFill>
                            <a:srgbClr val="1A1610"/>
                          </a:solidFill>
                          <a:latin typeface="Calibri"/>
                        </a:rPr>
                        <a:t>At most once</a:t>
                      </a:r>
                    </a:p>
                  </a:txBody>
                  <a:tcPr marL="73152" marR="73152" marT="18288" marB="18288" anchor="ctr">
                    <a:solidFill>
                      <a:srgbClr val="FFFFFF"/>
                    </a:solidFill>
                  </a:tcPr>
                </a:tc>
              </a:tr>
              <a:tr h="338328">
                <a:tc>
                  <a:txBody>
                    <a:bodyPr/>
                    <a:lstStyle/>
                    <a:p>
                      <a:r>
                        <a:rPr sz="1200" b="1">
                          <a:solidFill>
                            <a:srgbClr val="7A3E1A"/>
                          </a:solidFill>
                          <a:latin typeface="Courier New"/>
                        </a:rPr>
                        <a:t>assess</a:t>
                      </a:r>
                    </a:p>
                  </a:txBody>
                  <a:tcPr marL="73152" marR="73152" marT="18288" marB="18288" anchor="ctr">
                    <a:solidFill>
                      <a:srgbClr val="FAF8F4"/>
                    </a:solidFill>
                  </a:tcPr>
                </a:tc>
                <a:tc>
                  <a:txBody>
                    <a:bodyPr/>
                    <a:lstStyle/>
                    <a:p>
                      <a:r>
                        <a:rPr sz="1300" b="0">
                          <a:solidFill>
                            <a:srgbClr val="1A1610"/>
                          </a:solidFill>
                          <a:latin typeface="Calibri"/>
                        </a:rPr>
                        <a:t>Assessment</a:t>
                      </a:r>
                    </a:p>
                  </a:txBody>
                  <a:tcPr marL="73152" marR="73152" marT="18288" marB="18288" anchor="ctr">
                    <a:solidFill>
                      <a:srgbClr val="FAF8F4"/>
                    </a:solidFill>
                  </a:tcPr>
                </a:tc>
                <a:tc>
                  <a:txBody>
                    <a:bodyPr/>
                    <a:lstStyle/>
                    <a:p>
                      <a:r>
                        <a:rPr sz="1200" b="0">
                          <a:solidFill>
                            <a:srgbClr val="1A1610"/>
                          </a:solidFill>
                          <a:latin typeface="Courier New"/>
                        </a:rPr>
                        <a:t>{{assessment.answer}}</a:t>
                      </a:r>
                    </a:p>
                  </a:txBody>
                  <a:tcPr marL="73152" marR="73152" marT="18288" marB="18288" anchor="ctr">
                    <a:solidFill>
                      <a:srgbClr val="FAF8F4"/>
                    </a:solidFill>
                  </a:tcPr>
                </a:tc>
                <a:tc>
                  <a:txBody>
                    <a:bodyPr/>
                    <a:lstStyle/>
                    <a:p>
                      <a:r>
                        <a:rPr sz="1300" b="0">
                          <a:solidFill>
                            <a:srgbClr val="1A1610"/>
                          </a:solidFill>
                          <a:latin typeface="Calibri"/>
                        </a:rPr>
                        <a:t>After explain</a:t>
                      </a:r>
                    </a:p>
                  </a:txBody>
                  <a:tcPr marL="73152" marR="73152" marT="18288" marB="18288" anchor="ctr">
                    <a:solidFill>
                      <a:srgbClr val="FAF8F4"/>
                    </a:solidFill>
                  </a:tcPr>
                </a:tc>
              </a:tr>
              <a:tr h="338328">
                <a:tc>
                  <a:txBody>
                    <a:bodyPr/>
                    <a:lstStyle/>
                    <a:p>
                      <a:r>
                        <a:rPr sz="1200" b="1">
                          <a:solidFill>
                            <a:srgbClr val="7A3E1A"/>
                          </a:solidFill>
                          <a:latin typeface="Courier New"/>
                        </a:rPr>
                        <a:t>transfer</a:t>
                      </a:r>
                    </a:p>
                  </a:txBody>
                  <a:tcPr marL="73152" marR="73152" marT="18288" marB="18288" anchor="ctr">
                    <a:solidFill>
                      <a:srgbClr val="FFFFFF"/>
                    </a:solidFill>
                  </a:tcPr>
                </a:tc>
                <a:tc>
                  <a:txBody>
                    <a:bodyPr/>
                    <a:lstStyle/>
                    <a:p>
                      <a:r>
                        <a:rPr sz="1300" b="0">
                          <a:solidFill>
                            <a:srgbClr val="1A1610"/>
                          </a:solidFill>
                          <a:latin typeface="Calibri"/>
                        </a:rPr>
                        <a:t>Reasoning Transfer</a:t>
                      </a:r>
                    </a:p>
                  </a:txBody>
                  <a:tcPr marL="73152" marR="73152" marT="18288" marB="18288" anchor="ctr">
                    <a:solidFill>
                      <a:srgbClr val="FFFFFF"/>
                    </a:solidFill>
                  </a:tcPr>
                </a:tc>
                <a:tc>
                  <a:txBody>
                    <a:bodyPr/>
                    <a:lstStyle/>
                    <a:p>
                      <a:r>
                        <a:rPr sz="1200" b="0">
                          <a:solidFill>
                            <a:srgbClr val="1A1610"/>
                          </a:solidFill>
                          <a:latin typeface="Courier New"/>
                        </a:rPr>
                        <a:t>{{caseN.answer}}</a:t>
                      </a:r>
                    </a:p>
                  </a:txBody>
                  <a:tcPr marL="73152" marR="73152" marT="18288" marB="18288" anchor="ctr">
                    <a:solidFill>
                      <a:srgbClr val="FFFFFF"/>
                    </a:solidFill>
                  </a:tcPr>
                </a:tc>
                <a:tc>
                  <a:txBody>
                    <a:bodyPr/>
                    <a:lstStyle/>
                    <a:p>
                      <a:r>
                        <a:rPr sz="1300" b="0">
                          <a:solidFill>
                            <a:srgbClr val="1A1610"/>
                          </a:solidFill>
                          <a:latin typeface="Calibri"/>
                        </a:rPr>
                        <a:t>After explain; N = 2, 3, …</a:t>
                      </a:r>
                    </a:p>
                  </a:txBody>
                  <a:tcPr marL="73152" marR="73152" marT="18288" marB="18288" anchor="ctr">
                    <a:solidFill>
                      <a:srgbClr val="FFFFFF"/>
                    </a:solidFill>
                  </a:tcPr>
                </a:tc>
              </a:tr>
              <a:tr h="338328">
                <a:tc>
                  <a:txBody>
                    <a:bodyPr/>
                    <a:lstStyle/>
                    <a:p>
                      <a:r>
                        <a:rPr sz="1200" b="1">
                          <a:solidFill>
                            <a:srgbClr val="7A3E1A"/>
                          </a:solidFill>
                          <a:latin typeface="Courier New"/>
                        </a:rPr>
                        <a:t>interview</a:t>
                      </a:r>
                    </a:p>
                  </a:txBody>
                  <a:tcPr marL="73152" marR="73152" marT="18288" marB="18288" anchor="ctr">
                    <a:solidFill>
                      <a:srgbClr val="FAF8F4"/>
                    </a:solidFill>
                  </a:tcPr>
                </a:tc>
                <a:tc>
                  <a:txBody>
                    <a:bodyPr/>
                    <a:lstStyle/>
                    <a:p>
                      <a:r>
                        <a:rPr sz="1300" b="0">
                          <a:solidFill>
                            <a:srgbClr val="1A1610"/>
                          </a:solidFill>
                          <a:latin typeface="Calibri"/>
                        </a:rPr>
                        <a:t>Patient Interview</a:t>
                      </a:r>
                    </a:p>
                  </a:txBody>
                  <a:tcPr marL="73152" marR="73152" marT="18288" marB="18288" anchor="ctr">
                    <a:solidFill>
                      <a:srgbClr val="FAF8F4"/>
                    </a:solidFill>
                  </a:tcPr>
                </a:tc>
                <a:tc>
                  <a:txBody>
                    <a:bodyPr/>
                    <a:lstStyle/>
                    <a:p>
                      <a:r>
                        <a:rPr sz="1200" b="0">
                          <a:solidFill>
                            <a:srgbClr val="1A1610"/>
                          </a:solidFill>
                          <a:latin typeface="Courier New"/>
                        </a:rPr>
                        <a:t>{{interview.answer}}</a:t>
                      </a:r>
                    </a:p>
                  </a:txBody>
                  <a:tcPr marL="73152" marR="73152" marT="18288" marB="18288" anchor="ctr">
                    <a:solidFill>
                      <a:srgbClr val="FAF8F4"/>
                    </a:solidFill>
                  </a:tcPr>
                </a:tc>
                <a:tc>
                  <a:txBody>
                    <a:bodyPr/>
                    <a:lstStyle/>
                    <a:p>
                      <a:r>
                        <a:rPr sz="1300" b="0">
                          <a:solidFill>
                            <a:srgbClr val="1A1610"/>
                          </a:solidFill>
                          <a:latin typeface="Calibri"/>
                        </a:rPr>
                        <a:t>At most once</a:t>
                      </a:r>
                    </a:p>
                  </a:txBody>
                  <a:tcPr marL="73152" marR="73152" marT="18288" marB="18288" anchor="ctr">
                    <a:solidFill>
                      <a:srgbClr val="FAF8F4"/>
                    </a:solidFill>
                  </a:tcPr>
                </a:tc>
              </a:tr>
              <a:tr h="338328">
                <a:tc>
                  <a:txBody>
                    <a:bodyPr/>
                    <a:lstStyle/>
                    <a:p>
                      <a:r>
                        <a:rPr sz="1200" b="1">
                          <a:solidFill>
                            <a:srgbClr val="7A3E1A"/>
                          </a:solidFill>
                          <a:latin typeface="Courier New"/>
                        </a:rPr>
                        <a:t>reflect</a:t>
                      </a:r>
                    </a:p>
                  </a:txBody>
                  <a:tcPr marL="73152" marR="73152" marT="18288" marB="18288" anchor="ctr">
                    <a:solidFill>
                      <a:srgbClr val="FFFFFF"/>
                    </a:solidFill>
                  </a:tcPr>
                </a:tc>
                <a:tc>
                  <a:txBody>
                    <a:bodyPr/>
                    <a:lstStyle/>
                    <a:p>
                      <a:r>
                        <a:rPr sz="1300" b="0">
                          <a:solidFill>
                            <a:srgbClr val="1A1610"/>
                          </a:solidFill>
                          <a:latin typeface="Calibri"/>
                        </a:rPr>
                        <a:t>Reflection</a:t>
                      </a:r>
                    </a:p>
                  </a:txBody>
                  <a:tcPr marL="73152" marR="73152" marT="18288" marB="18288" anchor="ctr">
                    <a:solidFill>
                      <a:srgbClr val="FFFFFF"/>
                    </a:solidFill>
                  </a:tcPr>
                </a:tc>
                <a:tc>
                  <a:txBody>
                    <a:bodyPr/>
                    <a:lstStyle/>
                    <a:p>
                      <a:r>
                        <a:rPr sz="1200" b="0">
                          <a:solidFill>
                            <a:srgbClr val="1A1610"/>
                          </a:solidFill>
                          <a:latin typeface="Courier New"/>
                        </a:rPr>
                        <a:t>{{reflection.answer}}</a:t>
                      </a:r>
                    </a:p>
                  </a:txBody>
                  <a:tcPr marL="73152" marR="73152" marT="18288" marB="18288" anchor="ctr">
                    <a:solidFill>
                      <a:srgbClr val="FFFFFF"/>
                    </a:solidFill>
                  </a:tcPr>
                </a:tc>
                <a:tc>
                  <a:txBody>
                    <a:bodyPr/>
                    <a:lstStyle/>
                    <a:p>
                      <a:r>
                        <a:rPr sz="1300" b="0">
                          <a:solidFill>
                            <a:srgbClr val="1A1610"/>
                          </a:solidFill>
                          <a:latin typeface="Calibri"/>
                        </a:rPr>
                        <a:t>Once</a:t>
                      </a:r>
                    </a:p>
                  </a:txBody>
                  <a:tcPr marL="73152" marR="73152" marT="18288" marB="18288" anchor="ctr">
                    <a:solidFill>
                      <a:srgbClr val="FFFFFF"/>
                    </a:solidFill>
                  </a:tcPr>
                </a:tc>
              </a:tr>
              <a:tr h="338328">
                <a:tc>
                  <a:txBody>
                    <a:bodyPr/>
                    <a:lstStyle/>
                    <a:p>
                      <a:r>
                        <a:rPr sz="1200" b="1">
                          <a:solidFill>
                            <a:srgbClr val="7A3E1A"/>
                          </a:solidFill>
                          <a:latin typeface="Courier New"/>
                        </a:rPr>
                        <a:t>custom</a:t>
                      </a:r>
                    </a:p>
                  </a:txBody>
                  <a:tcPr marL="73152" marR="73152" marT="18288" marB="18288" anchor="ctr">
                    <a:solidFill>
                      <a:srgbClr val="FAF8F4"/>
                    </a:solidFill>
                  </a:tcPr>
                </a:tc>
                <a:tc>
                  <a:txBody>
                    <a:bodyPr/>
                    <a:lstStyle/>
                    <a:p>
                      <a:r>
                        <a:rPr sz="1300" b="0">
                          <a:solidFill>
                            <a:srgbClr val="1A1610"/>
                          </a:solidFill>
                          <a:latin typeface="Calibri"/>
                        </a:rPr>
                        <a:t>Its own title</a:t>
                      </a:r>
                    </a:p>
                  </a:txBody>
                  <a:tcPr marL="73152" marR="73152" marT="18288" marB="18288" anchor="ctr">
                    <a:solidFill>
                      <a:srgbClr val="FAF8F4"/>
                    </a:solidFill>
                  </a:tcPr>
                </a:tc>
                <a:tc>
                  <a:txBody>
                    <a:bodyPr/>
                    <a:lstStyle/>
                    <a:p>
                      <a:r>
                        <a:rPr sz="1200" b="0">
                          <a:solidFill>
                            <a:srgbClr val="1A1610"/>
                          </a:solidFill>
                          <a:latin typeface="Courier New"/>
                        </a:rPr>
                        <a:t>{{&lt;key&gt;.answer}}</a:t>
                      </a:r>
                    </a:p>
                  </a:txBody>
                  <a:tcPr marL="73152" marR="73152" marT="18288" marB="18288" anchor="ctr">
                    <a:solidFill>
                      <a:srgbClr val="FAF8F4"/>
                    </a:solidFill>
                  </a:tcPr>
                </a:tc>
                <a:tc>
                  <a:txBody>
                    <a:bodyPr/>
                    <a:lstStyle/>
                    <a:p>
                      <a:r>
                        <a:rPr sz="1300" b="0">
                          <a:solidFill>
                            <a:srgbClr val="1A1610"/>
                          </a:solidFill>
                          <a:latin typeface="Calibri"/>
                        </a:rPr>
                        <a:t>Unique answer key</a:t>
                      </a:r>
                    </a:p>
                  </a:txBody>
                  <a:tcPr marL="73152" marR="73152" marT="18288" marB="18288" anchor="ctr">
                    <a:solidFill>
                      <a:srgbClr val="FAF8F4"/>
                    </a:solidFill>
                  </a:tcPr>
                </a:tc>
              </a:tr>
              <a:tr h="338328">
                <a:tc>
                  <a:txBody>
                    <a:bodyPr/>
                    <a:lstStyle/>
                    <a:p>
                      <a:r>
                        <a:rPr sz="1200" b="1">
                          <a:solidFill>
                            <a:srgbClr val="7A3E1A"/>
                          </a:solidFill>
                          <a:latin typeface="Courier New"/>
                        </a:rPr>
                        <a:t>final</a:t>
                      </a:r>
                    </a:p>
                  </a:txBody>
                  <a:tcPr marL="73152" marR="73152" marT="18288" marB="18288" anchor="ctr">
                    <a:solidFill>
                      <a:srgbClr val="FFFFFF"/>
                    </a:solidFill>
                  </a:tcPr>
                </a:tc>
                <a:tc>
                  <a:txBody>
                    <a:bodyPr/>
                    <a:lstStyle/>
                    <a:p>
                      <a:r>
                        <a:rPr sz="1300" b="0">
                          <a:solidFill>
                            <a:srgbClr val="1A1610"/>
                          </a:solidFill>
                          <a:latin typeface="Calibri"/>
                        </a:rPr>
                        <a:t>(none)</a:t>
                      </a:r>
                    </a:p>
                  </a:txBody>
                  <a:tcPr marL="73152" marR="73152" marT="18288" marB="18288" anchor="ctr">
                    <a:solidFill>
                      <a:srgbClr val="FFFFFF"/>
                    </a:solidFill>
                  </a:tcPr>
                </a:tc>
                <a:tc>
                  <a:txBody>
                    <a:bodyPr/>
                    <a:lstStyle/>
                    <a:p>
                      <a:r>
                        <a:rPr sz="1200" b="0">
                          <a:solidFill>
                            <a:srgbClr val="1A1610"/>
                          </a:solidFill>
                          <a:latin typeface="Courier New"/>
                        </a:rPr>
                        <a:t>(none)</a:t>
                      </a:r>
                    </a:p>
                  </a:txBody>
                  <a:tcPr marL="73152" marR="73152" marT="18288" marB="18288" anchor="ctr">
                    <a:solidFill>
                      <a:srgbClr val="FFFFFF"/>
                    </a:solidFill>
                  </a:tcPr>
                </a:tc>
                <a:tc>
                  <a:txBody>
                    <a:bodyPr/>
                    <a:lstStyle/>
                    <a:p>
                      <a:r>
                        <a:rPr sz="1300" b="0">
                          <a:solidFill>
                            <a:srgbClr val="1A1610"/>
                          </a:solidFill>
                          <a:latin typeface="Calibri"/>
                        </a:rPr>
                        <a:t>Exactly one, last</a:t>
                      </a:r>
                    </a:p>
                  </a:txBody>
                  <a:tcPr marL="73152" marR="73152" marT="18288" marB="18288" anchor="ctr">
                    <a:solidFill>
                      <a:srgbClr val="FFFFFF"/>
                    </a:solidFill>
                  </a:tcPr>
                </a:tc>
              </a:tr>
            </a:tbl>
          </a:graphicData>
        </a:graphic>
      </p:graphicFrame>
      <p:sp>
        <p:nvSpPr>
          <p:cNvPr id="20" name="Rounded Rectangle 19"/>
          <p:cNvSpPr/>
          <p:nvPr/>
        </p:nvSpPr>
        <p:spPr>
          <a:xfrm>
            <a:off x="8229600" y="2788920"/>
            <a:ext cx="3410712" cy="3383280"/>
          </a:xfrm>
          <a:prstGeom prst="roundRect">
            <a:avLst>
              <a:gd name="adj" fmla="val 5000"/>
            </a:avLst>
          </a:prstGeom>
          <a:solidFill>
            <a:srgbClr val="FAF8F4"/>
          </a:solidFill>
          <a:ln w="9525">
            <a:solidFill>
              <a:srgbClr val="DDD6C8"/>
            </a:solidFill>
          </a:ln>
        </p:spPr>
        <p:txBody>
          <a:bodyPr rtlCol="0" anchor="ctr"/>
          <a:lstStyle/>
          <a:p/>
        </p:txBody>
      </p:sp>
      <p:sp>
        <p:nvSpPr>
          <p:cNvPr id="21" name="TextBox 20"/>
          <p:cNvSpPr txBox="1"/>
          <p:nvPr/>
        </p:nvSpPr>
        <p:spPr>
          <a:xfrm>
            <a:off x="8458200" y="2926080"/>
            <a:ext cx="3017520" cy="365760"/>
          </a:xfrm>
          <a:prstGeom prst="rect">
            <a:avLst/>
          </a:prstGeom>
          <a:noFill/>
        </p:spPr>
        <p:txBody>
          <a:bodyPr wrap="square" anchor="t" lIns="0" rIns="0" tIns="0" bIns="0">
            <a:spAutoFit/>
          </a:bodyPr>
          <a:lstStyle/>
          <a:p>
            <a:pPr algn="l"/>
            <a:r>
              <a:rPr sz="1600" b="1" i="0">
                <a:solidFill>
                  <a:srgbClr val="1A1610"/>
                </a:solidFill>
                <a:latin typeface="Calibri"/>
              </a:rPr>
              <a:t>The case also holds</a:t>
            </a:r>
          </a:p>
        </p:txBody>
      </p:sp>
      <p:sp>
        <p:nvSpPr>
          <p:cNvPr id="22" name="TextBox 21"/>
          <p:cNvSpPr txBox="1"/>
          <p:nvPr/>
        </p:nvSpPr>
        <p:spPr>
          <a:xfrm>
            <a:off x="8458200" y="3364992"/>
            <a:ext cx="3017520" cy="2743200"/>
          </a:xfrm>
          <a:prstGeom prst="rect">
            <a:avLst/>
          </a:prstGeom>
          <a:noFill/>
        </p:spPr>
        <p:txBody>
          <a:bodyPr wrap="square" anchor="t" lIns="0" rIns="0" tIns="0" bIns="0">
            <a:spAutoFit/>
          </a:bodyPr>
          <a:lstStyle/>
          <a:p>
            <a:pPr algn="l">
              <a:spcAft>
                <a:spcPts val="200"/>
              </a:spcAft>
            </a:pPr>
            <a:r>
              <a:rPr sz="1300" b="1" i="0">
                <a:solidFill>
                  <a:srgbClr val="7A3E1A"/>
                </a:solidFill>
                <a:latin typeface="Courier New"/>
              </a:rPr>
              <a:t>title</a:t>
            </a:r>
          </a:p>
          <a:p>
            <a:pPr algn="l">
              <a:spcAft>
                <a:spcPts val="200"/>
              </a:spcAft>
            </a:pPr>
            <a:r>
              <a:rPr sz="1300" b="0" i="0">
                <a:solidFill>
                  <a:srgbClr val="6B6050"/>
                </a:solidFill>
                <a:latin typeface="Calibri"/>
              </a:rPr>
              <a:t>The activity's name</a:t>
            </a:r>
          </a:p>
          <a:p>
            <a:pPr algn="l">
              <a:spcAft>
                <a:spcPts val="200"/>
              </a:spcAft>
            </a:pPr>
            <a:r>
              <a:rPr sz="1300" b="1" i="0">
                <a:solidFill>
                  <a:srgbClr val="7A3E1A"/>
                </a:solidFill>
                <a:latin typeface="Courier New"/>
              </a:rPr>
              <a:t>settings</a:t>
            </a:r>
          </a:p>
          <a:p>
            <a:pPr algn="l">
              <a:spcAft>
                <a:spcPts val="200"/>
              </a:spcAft>
            </a:pPr>
            <a:r>
              <a:rPr sz="1300" b="0" i="0">
                <a:solidFill>
                  <a:srgbClr val="6B6050"/>
                </a:solidFill>
                <a:latin typeface="Calibri"/>
              </a:rPr>
              <a:t>Student level (4 / 3 / 2 hints per point), progress bar</a:t>
            </a:r>
          </a:p>
          <a:p>
            <a:pPr algn="l">
              <a:spcAft>
                <a:spcPts val="200"/>
              </a:spcAft>
            </a:pPr>
            <a:r>
              <a:rPr sz="1300" b="1" i="0">
                <a:solidFill>
                  <a:srgbClr val="7A3E1A"/>
                </a:solidFill>
                <a:latin typeface="Courier New"/>
              </a:rPr>
              <a:t>agentPrompts</a:t>
            </a:r>
          </a:p>
          <a:p>
            <a:pPr algn="l">
              <a:spcAft>
                <a:spcPts val="200"/>
              </a:spcAft>
            </a:pPr>
            <a:r>
              <a:rPr sz="1300" b="0" i="0">
                <a:solidFill>
                  <a:srgbClr val="6B6050"/>
                </a:solidFill>
                <a:latin typeface="Calibri"/>
              </a:rPr>
              <a:t>Tutor persona, patient persona, guardrails</a:t>
            </a:r>
          </a:p>
          <a:p>
            <a:pPr algn="l">
              <a:spcAft>
                <a:spcPts val="200"/>
              </a:spcAft>
            </a:pPr>
            <a:r>
              <a:rPr sz="1300" b="1" i="0">
                <a:solidFill>
                  <a:srgbClr val="7A3E1A"/>
                </a:solidFill>
                <a:latin typeface="Courier New"/>
              </a:rPr>
              <a:t>strategyPrompts</a:t>
            </a:r>
          </a:p>
          <a:p>
            <a:pPr algn="l">
              <a:spcAft>
                <a:spcPts val="200"/>
              </a:spcAft>
            </a:pPr>
            <a:r>
              <a:rPr sz="1300" b="0" i="0">
                <a:solidFill>
                  <a:srgbClr val="6B6050"/>
                </a:solidFill>
                <a:latin typeface="Calibri"/>
              </a:rPr>
              <a:t>One instruction per strategy used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Structure of a phase</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A step = a phase banner + a pipeline of elements that run in order + the answer it records</a:t>
            </a:r>
          </a:p>
        </p:txBody>
      </p:sp>
      <p:sp>
        <p:nvSpPr>
          <p:cNvPr id="4" name="Rounded Rectangle 3"/>
          <p:cNvSpPr/>
          <p:nvPr/>
        </p:nvSpPr>
        <p:spPr>
          <a:xfrm>
            <a:off x="548640" y="1645920"/>
            <a:ext cx="7635240" cy="4343400"/>
          </a:xfrm>
          <a:prstGeom prst="roundRect">
            <a:avLst>
              <a:gd name="adj" fmla="val 4000"/>
            </a:avLst>
          </a:prstGeom>
          <a:solidFill>
            <a:srgbClr val="FFFFFF"/>
          </a:solidFill>
          <a:ln w="9525">
            <a:solidFill>
              <a:srgbClr val="DDD6C8"/>
            </a:solidFill>
          </a:ln>
        </p:spPr>
        <p:txBody>
          <a:bodyPr rtlCol="0" anchor="ctr"/>
          <a:lstStyle/>
          <a:p/>
        </p:txBody>
      </p:sp>
      <p:sp>
        <p:nvSpPr>
          <p:cNvPr id="5" name="Rounded Rectangle 4"/>
          <p:cNvSpPr/>
          <p:nvPr/>
        </p:nvSpPr>
        <p:spPr>
          <a:xfrm>
            <a:off x="777240" y="1874519"/>
            <a:ext cx="7178040" cy="685800"/>
          </a:xfrm>
          <a:prstGeom prst="roundRect">
            <a:avLst>
              <a:gd name="adj" fmla="val 15000"/>
            </a:avLst>
          </a:prstGeom>
          <a:solidFill>
            <a:srgbClr val="F0E8DE"/>
          </a:solidFill>
          <a:ln>
            <a:noFill/>
          </a:ln>
        </p:spPr>
        <p:txBody>
          <a:bodyPr rtlCol="0" anchor="ctr"/>
          <a:lstStyle/>
          <a:p/>
        </p:txBody>
      </p:sp>
      <p:sp>
        <p:nvSpPr>
          <p:cNvPr id="6" name="TextBox 5"/>
          <p:cNvSpPr txBox="1"/>
          <p:nvPr/>
        </p:nvSpPr>
        <p:spPr>
          <a:xfrm>
            <a:off x="1005840" y="1874519"/>
            <a:ext cx="6720840" cy="685800"/>
          </a:xfrm>
          <a:prstGeom prst="rect">
            <a:avLst/>
          </a:prstGeom>
          <a:noFill/>
        </p:spPr>
        <p:txBody>
          <a:bodyPr wrap="square" anchor="ctr" lIns="0" rIns="0" tIns="0" bIns="0">
            <a:spAutoFit/>
          </a:bodyPr>
          <a:lstStyle/>
          <a:p>
            <a:pPr algn="l"/>
            <a:r>
              <a:rPr sz="1800" b="1" i="0">
                <a:solidFill>
                  <a:srgbClr val="7A3E1A"/>
                </a:solidFill>
                <a:latin typeface="Calibri"/>
              </a:rPr>
              <a:t>Phase 2 — Narrative Construction</a:t>
            </a:r>
            <a:r>
              <a:rPr sz="1300" b="0" i="0">
                <a:solidFill>
                  <a:srgbClr val="6B6050"/>
                </a:solidFill>
                <a:latin typeface="Courier New"/>
              </a:rPr>
              <a:t>     type: explain</a:t>
            </a:r>
          </a:p>
        </p:txBody>
      </p:sp>
      <p:sp>
        <p:nvSpPr>
          <p:cNvPr id="7" name="TextBox 6"/>
          <p:cNvSpPr txBox="1"/>
          <p:nvPr/>
        </p:nvSpPr>
        <p:spPr>
          <a:xfrm>
            <a:off x="822959" y="2743200"/>
            <a:ext cx="3657600" cy="320040"/>
          </a:xfrm>
          <a:prstGeom prst="rect">
            <a:avLst/>
          </a:prstGeom>
          <a:noFill/>
        </p:spPr>
        <p:txBody>
          <a:bodyPr wrap="square" anchor="t" lIns="0" rIns="0" tIns="0" bIns="0">
            <a:spAutoFit/>
          </a:bodyPr>
          <a:lstStyle/>
          <a:p>
            <a:pPr algn="l"/>
            <a:r>
              <a:rPr sz="1300" b="1" i="0">
                <a:solidFill>
                  <a:srgbClr val="6B6050"/>
                </a:solidFill>
                <a:latin typeface="Calibri"/>
              </a:rPr>
              <a:t>Element pipeline</a:t>
            </a:r>
          </a:p>
        </p:txBody>
      </p:sp>
      <p:sp>
        <p:nvSpPr>
          <p:cNvPr id="8" name="Rounded Rectangle 7"/>
          <p:cNvSpPr/>
          <p:nvPr/>
        </p:nvSpPr>
        <p:spPr>
          <a:xfrm>
            <a:off x="822959" y="3108960"/>
            <a:ext cx="2148840" cy="2148840"/>
          </a:xfrm>
          <a:prstGeom prst="roundRect">
            <a:avLst>
              <a:gd name="adj" fmla="val 7000"/>
            </a:avLst>
          </a:prstGeom>
          <a:solidFill>
            <a:srgbClr val="EDE8F5"/>
          </a:solidFill>
          <a:ln>
            <a:noFill/>
          </a:ln>
        </p:spPr>
        <p:txBody>
          <a:bodyPr rtlCol="0" anchor="ctr"/>
          <a:lstStyle/>
          <a:p/>
        </p:txBody>
      </p:sp>
      <p:sp>
        <p:nvSpPr>
          <p:cNvPr id="9" name="Oval 8"/>
          <p:cNvSpPr/>
          <p:nvPr/>
        </p:nvSpPr>
        <p:spPr>
          <a:xfrm>
            <a:off x="1005839" y="3291840"/>
            <a:ext cx="457200" cy="457200"/>
          </a:xfrm>
          <a:prstGeom prst="ellipse">
            <a:avLst/>
          </a:prstGeom>
          <a:solidFill>
            <a:srgbClr val="4A2A6A"/>
          </a:solidFill>
          <a:ln>
            <a:noFill/>
          </a:ln>
        </p:spPr>
        <p:txBody>
          <a:bodyPr rtlCol="0" anchor="ctr"/>
          <a:lstStyle/>
          <a:p/>
        </p:txBody>
      </p:sp>
      <p:pic>
        <p:nvPicPr>
          <p:cNvPr id="10" name="Picture 9" descr="image.png"/>
          <p:cNvPicPr>
            <a:picLocks noChangeAspect="1"/>
          </p:cNvPicPr>
          <p:nvPr/>
        </p:nvPicPr>
        <p:blipFill>
          <a:blip r:embed="rId2"/>
          <a:stretch>
            <a:fillRect/>
          </a:stretch>
        </p:blipFill>
        <p:spPr>
          <a:xfrm>
            <a:off x="1106424" y="3392424"/>
            <a:ext cx="256032" cy="256032"/>
          </a:xfrm>
          <a:prstGeom prst="rect">
            <a:avLst/>
          </a:prstGeom>
        </p:spPr>
      </p:pic>
      <p:sp>
        <p:nvSpPr>
          <p:cNvPr id="11" name="TextBox 10"/>
          <p:cNvSpPr txBox="1"/>
          <p:nvPr/>
        </p:nvSpPr>
        <p:spPr>
          <a:xfrm>
            <a:off x="1554480" y="3291840"/>
            <a:ext cx="1325880" cy="457200"/>
          </a:xfrm>
          <a:prstGeom prst="rect">
            <a:avLst/>
          </a:prstGeom>
          <a:noFill/>
        </p:spPr>
        <p:txBody>
          <a:bodyPr wrap="square" anchor="ctr" lIns="0" rIns="0" tIns="0" bIns="0">
            <a:spAutoFit/>
          </a:bodyPr>
          <a:lstStyle/>
          <a:p>
            <a:pPr algn="l"/>
            <a:r>
              <a:rPr sz="1300" b="1" i="0">
                <a:solidFill>
                  <a:srgbClr val="4A2A6A"/>
                </a:solidFill>
                <a:latin typeface="Calibri"/>
              </a:rPr>
              <a:t>Generated text</a:t>
            </a:r>
          </a:p>
        </p:txBody>
      </p:sp>
      <p:sp>
        <p:nvSpPr>
          <p:cNvPr id="12" name="TextBox 11"/>
          <p:cNvSpPr txBox="1"/>
          <p:nvPr/>
        </p:nvSpPr>
        <p:spPr>
          <a:xfrm>
            <a:off x="1005839" y="3886200"/>
            <a:ext cx="1783080" cy="365760"/>
          </a:xfrm>
          <a:prstGeom prst="rect">
            <a:avLst/>
          </a:prstGeom>
          <a:noFill/>
        </p:spPr>
        <p:txBody>
          <a:bodyPr wrap="square" anchor="t" lIns="0" rIns="0" tIns="0" bIns="0">
            <a:spAutoFit/>
          </a:bodyPr>
          <a:lstStyle/>
          <a:p>
            <a:pPr algn="l"/>
            <a:r>
              <a:rPr sz="1500" b="1" i="0">
                <a:solidFill>
                  <a:srgbClr val="1A1610"/>
                </a:solidFill>
                <a:latin typeface="Calibri"/>
              </a:rPr>
              <a:t>Introduction</a:t>
            </a:r>
          </a:p>
        </p:txBody>
      </p:sp>
      <p:sp>
        <p:nvSpPr>
          <p:cNvPr id="13" name="TextBox 12"/>
          <p:cNvSpPr txBox="1"/>
          <p:nvPr/>
        </p:nvSpPr>
        <p:spPr>
          <a:xfrm>
            <a:off x="1005839" y="4251960"/>
            <a:ext cx="1783080" cy="914400"/>
          </a:xfrm>
          <a:prstGeom prst="rect">
            <a:avLst/>
          </a:prstGeom>
          <a:noFill/>
        </p:spPr>
        <p:txBody>
          <a:bodyPr wrap="square" anchor="t" lIns="0" rIns="0" tIns="0" bIns="0">
            <a:spAutoFit/>
          </a:bodyPr>
          <a:lstStyle/>
          <a:p>
            <a:pPr algn="l"/>
            <a:r>
              <a:rPr sz="1300" b="0" i="0">
                <a:solidFill>
                  <a:srgbClr val="6B6050"/>
                </a:solidFill>
                <a:latin typeface="Calibri"/>
              </a:rPr>
              <a:t>Recalls {{welcome.answer}} and opens the phase</a:t>
            </a:r>
          </a:p>
        </p:txBody>
      </p:sp>
      <p:sp>
        <p:nvSpPr>
          <p:cNvPr id="14" name="Right Arrow 13"/>
          <p:cNvSpPr/>
          <p:nvPr/>
        </p:nvSpPr>
        <p:spPr>
          <a:xfrm>
            <a:off x="3008376" y="4023360"/>
            <a:ext cx="219456" cy="274320"/>
          </a:xfrm>
          <a:prstGeom prst="rightArrow">
            <a:avLst/>
          </a:prstGeom>
          <a:solidFill>
            <a:srgbClr val="DDD6C8"/>
          </a:solidFill>
          <a:ln>
            <a:noFill/>
          </a:ln>
        </p:spPr>
        <p:txBody>
          <a:bodyPr rtlCol="0" anchor="ctr"/>
          <a:lstStyle/>
          <a:p/>
        </p:txBody>
      </p:sp>
      <p:sp>
        <p:nvSpPr>
          <p:cNvPr id="15" name="Rounded Rectangle 14"/>
          <p:cNvSpPr/>
          <p:nvPr/>
        </p:nvSpPr>
        <p:spPr>
          <a:xfrm>
            <a:off x="3264408" y="3108960"/>
            <a:ext cx="2148840" cy="2148840"/>
          </a:xfrm>
          <a:prstGeom prst="roundRect">
            <a:avLst>
              <a:gd name="adj" fmla="val 7000"/>
            </a:avLst>
          </a:prstGeom>
          <a:solidFill>
            <a:srgbClr val="F0E8DE"/>
          </a:solidFill>
          <a:ln>
            <a:noFill/>
          </a:ln>
        </p:spPr>
        <p:txBody>
          <a:bodyPr rtlCol="0" anchor="ctr"/>
          <a:lstStyle/>
          <a:p/>
        </p:txBody>
      </p:sp>
      <p:sp>
        <p:nvSpPr>
          <p:cNvPr id="16" name="Oval 15"/>
          <p:cNvSpPr/>
          <p:nvPr/>
        </p:nvSpPr>
        <p:spPr>
          <a:xfrm>
            <a:off x="3447288" y="3291840"/>
            <a:ext cx="457200" cy="457200"/>
          </a:xfrm>
          <a:prstGeom prst="ellipse">
            <a:avLst/>
          </a:prstGeom>
          <a:solidFill>
            <a:srgbClr val="7A3E1A"/>
          </a:solidFill>
          <a:ln>
            <a:noFill/>
          </a:ln>
        </p:spPr>
        <p:txBody>
          <a:bodyPr rtlCol="0" anchor="ctr"/>
          <a:lstStyle/>
          <a:p/>
        </p:txBody>
      </p:sp>
      <p:pic>
        <p:nvPicPr>
          <p:cNvPr id="17" name="Picture 16" descr="image.png"/>
          <p:cNvPicPr>
            <a:picLocks noChangeAspect="1"/>
          </p:cNvPicPr>
          <p:nvPr/>
        </p:nvPicPr>
        <p:blipFill>
          <a:blip r:embed="rId3"/>
          <a:stretch>
            <a:fillRect/>
          </a:stretch>
        </p:blipFill>
        <p:spPr>
          <a:xfrm>
            <a:off x="3547872" y="3392424"/>
            <a:ext cx="256032" cy="256032"/>
          </a:xfrm>
          <a:prstGeom prst="rect">
            <a:avLst/>
          </a:prstGeom>
        </p:spPr>
      </p:pic>
      <p:sp>
        <p:nvSpPr>
          <p:cNvPr id="18" name="TextBox 17"/>
          <p:cNvSpPr txBox="1"/>
          <p:nvPr/>
        </p:nvSpPr>
        <p:spPr>
          <a:xfrm>
            <a:off x="3995928" y="3291840"/>
            <a:ext cx="1325880" cy="457200"/>
          </a:xfrm>
          <a:prstGeom prst="rect">
            <a:avLst/>
          </a:prstGeom>
          <a:noFill/>
        </p:spPr>
        <p:txBody>
          <a:bodyPr wrap="square" anchor="ctr" lIns="0" rIns="0" tIns="0" bIns="0">
            <a:spAutoFit/>
          </a:bodyPr>
          <a:lstStyle/>
          <a:p>
            <a:pPr algn="l"/>
            <a:r>
              <a:rPr sz="1300" b="1" i="0">
                <a:solidFill>
                  <a:srgbClr val="7A3E1A"/>
                </a:solidFill>
                <a:latin typeface="Calibri"/>
              </a:rPr>
              <a:t>Literal text</a:t>
            </a:r>
          </a:p>
        </p:txBody>
      </p:sp>
      <p:sp>
        <p:nvSpPr>
          <p:cNvPr id="19" name="TextBox 18"/>
          <p:cNvSpPr txBox="1"/>
          <p:nvPr/>
        </p:nvSpPr>
        <p:spPr>
          <a:xfrm>
            <a:off x="3447288" y="3886200"/>
            <a:ext cx="1783080" cy="365760"/>
          </a:xfrm>
          <a:prstGeom prst="rect">
            <a:avLst/>
          </a:prstGeom>
          <a:noFill/>
        </p:spPr>
        <p:txBody>
          <a:bodyPr wrap="square" anchor="t" lIns="0" rIns="0" tIns="0" bIns="0">
            <a:spAutoFit/>
          </a:bodyPr>
          <a:lstStyle/>
          <a:p>
            <a:pPr algn="l"/>
            <a:r>
              <a:rPr sz="1500" b="1" i="0">
                <a:solidFill>
                  <a:srgbClr val="1A1610"/>
                </a:solidFill>
                <a:latin typeface="Calibri"/>
              </a:rPr>
              <a:t>Opening question</a:t>
            </a:r>
          </a:p>
        </p:txBody>
      </p:sp>
      <p:sp>
        <p:nvSpPr>
          <p:cNvPr id="20" name="TextBox 19"/>
          <p:cNvSpPr txBox="1"/>
          <p:nvPr/>
        </p:nvSpPr>
        <p:spPr>
          <a:xfrm>
            <a:off x="3447288" y="4251960"/>
            <a:ext cx="1783080" cy="914400"/>
          </a:xfrm>
          <a:prstGeom prst="rect">
            <a:avLst/>
          </a:prstGeom>
          <a:noFill/>
        </p:spPr>
        <p:txBody>
          <a:bodyPr wrap="square" anchor="t" lIns="0" rIns="0" tIns="0" bIns="0">
            <a:spAutoFit/>
          </a:bodyPr>
          <a:lstStyle/>
          <a:p>
            <a:pPr algn="l"/>
            <a:r>
              <a:rPr sz="1300" b="0" i="0">
                <a:solidFill>
                  <a:srgbClr val="6B6050"/>
                </a:solidFill>
                <a:latin typeface="Calibri"/>
              </a:rPr>
              <a:t>One open question; the student answers first</a:t>
            </a:r>
          </a:p>
        </p:txBody>
      </p:sp>
      <p:sp>
        <p:nvSpPr>
          <p:cNvPr id="21" name="Right Arrow 20"/>
          <p:cNvSpPr/>
          <p:nvPr/>
        </p:nvSpPr>
        <p:spPr>
          <a:xfrm>
            <a:off x="5449824" y="4023360"/>
            <a:ext cx="219456" cy="274320"/>
          </a:xfrm>
          <a:prstGeom prst="rightArrow">
            <a:avLst/>
          </a:prstGeom>
          <a:solidFill>
            <a:srgbClr val="DDD6C8"/>
          </a:solidFill>
          <a:ln>
            <a:noFill/>
          </a:ln>
        </p:spPr>
        <p:txBody>
          <a:bodyPr rtlCol="0" anchor="ctr"/>
          <a:lstStyle/>
          <a:p/>
        </p:txBody>
      </p:sp>
      <p:sp>
        <p:nvSpPr>
          <p:cNvPr id="22" name="Rounded Rectangle 21"/>
          <p:cNvSpPr/>
          <p:nvPr/>
        </p:nvSpPr>
        <p:spPr>
          <a:xfrm>
            <a:off x="5705856" y="3108960"/>
            <a:ext cx="2148840" cy="2148840"/>
          </a:xfrm>
          <a:prstGeom prst="roundRect">
            <a:avLst>
              <a:gd name="adj" fmla="val 7000"/>
            </a:avLst>
          </a:prstGeom>
          <a:solidFill>
            <a:srgbClr val="DAF5EE"/>
          </a:solidFill>
          <a:ln>
            <a:noFill/>
          </a:ln>
        </p:spPr>
        <p:txBody>
          <a:bodyPr rtlCol="0" anchor="ctr"/>
          <a:lstStyle/>
          <a:p/>
        </p:txBody>
      </p:sp>
      <p:sp>
        <p:nvSpPr>
          <p:cNvPr id="23" name="Oval 22"/>
          <p:cNvSpPr/>
          <p:nvPr/>
        </p:nvSpPr>
        <p:spPr>
          <a:xfrm>
            <a:off x="5888736" y="3291840"/>
            <a:ext cx="457200" cy="457200"/>
          </a:xfrm>
          <a:prstGeom prst="ellipse">
            <a:avLst/>
          </a:prstGeom>
          <a:solidFill>
            <a:srgbClr val="1A3A30"/>
          </a:solidFill>
          <a:ln>
            <a:noFill/>
          </a:ln>
        </p:spPr>
        <p:txBody>
          <a:bodyPr rtlCol="0" anchor="ctr"/>
          <a:lstStyle/>
          <a:p/>
        </p:txBody>
      </p:sp>
      <p:pic>
        <p:nvPicPr>
          <p:cNvPr id="24" name="Picture 23" descr="image.png"/>
          <p:cNvPicPr>
            <a:picLocks noChangeAspect="1"/>
          </p:cNvPicPr>
          <p:nvPr/>
        </p:nvPicPr>
        <p:blipFill>
          <a:blip r:embed="rId4"/>
          <a:stretch>
            <a:fillRect/>
          </a:stretch>
        </p:blipFill>
        <p:spPr>
          <a:xfrm>
            <a:off x="5989320" y="3392424"/>
            <a:ext cx="256032" cy="256032"/>
          </a:xfrm>
          <a:prstGeom prst="rect">
            <a:avLst/>
          </a:prstGeom>
        </p:spPr>
      </p:pic>
      <p:sp>
        <p:nvSpPr>
          <p:cNvPr id="25" name="TextBox 24"/>
          <p:cNvSpPr txBox="1"/>
          <p:nvPr/>
        </p:nvSpPr>
        <p:spPr>
          <a:xfrm>
            <a:off x="6437376" y="3291840"/>
            <a:ext cx="1325880" cy="457200"/>
          </a:xfrm>
          <a:prstGeom prst="rect">
            <a:avLst/>
          </a:prstGeom>
          <a:noFill/>
        </p:spPr>
        <p:txBody>
          <a:bodyPr wrap="square" anchor="ctr" lIns="0" rIns="0" tIns="0" bIns="0">
            <a:spAutoFit/>
          </a:bodyPr>
          <a:lstStyle/>
          <a:p>
            <a:pPr algn="l"/>
            <a:r>
              <a:rPr sz="1300" b="1" i="0">
                <a:solidFill>
                  <a:srgbClr val="1A3A30"/>
                </a:solidFill>
                <a:latin typeface="Calibri"/>
              </a:rPr>
              <a:t>Interaction</a:t>
            </a:r>
          </a:p>
        </p:txBody>
      </p:sp>
      <p:sp>
        <p:nvSpPr>
          <p:cNvPr id="26" name="TextBox 25"/>
          <p:cNvSpPr txBox="1"/>
          <p:nvPr/>
        </p:nvSpPr>
        <p:spPr>
          <a:xfrm>
            <a:off x="5888736" y="3886200"/>
            <a:ext cx="1783080" cy="365760"/>
          </a:xfrm>
          <a:prstGeom prst="rect">
            <a:avLst/>
          </a:prstGeom>
          <a:noFill/>
        </p:spPr>
        <p:txBody>
          <a:bodyPr wrap="square" anchor="t" lIns="0" rIns="0" tIns="0" bIns="0">
            <a:spAutoFit/>
          </a:bodyPr>
          <a:lstStyle/>
          <a:p>
            <a:pPr algn="l"/>
            <a:r>
              <a:rPr sz="1500" b="1" i="0">
                <a:solidFill>
                  <a:srgbClr val="1A1610"/>
                </a:solidFill>
                <a:latin typeface="Calibri"/>
              </a:rPr>
              <a:t>Case discussion</a:t>
            </a:r>
          </a:p>
        </p:txBody>
      </p:sp>
      <p:sp>
        <p:nvSpPr>
          <p:cNvPr id="27" name="TextBox 26"/>
          <p:cNvSpPr txBox="1"/>
          <p:nvPr/>
        </p:nvSpPr>
        <p:spPr>
          <a:xfrm>
            <a:off x="5888736" y="4251960"/>
            <a:ext cx="1783080" cy="914400"/>
          </a:xfrm>
          <a:prstGeom prst="rect">
            <a:avLst/>
          </a:prstGeom>
          <a:noFill/>
        </p:spPr>
        <p:txBody>
          <a:bodyPr wrap="square" anchor="t" lIns="0" rIns="0" tIns="0" bIns="0">
            <a:spAutoFit/>
          </a:bodyPr>
          <a:lstStyle/>
          <a:p>
            <a:pPr algn="l"/>
            <a:r>
              <a:rPr sz="1300" b="0" i="0">
                <a:solidFill>
                  <a:srgbClr val="6B6050"/>
                </a:solidFill>
                <a:latin typeface="Calibri"/>
              </a:rPr>
              <a:t>Tutor-led chat, checked against the expert explanation</a:t>
            </a:r>
          </a:p>
        </p:txBody>
      </p:sp>
      <p:sp>
        <p:nvSpPr>
          <p:cNvPr id="28" name="Rounded Rectangle 27"/>
          <p:cNvSpPr/>
          <p:nvPr/>
        </p:nvSpPr>
        <p:spPr>
          <a:xfrm>
            <a:off x="5705856" y="5349240"/>
            <a:ext cx="2148840" cy="365760"/>
          </a:xfrm>
          <a:prstGeom prst="roundRect">
            <a:avLst>
              <a:gd name="adj" fmla="val 30000"/>
            </a:avLst>
          </a:prstGeom>
          <a:solidFill>
            <a:srgbClr val="DEEAF5"/>
          </a:solidFill>
          <a:ln>
            <a:noFill/>
          </a:ln>
        </p:spPr>
        <p:txBody>
          <a:bodyPr rtlCol="0" anchor="ctr"/>
          <a:lstStyle/>
          <a:p/>
        </p:txBody>
      </p:sp>
      <p:pic>
        <p:nvPicPr>
          <p:cNvPr id="29" name="Picture 28" descr="image.png"/>
          <p:cNvPicPr>
            <a:picLocks noChangeAspect="1"/>
          </p:cNvPicPr>
          <p:nvPr/>
        </p:nvPicPr>
        <p:blipFill>
          <a:blip r:embed="rId5"/>
          <a:stretch>
            <a:fillRect/>
          </a:stretch>
        </p:blipFill>
        <p:spPr>
          <a:xfrm>
            <a:off x="5815584" y="5413248"/>
            <a:ext cx="237744" cy="237744"/>
          </a:xfrm>
          <a:prstGeom prst="rect">
            <a:avLst/>
          </a:prstGeom>
        </p:spPr>
      </p:pic>
      <p:sp>
        <p:nvSpPr>
          <p:cNvPr id="30" name="TextBox 29"/>
          <p:cNvSpPr txBox="1"/>
          <p:nvPr/>
        </p:nvSpPr>
        <p:spPr>
          <a:xfrm>
            <a:off x="6117336" y="5349240"/>
            <a:ext cx="1691640" cy="365760"/>
          </a:xfrm>
          <a:prstGeom prst="rect">
            <a:avLst/>
          </a:prstGeom>
          <a:noFill/>
        </p:spPr>
        <p:txBody>
          <a:bodyPr wrap="square" anchor="ctr" lIns="0" rIns="0" tIns="0" bIns="0">
            <a:spAutoFit/>
          </a:bodyPr>
          <a:lstStyle/>
          <a:p>
            <a:pPr algn="l"/>
            <a:r>
              <a:rPr sz="1200" b="1" i="0">
                <a:solidFill>
                  <a:srgbClr val="1A3A5A"/>
                </a:solidFill>
                <a:latin typeface="Calibri"/>
              </a:rPr>
              <a:t>Expert explanation</a:t>
            </a:r>
          </a:p>
        </p:txBody>
      </p:sp>
      <p:sp>
        <p:nvSpPr>
          <p:cNvPr id="31" name="TextBox 30"/>
          <p:cNvSpPr txBox="1"/>
          <p:nvPr/>
        </p:nvSpPr>
        <p:spPr>
          <a:xfrm>
            <a:off x="822959" y="5394959"/>
            <a:ext cx="4572000" cy="365760"/>
          </a:xfrm>
          <a:prstGeom prst="rect">
            <a:avLst/>
          </a:prstGeom>
          <a:noFill/>
        </p:spPr>
        <p:txBody>
          <a:bodyPr wrap="square" anchor="ctr" lIns="0" rIns="0" tIns="0" bIns="0">
            <a:spAutoFit/>
          </a:bodyPr>
          <a:lstStyle/>
          <a:p>
            <a:pPr algn="l"/>
            <a:r>
              <a:rPr sz="1400" b="0" i="0">
                <a:solidFill>
                  <a:srgbClr val="6B6050"/>
                </a:solidFill>
                <a:latin typeface="Calibri"/>
              </a:rPr>
              <a:t>Answer recorded → </a:t>
            </a:r>
            <a:r>
              <a:rPr sz="1400" b="1" i="0">
                <a:solidFill>
                  <a:srgbClr val="7A3E1A"/>
                </a:solidFill>
                <a:latin typeface="Courier New"/>
              </a:rPr>
              <a:t>{{case1.answer}}</a:t>
            </a:r>
          </a:p>
        </p:txBody>
      </p:sp>
      <p:sp>
        <p:nvSpPr>
          <p:cNvPr id="32" name="TextBox 31"/>
          <p:cNvSpPr txBox="1"/>
          <p:nvPr/>
        </p:nvSpPr>
        <p:spPr>
          <a:xfrm>
            <a:off x="8503920" y="1645920"/>
            <a:ext cx="3136392" cy="365760"/>
          </a:xfrm>
          <a:prstGeom prst="rect">
            <a:avLst/>
          </a:prstGeom>
          <a:noFill/>
        </p:spPr>
        <p:txBody>
          <a:bodyPr wrap="square" anchor="t" lIns="0" rIns="0" tIns="0" bIns="0">
            <a:spAutoFit/>
          </a:bodyPr>
          <a:lstStyle/>
          <a:p>
            <a:pPr algn="l"/>
            <a:r>
              <a:rPr sz="1600" b="1" i="0">
                <a:solidFill>
                  <a:srgbClr val="1A1610"/>
                </a:solidFill>
                <a:latin typeface="Calibri"/>
              </a:rPr>
              <a:t>Step keys</a:t>
            </a:r>
          </a:p>
        </p:txBody>
      </p:sp>
      <p:sp>
        <p:nvSpPr>
          <p:cNvPr id="33" name="TextBox 32"/>
          <p:cNvSpPr txBox="1"/>
          <p:nvPr/>
        </p:nvSpPr>
        <p:spPr>
          <a:xfrm>
            <a:off x="8503920" y="2029968"/>
            <a:ext cx="3136392" cy="2011680"/>
          </a:xfrm>
          <a:prstGeom prst="rect">
            <a:avLst/>
          </a:prstGeom>
          <a:noFill/>
        </p:spPr>
        <p:txBody>
          <a:bodyPr wrap="square" anchor="t" lIns="0" rIns="0" tIns="0" bIns="0">
            <a:spAutoFit/>
          </a:bodyPr>
          <a:lstStyle/>
          <a:p>
            <a:pPr algn="l">
              <a:spcAft>
                <a:spcPts val="400"/>
              </a:spcAft>
            </a:pPr>
            <a:r>
              <a:rPr sz="1300" b="1" i="0">
                <a:solidFill>
                  <a:srgbClr val="7A3E1A"/>
                </a:solidFill>
                <a:latin typeface="Courier New"/>
              </a:rPr>
              <a:t>id · type</a:t>
            </a:r>
            <a:r>
              <a:rPr sz="1300" b="0" i="0">
                <a:solidFill>
                  <a:srgbClr val="6B6050"/>
                </a:solidFill>
                <a:latin typeface="Calibri"/>
              </a:rPr>
              <a:t>  which step</a:t>
            </a:r>
          </a:p>
          <a:p>
            <a:pPr algn="l">
              <a:spcAft>
                <a:spcPts val="400"/>
              </a:spcAft>
            </a:pPr>
            <a:r>
              <a:rPr sz="1300" b="1" i="0">
                <a:solidFill>
                  <a:srgbClr val="7A3E1A"/>
                </a:solidFill>
                <a:latin typeface="Courier New"/>
              </a:rPr>
              <a:t>title · subtitle</a:t>
            </a:r>
            <a:r>
              <a:rPr sz="1300" b="0" i="0">
                <a:solidFill>
                  <a:srgbClr val="6B6050"/>
                </a:solidFill>
                <a:latin typeface="Calibri"/>
              </a:rPr>
              <a:t>  rename the phase</a:t>
            </a:r>
          </a:p>
          <a:p>
            <a:pPr algn="l">
              <a:spcAft>
                <a:spcPts val="400"/>
              </a:spcAft>
            </a:pPr>
            <a:r>
              <a:rPr sz="1300" b="1" i="0">
                <a:solidFill>
                  <a:srgbClr val="7A3E1A"/>
                </a:solidFill>
                <a:latin typeface="Courier New"/>
              </a:rPr>
              <a:t>caseN</a:t>
            </a:r>
            <a:r>
              <a:rPr sz="1300" b="0" i="0">
                <a:solidFill>
                  <a:srgbClr val="6B6050"/>
                </a:solidFill>
                <a:latin typeface="Calibri"/>
              </a:rPr>
              <a:t>  transfer: case 2, 3, …</a:t>
            </a:r>
          </a:p>
          <a:p>
            <a:pPr algn="l">
              <a:spcAft>
                <a:spcPts val="400"/>
              </a:spcAft>
            </a:pPr>
            <a:r>
              <a:rPr sz="1300" b="1" i="0">
                <a:solidFill>
                  <a:srgbClr val="7A3E1A"/>
                </a:solidFill>
                <a:latin typeface="Courier New"/>
              </a:rPr>
              <a:t>answerKey</a:t>
            </a:r>
            <a:r>
              <a:rPr sz="1300" b="0" i="0">
                <a:solidFill>
                  <a:srgbClr val="6B6050"/>
                </a:solidFill>
                <a:latin typeface="Calibri"/>
              </a:rPr>
              <a:t>  custom steps</a:t>
            </a:r>
          </a:p>
          <a:p>
            <a:pPr algn="l">
              <a:spcAft>
                <a:spcPts val="400"/>
              </a:spcAft>
            </a:pPr>
            <a:r>
              <a:rPr sz="1300" b="1" i="0">
                <a:solidFill>
                  <a:srgbClr val="7A3E1A"/>
                </a:solidFill>
                <a:latin typeface="Courier New"/>
              </a:rPr>
              <a:t>elements</a:t>
            </a:r>
            <a:r>
              <a:rPr sz="1300" b="0" i="0">
                <a:solidFill>
                  <a:srgbClr val="6B6050"/>
                </a:solidFill>
                <a:latin typeface="Calibri"/>
              </a:rPr>
              <a:t>  the pipeline, in order</a:t>
            </a:r>
          </a:p>
        </p:txBody>
      </p:sp>
      <p:sp>
        <p:nvSpPr>
          <p:cNvPr id="34" name="TextBox 33"/>
          <p:cNvSpPr txBox="1"/>
          <p:nvPr/>
        </p:nvSpPr>
        <p:spPr>
          <a:xfrm>
            <a:off x="8503920" y="3657600"/>
            <a:ext cx="3136392" cy="365760"/>
          </a:xfrm>
          <a:prstGeom prst="rect">
            <a:avLst/>
          </a:prstGeom>
          <a:noFill/>
        </p:spPr>
        <p:txBody>
          <a:bodyPr wrap="square" anchor="t" lIns="0" rIns="0" tIns="0" bIns="0">
            <a:spAutoFit/>
          </a:bodyPr>
          <a:lstStyle/>
          <a:p>
            <a:pPr algn="l"/>
            <a:r>
              <a:rPr sz="1600" b="1" i="0">
                <a:solidFill>
                  <a:srgbClr val="1A1610"/>
                </a:solidFill>
                <a:latin typeface="Calibri"/>
              </a:rPr>
              <a:t>At run time</a:t>
            </a:r>
          </a:p>
        </p:txBody>
      </p:sp>
      <p:sp>
        <p:nvSpPr>
          <p:cNvPr id="35" name="TextBox 34"/>
          <p:cNvSpPr txBox="1"/>
          <p:nvPr/>
        </p:nvSpPr>
        <p:spPr>
          <a:xfrm>
            <a:off x="8503920" y="4041648"/>
            <a:ext cx="3136392" cy="2011680"/>
          </a:xfrm>
          <a:prstGeom prst="rect">
            <a:avLst/>
          </a:prstGeom>
          <a:noFill/>
        </p:spPr>
        <p:txBody>
          <a:bodyPr wrap="square" anchor="t" lIns="0" rIns="0" tIns="0" bIns="0">
            <a:spAutoFit/>
          </a:bodyPr>
          <a:lstStyle/>
          <a:p>
            <a:pPr algn="l">
              <a:spcAft>
                <a:spcPts val="600"/>
              </a:spcAft>
            </a:pPr>
            <a:r>
              <a:rPr sz="1300" b="0" i="0">
                <a:solidFill>
                  <a:srgbClr val="6B6050"/>
                </a:solidFill>
                <a:latin typeface="Calibri"/>
              </a:rPr>
              <a:t>Elements run in order.</a:t>
            </a:r>
          </a:p>
          <a:p>
            <a:pPr algn="l">
              <a:spcAft>
                <a:spcPts val="600"/>
              </a:spcAft>
            </a:pPr>
            <a:r>
              <a:rPr sz="1300" b="0" i="0">
                <a:solidFill>
                  <a:srgbClr val="6B6050"/>
                </a:solidFill>
                <a:latin typeface="Calibri"/>
              </a:rPr>
              <a:t>A step with no interaction waits for one student reply at its end (except Final).</a:t>
            </a:r>
          </a:p>
          <a:p>
            <a:pPr algn="l">
              <a:spcAft>
                <a:spcPts val="600"/>
              </a:spcAft>
            </a:pPr>
            <a:r>
              <a:rPr sz="1300" b="0" i="0">
                <a:solidFill>
                  <a:srgbClr val="6B6050"/>
                </a:solidFill>
                <a:latin typeface="Calibri"/>
              </a:rPr>
              <a:t>The answer is that reply, or the student's last message in the interaction.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Literal text</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Shown to the student exactly as the author wrote it</a:t>
            </a:r>
          </a:p>
        </p:txBody>
      </p:sp>
      <p:sp>
        <p:nvSpPr>
          <p:cNvPr id="4" name="Oval 3"/>
          <p:cNvSpPr/>
          <p:nvPr/>
        </p:nvSpPr>
        <p:spPr>
          <a:xfrm>
            <a:off x="10908792" y="457200"/>
            <a:ext cx="731520" cy="731520"/>
          </a:xfrm>
          <a:prstGeom prst="ellipse">
            <a:avLst/>
          </a:prstGeom>
          <a:solidFill>
            <a:srgbClr val="7A3E1A"/>
          </a:solidFill>
          <a:ln>
            <a:noFill/>
          </a:ln>
        </p:spPr>
        <p:txBody>
          <a:bodyPr rtlCol="0" anchor="ctr"/>
          <a:lstStyle/>
          <a:p/>
        </p:txBody>
      </p:sp>
      <p:pic>
        <p:nvPicPr>
          <p:cNvPr id="5" name="Picture 4" descr="image.png"/>
          <p:cNvPicPr>
            <a:picLocks noChangeAspect="1"/>
          </p:cNvPicPr>
          <p:nvPr/>
        </p:nvPicPr>
        <p:blipFill>
          <a:blip r:embed="rId2"/>
          <a:stretch>
            <a:fillRect/>
          </a:stretch>
        </p:blipFill>
        <p:spPr>
          <a:xfrm>
            <a:off x="11069726" y="618134"/>
            <a:ext cx="409651" cy="409651"/>
          </a:xfrm>
          <a:prstGeom prst="rect">
            <a:avLst/>
          </a:prstGeom>
        </p:spPr>
      </p:pic>
      <p:sp>
        <p:nvSpPr>
          <p:cNvPr id="6" name="Rounded Rectangle 5"/>
          <p:cNvSpPr/>
          <p:nvPr/>
        </p:nvSpPr>
        <p:spPr>
          <a:xfrm>
            <a:off x="548640" y="1645920"/>
            <a:ext cx="6172200" cy="4663440"/>
          </a:xfrm>
          <a:prstGeom prst="roundRect">
            <a:avLst>
              <a:gd name="adj" fmla="val 4000"/>
            </a:avLst>
          </a:prstGeom>
          <a:solidFill>
            <a:srgbClr val="F0E8DE"/>
          </a:solidFill>
          <a:ln>
            <a:noFill/>
          </a:ln>
        </p:spPr>
        <p:txBody>
          <a:bodyPr rtlCol="0" anchor="ctr"/>
          <a:lstStyle/>
          <a:p/>
        </p:txBody>
      </p:sp>
      <p:sp>
        <p:nvSpPr>
          <p:cNvPr id="7" name="TextBox 6"/>
          <p:cNvSpPr txBox="1"/>
          <p:nvPr/>
        </p:nvSpPr>
        <p:spPr>
          <a:xfrm>
            <a:off x="822960" y="1783080"/>
            <a:ext cx="5669280" cy="365760"/>
          </a:xfrm>
          <a:prstGeom prst="rect">
            <a:avLst/>
          </a:prstGeom>
          <a:noFill/>
        </p:spPr>
        <p:txBody>
          <a:bodyPr wrap="square" anchor="t" lIns="0" rIns="0" tIns="0" bIns="0">
            <a:spAutoFit/>
          </a:bodyPr>
          <a:lstStyle/>
          <a:p>
            <a:pPr algn="l"/>
            <a:r>
              <a:rPr sz="1600" b="1" i="0">
                <a:solidFill>
                  <a:srgbClr val="7A3E1A"/>
                </a:solidFill>
                <a:latin typeface="Calibri"/>
              </a:rPr>
              <a:t>What the author fills in</a:t>
            </a:r>
          </a:p>
        </p:txBody>
      </p:sp>
      <p:sp>
        <p:nvSpPr>
          <p:cNvPr id="8" name="TextBox 7"/>
          <p:cNvSpPr txBox="1"/>
          <p:nvPr/>
        </p:nvSpPr>
        <p:spPr>
          <a:xfrm>
            <a:off x="822960" y="2240280"/>
            <a:ext cx="2103120" cy="502920"/>
          </a:xfrm>
          <a:prstGeom prst="rect">
            <a:avLst/>
          </a:prstGeom>
          <a:noFill/>
        </p:spPr>
        <p:txBody>
          <a:bodyPr wrap="square" anchor="t" lIns="0" rIns="0" tIns="0" bIns="0">
            <a:spAutoFit/>
          </a:bodyPr>
          <a:lstStyle/>
          <a:p>
            <a:pPr algn="l"/>
            <a:r>
              <a:rPr sz="1300" b="1" i="0">
                <a:solidFill>
                  <a:srgbClr val="7A3E1A"/>
                </a:solidFill>
                <a:latin typeface="Courier New"/>
              </a:rPr>
              <a:t>text</a:t>
            </a:r>
          </a:p>
        </p:txBody>
      </p:sp>
      <p:sp>
        <p:nvSpPr>
          <p:cNvPr id="9" name="TextBox 8"/>
          <p:cNvSpPr txBox="1"/>
          <p:nvPr/>
        </p:nvSpPr>
        <p:spPr>
          <a:xfrm>
            <a:off x="2926080" y="2240280"/>
            <a:ext cx="3611880" cy="548640"/>
          </a:xfrm>
          <a:prstGeom prst="rect">
            <a:avLst/>
          </a:prstGeom>
          <a:noFill/>
        </p:spPr>
        <p:txBody>
          <a:bodyPr wrap="square" anchor="t" lIns="0" rIns="0" tIns="0" bIns="0">
            <a:spAutoFit/>
          </a:bodyPr>
          <a:lstStyle/>
          <a:p>
            <a:pPr algn="l"/>
            <a:r>
              <a:rPr sz="1400" b="0" i="0">
                <a:solidFill>
                  <a:srgbClr val="1A1610"/>
                </a:solidFill>
                <a:latin typeface="Calibri"/>
              </a:rPr>
              <a:t>The exact text the student reads. No {{fields}}: they would show as written.</a:t>
            </a:r>
          </a:p>
        </p:txBody>
      </p:sp>
      <p:sp>
        <p:nvSpPr>
          <p:cNvPr id="10" name="TextBox 9"/>
          <p:cNvSpPr txBox="1"/>
          <p:nvPr/>
        </p:nvSpPr>
        <p:spPr>
          <a:xfrm>
            <a:off x="822960" y="2788920"/>
            <a:ext cx="2103120" cy="502920"/>
          </a:xfrm>
          <a:prstGeom prst="rect">
            <a:avLst/>
          </a:prstGeom>
          <a:noFill/>
        </p:spPr>
        <p:txBody>
          <a:bodyPr wrap="square" anchor="t" lIns="0" rIns="0" tIns="0" bIns="0">
            <a:spAutoFit/>
          </a:bodyPr>
          <a:lstStyle/>
          <a:p>
            <a:pPr algn="l"/>
            <a:r>
              <a:rPr sz="1300" b="1" i="0">
                <a:solidFill>
                  <a:srgbClr val="7A3E1A"/>
                </a:solidFill>
                <a:latin typeface="Courier New"/>
              </a:rPr>
              <a:t>label</a:t>
            </a:r>
          </a:p>
        </p:txBody>
      </p:sp>
      <p:sp>
        <p:nvSpPr>
          <p:cNvPr id="11" name="TextBox 10"/>
          <p:cNvSpPr txBox="1"/>
          <p:nvPr/>
        </p:nvSpPr>
        <p:spPr>
          <a:xfrm>
            <a:off x="2926080" y="2788920"/>
            <a:ext cx="3611880" cy="548640"/>
          </a:xfrm>
          <a:prstGeom prst="rect">
            <a:avLst/>
          </a:prstGeom>
          <a:noFill/>
        </p:spPr>
        <p:txBody>
          <a:bodyPr wrap="square" anchor="t" lIns="0" rIns="0" tIns="0" bIns="0">
            <a:spAutoFit/>
          </a:bodyPr>
          <a:lstStyle/>
          <a:p>
            <a:pPr algn="l"/>
            <a:r>
              <a:rPr sz="1400" b="0" i="0">
                <a:solidFill>
                  <a:srgbClr val="1A1610"/>
                </a:solidFill>
                <a:latin typeface="Calibri"/>
              </a:rPr>
              <a:t>Short name the author sees in the editor.</a:t>
            </a:r>
          </a:p>
        </p:txBody>
      </p:sp>
      <p:sp>
        <p:nvSpPr>
          <p:cNvPr id="12" name="TextBox 11"/>
          <p:cNvSpPr txBox="1"/>
          <p:nvPr/>
        </p:nvSpPr>
        <p:spPr>
          <a:xfrm>
            <a:off x="822960" y="3337560"/>
            <a:ext cx="2103120" cy="502920"/>
          </a:xfrm>
          <a:prstGeom prst="rect">
            <a:avLst/>
          </a:prstGeom>
          <a:noFill/>
        </p:spPr>
        <p:txBody>
          <a:bodyPr wrap="square" anchor="t" lIns="0" rIns="0" tIns="0" bIns="0">
            <a:spAutoFit/>
          </a:bodyPr>
          <a:lstStyle/>
          <a:p>
            <a:pPr algn="l"/>
            <a:r>
              <a:rPr sz="1300" b="1" i="0">
                <a:solidFill>
                  <a:srgbClr val="7A3E1A"/>
                </a:solidFill>
                <a:latin typeface="Courier New"/>
              </a:rPr>
              <a:t>card</a:t>
            </a:r>
          </a:p>
        </p:txBody>
      </p:sp>
      <p:sp>
        <p:nvSpPr>
          <p:cNvPr id="13" name="TextBox 12"/>
          <p:cNvSpPr txBox="1"/>
          <p:nvPr/>
        </p:nvSpPr>
        <p:spPr>
          <a:xfrm>
            <a:off x="2926080" y="3337560"/>
            <a:ext cx="3611880" cy="548640"/>
          </a:xfrm>
          <a:prstGeom prst="rect">
            <a:avLst/>
          </a:prstGeom>
          <a:noFill/>
        </p:spPr>
        <p:txBody>
          <a:bodyPr wrap="square" anchor="t" lIns="0" rIns="0" tIns="0" bIns="0">
            <a:spAutoFit/>
          </a:bodyPr>
          <a:lstStyle/>
          <a:p>
            <a:pPr algn="l"/>
            <a:r>
              <a:rPr sz="1400" b="0" i="0">
                <a:solidFill>
                  <a:srgbClr val="1A1610"/>
                </a:solidFill>
                <a:latin typeface="Calibri"/>
              </a:rPr>
              <a:t>Shows the text as a case card with this heading.</a:t>
            </a:r>
          </a:p>
        </p:txBody>
      </p:sp>
      <p:sp>
        <p:nvSpPr>
          <p:cNvPr id="14" name="TextBox 13"/>
          <p:cNvSpPr txBox="1"/>
          <p:nvPr/>
        </p:nvSpPr>
        <p:spPr>
          <a:xfrm>
            <a:off x="822960" y="3886200"/>
            <a:ext cx="2103120" cy="502920"/>
          </a:xfrm>
          <a:prstGeom prst="rect">
            <a:avLst/>
          </a:prstGeom>
          <a:noFill/>
        </p:spPr>
        <p:txBody>
          <a:bodyPr wrap="square" anchor="t" lIns="0" rIns="0" tIns="0" bIns="0">
            <a:spAutoFit/>
          </a:bodyPr>
          <a:lstStyle/>
          <a:p>
            <a:pPr algn="l"/>
            <a:r>
              <a:rPr sz="1300" b="1" i="0">
                <a:solidFill>
                  <a:srgbClr val="7A3E1A"/>
                </a:solidFill>
                <a:latin typeface="Courier New"/>
              </a:rPr>
              <a:t>ref</a:t>
            </a:r>
          </a:p>
        </p:txBody>
      </p:sp>
      <p:sp>
        <p:nvSpPr>
          <p:cNvPr id="15" name="TextBox 14"/>
          <p:cNvSpPr txBox="1"/>
          <p:nvPr/>
        </p:nvSpPr>
        <p:spPr>
          <a:xfrm>
            <a:off x="2926080" y="3886200"/>
            <a:ext cx="3611880" cy="548640"/>
          </a:xfrm>
          <a:prstGeom prst="rect">
            <a:avLst/>
          </a:prstGeom>
          <a:noFill/>
        </p:spPr>
        <p:txBody>
          <a:bodyPr wrap="square" anchor="t" lIns="0" rIns="0" tIns="0" bIns="0">
            <a:spAutoFit/>
          </a:bodyPr>
          <a:lstStyle/>
          <a:p>
            <a:pPr algn="l"/>
            <a:r>
              <a:rPr sz="1400" b="0" i="0">
                <a:solidFill>
                  <a:srgbClr val="1A1610"/>
                </a:solidFill>
                <a:latin typeface="Calibri"/>
              </a:rPr>
              <a:t>Turns the text into a field, e.g. case1.vignette.</a:t>
            </a:r>
          </a:p>
        </p:txBody>
      </p:sp>
      <p:sp>
        <p:nvSpPr>
          <p:cNvPr id="16" name="TextBox 15"/>
          <p:cNvSpPr txBox="1"/>
          <p:nvPr/>
        </p:nvSpPr>
        <p:spPr>
          <a:xfrm>
            <a:off x="822960" y="4434840"/>
            <a:ext cx="2103120" cy="502920"/>
          </a:xfrm>
          <a:prstGeom prst="rect">
            <a:avLst/>
          </a:prstGeom>
          <a:noFill/>
        </p:spPr>
        <p:txBody>
          <a:bodyPr wrap="square" anchor="t" lIns="0" rIns="0" tIns="0" bIns="0">
            <a:spAutoFit/>
          </a:bodyPr>
          <a:lstStyle/>
          <a:p>
            <a:pPr algn="l"/>
            <a:r>
              <a:rPr sz="1300" b="1" i="0">
                <a:solidFill>
                  <a:srgbClr val="7A3E1A"/>
                </a:solidFill>
                <a:latin typeface="Courier New"/>
              </a:rPr>
              <a:t>autoPhaseSentence</a:t>
            </a:r>
          </a:p>
        </p:txBody>
      </p:sp>
      <p:sp>
        <p:nvSpPr>
          <p:cNvPr id="17" name="TextBox 16"/>
          <p:cNvSpPr txBox="1"/>
          <p:nvPr/>
        </p:nvSpPr>
        <p:spPr>
          <a:xfrm>
            <a:off x="2926080" y="4434840"/>
            <a:ext cx="3611880" cy="548640"/>
          </a:xfrm>
          <a:prstGeom prst="rect">
            <a:avLst/>
          </a:prstGeom>
          <a:noFill/>
        </p:spPr>
        <p:txBody>
          <a:bodyPr wrap="square" anchor="t" lIns="0" rIns="0" tIns="0" bIns="0">
            <a:spAutoFit/>
          </a:bodyPr>
          <a:lstStyle/>
          <a:p>
            <a:pPr algn="l"/>
            <a:r>
              <a:rPr sz="1400" b="0" i="0">
                <a:solidFill>
                  <a:srgbClr val="1A1610"/>
                </a:solidFill>
                <a:latin typeface="Calibri"/>
              </a:rPr>
              <a:t>Welcome: appends a sentence listing the phases.</a:t>
            </a:r>
          </a:p>
        </p:txBody>
      </p:sp>
      <p:sp>
        <p:nvSpPr>
          <p:cNvPr id="18" name="TextBox 17"/>
          <p:cNvSpPr txBox="1"/>
          <p:nvPr/>
        </p:nvSpPr>
        <p:spPr>
          <a:xfrm>
            <a:off x="822960" y="4983479"/>
            <a:ext cx="2103120" cy="502920"/>
          </a:xfrm>
          <a:prstGeom prst="rect">
            <a:avLst/>
          </a:prstGeom>
          <a:noFill/>
        </p:spPr>
        <p:txBody>
          <a:bodyPr wrap="square" anchor="t" lIns="0" rIns="0" tIns="0" bIns="0">
            <a:spAutoFit/>
          </a:bodyPr>
          <a:lstStyle/>
          <a:p>
            <a:pPr algn="l"/>
            <a:r>
              <a:rPr sz="1300" b="1" i="0">
                <a:solidFill>
                  <a:srgbClr val="7A3E1A"/>
                </a:solidFill>
                <a:latin typeface="Courier New"/>
              </a:rPr>
              <a:t>reviewMaterials</a:t>
            </a:r>
          </a:p>
        </p:txBody>
      </p:sp>
      <p:sp>
        <p:nvSpPr>
          <p:cNvPr id="19" name="TextBox 18"/>
          <p:cNvSpPr txBox="1"/>
          <p:nvPr/>
        </p:nvSpPr>
        <p:spPr>
          <a:xfrm>
            <a:off x="2926080" y="4983479"/>
            <a:ext cx="3611880" cy="548640"/>
          </a:xfrm>
          <a:prstGeom prst="rect">
            <a:avLst/>
          </a:prstGeom>
          <a:noFill/>
        </p:spPr>
        <p:txBody>
          <a:bodyPr wrap="square" anchor="t" lIns="0" rIns="0" tIns="0" bIns="0">
            <a:spAutoFit/>
          </a:bodyPr>
          <a:lstStyle/>
          <a:p>
            <a:pPr algn="l"/>
            <a:r>
              <a:rPr sz="1400" b="0" i="0">
                <a:solidFill>
                  <a:srgbClr val="1A1610"/>
                </a:solidFill>
                <a:latin typeface="Calibri"/>
              </a:rPr>
              <a:t>Final: appends vignettes, expert explanations, knowledge.</a:t>
            </a:r>
          </a:p>
        </p:txBody>
      </p:sp>
      <p:sp>
        <p:nvSpPr>
          <p:cNvPr id="20" name="TextBox 19"/>
          <p:cNvSpPr txBox="1"/>
          <p:nvPr/>
        </p:nvSpPr>
        <p:spPr>
          <a:xfrm>
            <a:off x="822960" y="5532119"/>
            <a:ext cx="2103120" cy="502920"/>
          </a:xfrm>
          <a:prstGeom prst="rect">
            <a:avLst/>
          </a:prstGeom>
          <a:noFill/>
        </p:spPr>
        <p:txBody>
          <a:bodyPr wrap="square" anchor="t" lIns="0" rIns="0" tIns="0" bIns="0">
            <a:spAutoFit/>
          </a:bodyPr>
          <a:lstStyle/>
          <a:p>
            <a:pPr algn="l"/>
            <a:r>
              <a:rPr sz="1300" b="1" i="0">
                <a:solidFill>
                  <a:srgbClr val="7A3E1A"/>
                </a:solidFill>
                <a:latin typeface="Courier New"/>
              </a:rPr>
              <a:t>strategies</a:t>
            </a:r>
          </a:p>
        </p:txBody>
      </p:sp>
      <p:sp>
        <p:nvSpPr>
          <p:cNvPr id="21" name="TextBox 20"/>
          <p:cNvSpPr txBox="1"/>
          <p:nvPr/>
        </p:nvSpPr>
        <p:spPr>
          <a:xfrm>
            <a:off x="2926080" y="5532119"/>
            <a:ext cx="3611880" cy="548640"/>
          </a:xfrm>
          <a:prstGeom prst="rect">
            <a:avLst/>
          </a:prstGeom>
          <a:noFill/>
        </p:spPr>
        <p:txBody>
          <a:bodyPr wrap="square" anchor="t" lIns="0" rIns="0" tIns="0" bIns="0">
            <a:spAutoFit/>
          </a:bodyPr>
          <a:lstStyle/>
          <a:p>
            <a:pPr algn="l"/>
            <a:r>
              <a:rPr sz="1400" b="0" i="0">
                <a:solidFill>
                  <a:srgbClr val="1A1610"/>
                </a:solidFill>
                <a:latin typeface="Calibri"/>
              </a:rPr>
              <a:t>Gamification only. Side information may be attached.</a:t>
            </a:r>
          </a:p>
        </p:txBody>
      </p:sp>
      <p:sp>
        <p:nvSpPr>
          <p:cNvPr id="22" name="TextBox 21"/>
          <p:cNvSpPr txBox="1"/>
          <p:nvPr/>
        </p:nvSpPr>
        <p:spPr>
          <a:xfrm>
            <a:off x="7040880" y="1645920"/>
            <a:ext cx="4572000" cy="365760"/>
          </a:xfrm>
          <a:prstGeom prst="rect">
            <a:avLst/>
          </a:prstGeom>
          <a:noFill/>
        </p:spPr>
        <p:txBody>
          <a:bodyPr wrap="square" anchor="t" lIns="0" rIns="0" tIns="0" bIns="0">
            <a:spAutoFit/>
          </a:bodyPr>
          <a:lstStyle/>
          <a:p>
            <a:pPr algn="l"/>
            <a:r>
              <a:rPr sz="1600" b="1" i="0">
                <a:solidFill>
                  <a:srgbClr val="1A1610"/>
                </a:solidFill>
                <a:latin typeface="Calibri"/>
              </a:rPr>
              <a:t>The student sees, e.g. a case card</a:t>
            </a:r>
          </a:p>
        </p:txBody>
      </p:sp>
      <p:sp>
        <p:nvSpPr>
          <p:cNvPr id="23" name="Rounded Rectangle 22"/>
          <p:cNvSpPr/>
          <p:nvPr/>
        </p:nvSpPr>
        <p:spPr>
          <a:xfrm>
            <a:off x="7040880" y="2103120"/>
            <a:ext cx="4599432" cy="1280160"/>
          </a:xfrm>
          <a:prstGeom prst="roundRect">
            <a:avLst>
              <a:gd name="adj" fmla="val 6000"/>
            </a:avLst>
          </a:prstGeom>
          <a:solidFill>
            <a:srgbClr val="FFFFFF"/>
          </a:solidFill>
          <a:ln w="9525">
            <a:solidFill>
              <a:srgbClr val="7A3E1A"/>
            </a:solidFill>
          </a:ln>
        </p:spPr>
        <p:txBody>
          <a:bodyPr rtlCol="0" anchor="ctr"/>
          <a:lstStyle/>
          <a:p/>
        </p:txBody>
      </p:sp>
      <p:sp>
        <p:nvSpPr>
          <p:cNvPr id="24" name="TextBox 23"/>
          <p:cNvSpPr txBox="1"/>
          <p:nvPr/>
        </p:nvSpPr>
        <p:spPr>
          <a:xfrm>
            <a:off x="7269480" y="2212848"/>
            <a:ext cx="4114800" cy="274320"/>
          </a:xfrm>
          <a:prstGeom prst="rect">
            <a:avLst/>
          </a:prstGeom>
          <a:noFill/>
        </p:spPr>
        <p:txBody>
          <a:bodyPr wrap="square" anchor="t" lIns="0" rIns="0" tIns="0" bIns="0">
            <a:spAutoFit/>
          </a:bodyPr>
          <a:lstStyle/>
          <a:p>
            <a:pPr algn="l"/>
            <a:r>
              <a:rPr sz="1200" b="1" i="0">
                <a:solidFill>
                  <a:srgbClr val="7A3E1A"/>
                </a:solidFill>
                <a:latin typeface="Calibri"/>
              </a:rPr>
              <a:t>CASE 1</a:t>
            </a:r>
          </a:p>
        </p:txBody>
      </p:sp>
      <p:sp>
        <p:nvSpPr>
          <p:cNvPr id="25" name="TextBox 24"/>
          <p:cNvSpPr txBox="1"/>
          <p:nvPr/>
        </p:nvSpPr>
        <p:spPr>
          <a:xfrm>
            <a:off x="7269480" y="2487168"/>
            <a:ext cx="4160520" cy="1188720"/>
          </a:xfrm>
          <a:prstGeom prst="rect">
            <a:avLst/>
          </a:prstGeom>
          <a:noFill/>
        </p:spPr>
        <p:txBody>
          <a:bodyPr wrap="square" anchor="t" lIns="0" rIns="0" tIns="0" bIns="0">
            <a:spAutoFit/>
          </a:bodyPr>
          <a:lstStyle/>
          <a:p>
            <a:pPr algn="l"/>
            <a:r>
              <a:rPr sz="1400" b="0" i="0">
                <a:solidFill>
                  <a:srgbClr val="1A1610"/>
                </a:solidFill>
                <a:latin typeface="Cambria"/>
              </a:rPr>
              <a:t>A 34-year-old woman reports six months of tiredness and shortness of breath when climbing stairs…</a:t>
            </a:r>
          </a:p>
        </p:txBody>
      </p:sp>
      <p:sp>
        <p:nvSpPr>
          <p:cNvPr id="26" name="TextBox 25"/>
          <p:cNvSpPr txBox="1"/>
          <p:nvPr/>
        </p:nvSpPr>
        <p:spPr>
          <a:xfrm>
            <a:off x="7040880" y="3977639"/>
            <a:ext cx="4572000" cy="365760"/>
          </a:xfrm>
          <a:prstGeom prst="rect">
            <a:avLst/>
          </a:prstGeom>
          <a:noFill/>
        </p:spPr>
        <p:txBody>
          <a:bodyPr wrap="square" anchor="t" lIns="0" rIns="0" tIns="0" bIns="0">
            <a:spAutoFit/>
          </a:bodyPr>
          <a:lstStyle/>
          <a:p>
            <a:pPr algn="l"/>
            <a:r>
              <a:rPr sz="1600" b="1" i="0">
                <a:solidFill>
                  <a:srgbClr val="1A1610"/>
                </a:solidFill>
                <a:latin typeface="Calibri"/>
              </a:rPr>
              <a:t>Typical uses</a:t>
            </a:r>
          </a:p>
        </p:txBody>
      </p:sp>
      <p:sp>
        <p:nvSpPr>
          <p:cNvPr id="27" name="TextBox 26"/>
          <p:cNvSpPr txBox="1"/>
          <p:nvPr/>
        </p:nvSpPr>
        <p:spPr>
          <a:xfrm>
            <a:off x="7040880" y="4389120"/>
            <a:ext cx="4599432" cy="1920240"/>
          </a:xfrm>
          <a:prstGeom prst="rect">
            <a:avLst/>
          </a:prstGeom>
          <a:noFill/>
        </p:spPr>
        <p:txBody>
          <a:bodyPr wrap="square" anchor="t" lIns="0" rIns="0" tIns="0" bIns="0">
            <a:spAutoFit/>
          </a:bodyPr>
          <a:lstStyle/>
          <a:p>
            <a:pPr algn="l">
              <a:spcAft>
                <a:spcPts val="600"/>
              </a:spcAft>
            </a:pPr>
            <a:r>
              <a:rPr sz="1400" b="1" i="0">
                <a:solidFill>
                  <a:srgbClr val="6B6050"/>
                </a:solidFill>
                <a:latin typeface="Calibri"/>
              </a:rPr>
              <a:t>Welcome message</a:t>
            </a:r>
            <a:r>
              <a:rPr sz="1400" b="0" i="0">
                <a:solidFill>
                  <a:srgbClr val="6B6050"/>
                </a:solidFill>
                <a:latin typeface="Calibri"/>
              </a:rPr>
              <a:t> with the list of phases</a:t>
            </a:r>
          </a:p>
          <a:p>
            <a:pPr algn="l">
              <a:spcAft>
                <a:spcPts val="600"/>
              </a:spcAft>
            </a:pPr>
            <a:r>
              <a:rPr sz="1400" b="1" i="0">
                <a:solidFill>
                  <a:srgbClr val="6B6050"/>
                </a:solidFill>
                <a:latin typeface="Calibri"/>
              </a:rPr>
              <a:t>Case vignette</a:t>
            </a:r>
            <a:r>
              <a:rPr sz="1400" b="0" i="0">
                <a:solidFill>
                  <a:srgbClr val="6B6050"/>
                </a:solidFill>
                <a:latin typeface="Calibri"/>
              </a:rPr>
              <a:t> as a card, also a field</a:t>
            </a:r>
          </a:p>
          <a:p>
            <a:pPr algn="l">
              <a:spcAft>
                <a:spcPts val="600"/>
              </a:spcAft>
            </a:pPr>
            <a:r>
              <a:rPr sz="1400" b="1" i="0">
                <a:solidFill>
                  <a:srgbClr val="6B6050"/>
                </a:solidFill>
                <a:latin typeface="Calibri"/>
              </a:rPr>
              <a:t>Opening question</a:t>
            </a:r>
            <a:r>
              <a:rPr sz="1400" b="0" i="0">
                <a:solidFill>
                  <a:srgbClr val="6B6050"/>
                </a:solidFill>
                <a:latin typeface="Calibri"/>
              </a:rPr>
              <a:t>: right before an interaction, it lets the student speak first</a:t>
            </a:r>
          </a:p>
          <a:p>
            <a:pPr algn="l">
              <a:spcAft>
                <a:spcPts val="600"/>
              </a:spcAft>
            </a:pPr>
            <a:r>
              <a:rPr sz="1400" b="1" i="0">
                <a:solidFill>
                  <a:srgbClr val="6B6050"/>
                </a:solidFill>
                <a:latin typeface="Calibri"/>
              </a:rPr>
              <a:t>Review materials</a:t>
            </a:r>
            <a:r>
              <a:rPr sz="1400" b="0" i="0">
                <a:solidFill>
                  <a:srgbClr val="6B6050"/>
                </a:solidFill>
                <a:latin typeface="Calibri"/>
              </a:rPr>
              <a:t> closing the Final step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Generated text</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The author writes a prompt; the tutor writes the text when the session runs</a:t>
            </a:r>
          </a:p>
        </p:txBody>
      </p:sp>
      <p:sp>
        <p:nvSpPr>
          <p:cNvPr id="4" name="Oval 3"/>
          <p:cNvSpPr/>
          <p:nvPr/>
        </p:nvSpPr>
        <p:spPr>
          <a:xfrm>
            <a:off x="10908792" y="457200"/>
            <a:ext cx="731520" cy="731520"/>
          </a:xfrm>
          <a:prstGeom prst="ellipse">
            <a:avLst/>
          </a:prstGeom>
          <a:solidFill>
            <a:srgbClr val="4A2A6A"/>
          </a:solidFill>
          <a:ln>
            <a:noFill/>
          </a:ln>
        </p:spPr>
        <p:txBody>
          <a:bodyPr rtlCol="0" anchor="ctr"/>
          <a:lstStyle/>
          <a:p/>
        </p:txBody>
      </p:sp>
      <p:pic>
        <p:nvPicPr>
          <p:cNvPr id="5" name="Picture 4" descr="image.png"/>
          <p:cNvPicPr>
            <a:picLocks noChangeAspect="1"/>
          </p:cNvPicPr>
          <p:nvPr/>
        </p:nvPicPr>
        <p:blipFill>
          <a:blip r:embed="rId2"/>
          <a:stretch>
            <a:fillRect/>
          </a:stretch>
        </p:blipFill>
        <p:spPr>
          <a:xfrm>
            <a:off x="11069726" y="618134"/>
            <a:ext cx="409651" cy="409651"/>
          </a:xfrm>
          <a:prstGeom prst="rect">
            <a:avLst/>
          </a:prstGeom>
        </p:spPr>
      </p:pic>
      <p:sp>
        <p:nvSpPr>
          <p:cNvPr id="6" name="Rounded Rectangle 5"/>
          <p:cNvSpPr/>
          <p:nvPr/>
        </p:nvSpPr>
        <p:spPr>
          <a:xfrm>
            <a:off x="548640" y="1645920"/>
            <a:ext cx="6172200" cy="4663440"/>
          </a:xfrm>
          <a:prstGeom prst="roundRect">
            <a:avLst>
              <a:gd name="adj" fmla="val 4000"/>
            </a:avLst>
          </a:prstGeom>
          <a:solidFill>
            <a:srgbClr val="EDE8F5"/>
          </a:solidFill>
          <a:ln>
            <a:noFill/>
          </a:ln>
        </p:spPr>
        <p:txBody>
          <a:bodyPr rtlCol="0" anchor="ctr"/>
          <a:lstStyle/>
          <a:p/>
        </p:txBody>
      </p:sp>
      <p:sp>
        <p:nvSpPr>
          <p:cNvPr id="7" name="TextBox 6"/>
          <p:cNvSpPr txBox="1"/>
          <p:nvPr/>
        </p:nvSpPr>
        <p:spPr>
          <a:xfrm>
            <a:off x="822960" y="1783080"/>
            <a:ext cx="5669280" cy="365760"/>
          </a:xfrm>
          <a:prstGeom prst="rect">
            <a:avLst/>
          </a:prstGeom>
          <a:noFill/>
        </p:spPr>
        <p:txBody>
          <a:bodyPr wrap="square" anchor="t" lIns="0" rIns="0" tIns="0" bIns="0">
            <a:spAutoFit/>
          </a:bodyPr>
          <a:lstStyle/>
          <a:p>
            <a:pPr algn="l"/>
            <a:r>
              <a:rPr sz="1600" b="1" i="0">
                <a:solidFill>
                  <a:srgbClr val="4A2A6A"/>
                </a:solidFill>
                <a:latin typeface="Calibri"/>
              </a:rPr>
              <a:t>What the author fills in</a:t>
            </a:r>
          </a:p>
        </p:txBody>
      </p:sp>
      <p:sp>
        <p:nvSpPr>
          <p:cNvPr id="8" name="TextBox 7"/>
          <p:cNvSpPr txBox="1"/>
          <p:nvPr/>
        </p:nvSpPr>
        <p:spPr>
          <a:xfrm>
            <a:off x="822960" y="2240280"/>
            <a:ext cx="2103120" cy="502920"/>
          </a:xfrm>
          <a:prstGeom prst="rect">
            <a:avLst/>
          </a:prstGeom>
          <a:noFill/>
        </p:spPr>
        <p:txBody>
          <a:bodyPr wrap="square" anchor="t" lIns="0" rIns="0" tIns="0" bIns="0">
            <a:spAutoFit/>
          </a:bodyPr>
          <a:lstStyle/>
          <a:p>
            <a:pPr algn="l"/>
            <a:r>
              <a:rPr sz="1300" b="1" i="0">
                <a:solidFill>
                  <a:srgbClr val="4A2A6A"/>
                </a:solidFill>
                <a:latin typeface="Courier New"/>
              </a:rPr>
              <a:t>text</a:t>
            </a:r>
          </a:p>
        </p:txBody>
      </p:sp>
      <p:sp>
        <p:nvSpPr>
          <p:cNvPr id="9" name="TextBox 8"/>
          <p:cNvSpPr txBox="1"/>
          <p:nvPr/>
        </p:nvSpPr>
        <p:spPr>
          <a:xfrm>
            <a:off x="2926080" y="2240280"/>
            <a:ext cx="3611880" cy="548640"/>
          </a:xfrm>
          <a:prstGeom prst="rect">
            <a:avLst/>
          </a:prstGeom>
          <a:noFill/>
        </p:spPr>
        <p:txBody>
          <a:bodyPr wrap="square" anchor="t" lIns="0" rIns="0" tIns="0" bIns="0">
            <a:spAutoFit/>
          </a:bodyPr>
          <a:lstStyle/>
          <a:p>
            <a:pPr algn="l"/>
            <a:r>
              <a:rPr sz="1400" b="0" i="0">
                <a:solidFill>
                  <a:srgbClr val="1A1610"/>
                </a:solidFill>
                <a:latin typeface="Calibri"/>
              </a:rPr>
              <a:t>A prompt to the tutor, in the second person, with {{fields}}.</a:t>
            </a:r>
          </a:p>
        </p:txBody>
      </p:sp>
      <p:sp>
        <p:nvSpPr>
          <p:cNvPr id="10" name="TextBox 9"/>
          <p:cNvSpPr txBox="1"/>
          <p:nvPr/>
        </p:nvSpPr>
        <p:spPr>
          <a:xfrm>
            <a:off x="822960" y="2788920"/>
            <a:ext cx="2103120" cy="502920"/>
          </a:xfrm>
          <a:prstGeom prst="rect">
            <a:avLst/>
          </a:prstGeom>
          <a:noFill/>
        </p:spPr>
        <p:txBody>
          <a:bodyPr wrap="square" anchor="t" lIns="0" rIns="0" tIns="0" bIns="0">
            <a:spAutoFit/>
          </a:bodyPr>
          <a:lstStyle/>
          <a:p>
            <a:pPr algn="l"/>
            <a:r>
              <a:rPr sz="1300" b="1" i="0">
                <a:solidFill>
                  <a:srgbClr val="4A2A6A"/>
                </a:solidFill>
                <a:latin typeface="Courier New"/>
              </a:rPr>
              <a:t>label</a:t>
            </a:r>
          </a:p>
        </p:txBody>
      </p:sp>
      <p:sp>
        <p:nvSpPr>
          <p:cNvPr id="11" name="TextBox 10"/>
          <p:cNvSpPr txBox="1"/>
          <p:nvPr/>
        </p:nvSpPr>
        <p:spPr>
          <a:xfrm>
            <a:off x="2926080" y="2788920"/>
            <a:ext cx="3611880" cy="548640"/>
          </a:xfrm>
          <a:prstGeom prst="rect">
            <a:avLst/>
          </a:prstGeom>
          <a:noFill/>
        </p:spPr>
        <p:txBody>
          <a:bodyPr wrap="square" anchor="t" lIns="0" rIns="0" tIns="0" bIns="0">
            <a:spAutoFit/>
          </a:bodyPr>
          <a:lstStyle/>
          <a:p>
            <a:pPr algn="l"/>
            <a:r>
              <a:rPr sz="1400" b="0" i="0">
                <a:solidFill>
                  <a:srgbClr val="1A1610"/>
                </a:solidFill>
                <a:latin typeface="Calibri"/>
              </a:rPr>
              <a:t>Short name the author sees in the editor.</a:t>
            </a:r>
          </a:p>
        </p:txBody>
      </p:sp>
      <p:sp>
        <p:nvSpPr>
          <p:cNvPr id="12" name="TextBox 11"/>
          <p:cNvSpPr txBox="1"/>
          <p:nvPr/>
        </p:nvSpPr>
        <p:spPr>
          <a:xfrm>
            <a:off x="822960" y="3337560"/>
            <a:ext cx="2103120" cy="502920"/>
          </a:xfrm>
          <a:prstGeom prst="rect">
            <a:avLst/>
          </a:prstGeom>
          <a:noFill/>
        </p:spPr>
        <p:txBody>
          <a:bodyPr wrap="square" anchor="t" lIns="0" rIns="0" tIns="0" bIns="0">
            <a:spAutoFit/>
          </a:bodyPr>
          <a:lstStyle/>
          <a:p>
            <a:pPr algn="l"/>
            <a:r>
              <a:rPr sz="1300" b="1" i="0">
                <a:solidFill>
                  <a:srgbClr val="4A2A6A"/>
                </a:solidFill>
                <a:latin typeface="Courier New"/>
              </a:rPr>
              <a:t>ref</a:t>
            </a:r>
          </a:p>
        </p:txBody>
      </p:sp>
      <p:sp>
        <p:nvSpPr>
          <p:cNvPr id="13" name="TextBox 12"/>
          <p:cNvSpPr txBox="1"/>
          <p:nvPr/>
        </p:nvSpPr>
        <p:spPr>
          <a:xfrm>
            <a:off x="2926080" y="3337560"/>
            <a:ext cx="3611880" cy="548640"/>
          </a:xfrm>
          <a:prstGeom prst="rect">
            <a:avLst/>
          </a:prstGeom>
          <a:noFill/>
        </p:spPr>
        <p:txBody>
          <a:bodyPr wrap="square" anchor="t" lIns="0" rIns="0" tIns="0" bIns="0">
            <a:spAutoFit/>
          </a:bodyPr>
          <a:lstStyle/>
          <a:p>
            <a:pPr algn="l"/>
            <a:r>
              <a:rPr sz="1400" b="0" i="0">
                <a:solidFill>
                  <a:srgbClr val="1A1610"/>
                </a:solidFill>
                <a:latin typeface="Calibri"/>
              </a:rPr>
              <a:t>Makes the generated text a field for later steps.</a:t>
            </a:r>
          </a:p>
        </p:txBody>
      </p:sp>
      <p:sp>
        <p:nvSpPr>
          <p:cNvPr id="14" name="TextBox 13"/>
          <p:cNvSpPr txBox="1"/>
          <p:nvPr/>
        </p:nvSpPr>
        <p:spPr>
          <a:xfrm>
            <a:off x="822960" y="3886200"/>
            <a:ext cx="2103120" cy="502920"/>
          </a:xfrm>
          <a:prstGeom prst="rect">
            <a:avLst/>
          </a:prstGeom>
          <a:noFill/>
        </p:spPr>
        <p:txBody>
          <a:bodyPr wrap="square" anchor="t" lIns="0" rIns="0" tIns="0" bIns="0">
            <a:spAutoFit/>
          </a:bodyPr>
          <a:lstStyle/>
          <a:p>
            <a:pPr algn="l"/>
            <a:r>
              <a:rPr sz="1300" b="1" i="0">
                <a:solidFill>
                  <a:srgbClr val="4A2A6A"/>
                </a:solidFill>
                <a:latin typeface="Courier New"/>
              </a:rPr>
              <a:t>isFinalFeedback</a:t>
            </a:r>
          </a:p>
        </p:txBody>
      </p:sp>
      <p:sp>
        <p:nvSpPr>
          <p:cNvPr id="15" name="TextBox 14"/>
          <p:cNvSpPr txBox="1"/>
          <p:nvPr/>
        </p:nvSpPr>
        <p:spPr>
          <a:xfrm>
            <a:off x="2926080" y="3886200"/>
            <a:ext cx="3611880" cy="548640"/>
          </a:xfrm>
          <a:prstGeom prst="rect">
            <a:avLst/>
          </a:prstGeom>
          <a:noFill/>
        </p:spPr>
        <p:txBody>
          <a:bodyPr wrap="square" anchor="t" lIns="0" rIns="0" tIns="0" bIns="0">
            <a:spAutoFit/>
          </a:bodyPr>
          <a:lstStyle/>
          <a:p>
            <a:pPr algn="l"/>
            <a:r>
              <a:rPr sz="1400" b="0" i="0">
                <a:solidFill>
                  <a:srgbClr val="1A1610"/>
                </a:solidFill>
                <a:latin typeface="Calibri"/>
              </a:rPr>
              <a:t>Marks the personal feedback of the Final step.</a:t>
            </a:r>
          </a:p>
        </p:txBody>
      </p:sp>
      <p:sp>
        <p:nvSpPr>
          <p:cNvPr id="16" name="TextBox 15"/>
          <p:cNvSpPr txBox="1"/>
          <p:nvPr/>
        </p:nvSpPr>
        <p:spPr>
          <a:xfrm>
            <a:off x="822960" y="4434840"/>
            <a:ext cx="2103120" cy="502920"/>
          </a:xfrm>
          <a:prstGeom prst="rect">
            <a:avLst/>
          </a:prstGeom>
          <a:noFill/>
        </p:spPr>
        <p:txBody>
          <a:bodyPr wrap="square" anchor="t" lIns="0" rIns="0" tIns="0" bIns="0">
            <a:spAutoFit/>
          </a:bodyPr>
          <a:lstStyle/>
          <a:p>
            <a:pPr algn="l"/>
            <a:r>
              <a:rPr sz="1300" b="1" i="0">
                <a:solidFill>
                  <a:srgbClr val="4A2A6A"/>
                </a:solidFill>
                <a:latin typeface="Courier New"/>
              </a:rPr>
              <a:t>sideInfo</a:t>
            </a:r>
          </a:p>
        </p:txBody>
      </p:sp>
      <p:sp>
        <p:nvSpPr>
          <p:cNvPr id="17" name="TextBox 16"/>
          <p:cNvSpPr txBox="1"/>
          <p:nvPr/>
        </p:nvSpPr>
        <p:spPr>
          <a:xfrm>
            <a:off x="2926080" y="4434840"/>
            <a:ext cx="3611880" cy="548640"/>
          </a:xfrm>
          <a:prstGeom prst="rect">
            <a:avLst/>
          </a:prstGeom>
          <a:noFill/>
        </p:spPr>
        <p:txBody>
          <a:bodyPr wrap="square" anchor="t" lIns="0" rIns="0" tIns="0" bIns="0">
            <a:spAutoFit/>
          </a:bodyPr>
          <a:lstStyle/>
          <a:p>
            <a:pPr algn="l"/>
            <a:r>
              <a:rPr sz="1400" b="0" i="0">
                <a:solidFill>
                  <a:srgbClr val="1A1610"/>
                </a:solidFill>
                <a:latin typeface="Calibri"/>
              </a:rPr>
              <a:t>Hidden information the prompt can draw on.</a:t>
            </a:r>
          </a:p>
        </p:txBody>
      </p:sp>
      <p:sp>
        <p:nvSpPr>
          <p:cNvPr id="18" name="TextBox 17"/>
          <p:cNvSpPr txBox="1"/>
          <p:nvPr/>
        </p:nvSpPr>
        <p:spPr>
          <a:xfrm>
            <a:off x="822960" y="4983479"/>
            <a:ext cx="2103120" cy="502920"/>
          </a:xfrm>
          <a:prstGeom prst="rect">
            <a:avLst/>
          </a:prstGeom>
          <a:noFill/>
        </p:spPr>
        <p:txBody>
          <a:bodyPr wrap="square" anchor="t" lIns="0" rIns="0" tIns="0" bIns="0">
            <a:spAutoFit/>
          </a:bodyPr>
          <a:lstStyle/>
          <a:p>
            <a:pPr algn="l"/>
            <a:r>
              <a:rPr sz="1300" b="1" i="0">
                <a:solidFill>
                  <a:srgbClr val="4A2A6A"/>
                </a:solidFill>
                <a:latin typeface="Courier New"/>
              </a:rPr>
              <a:t>strategies</a:t>
            </a:r>
          </a:p>
        </p:txBody>
      </p:sp>
      <p:sp>
        <p:nvSpPr>
          <p:cNvPr id="19" name="TextBox 18"/>
          <p:cNvSpPr txBox="1"/>
          <p:nvPr/>
        </p:nvSpPr>
        <p:spPr>
          <a:xfrm>
            <a:off x="2926080" y="4983479"/>
            <a:ext cx="3611880" cy="548640"/>
          </a:xfrm>
          <a:prstGeom prst="rect">
            <a:avLst/>
          </a:prstGeom>
          <a:noFill/>
        </p:spPr>
        <p:txBody>
          <a:bodyPr wrap="square" anchor="t" lIns="0" rIns="0" tIns="0" bIns="0">
            <a:spAutoFit/>
          </a:bodyPr>
          <a:lstStyle/>
          <a:p>
            <a:pPr algn="l"/>
            <a:r>
              <a:rPr sz="1400" b="0" i="0">
                <a:solidFill>
                  <a:srgbClr val="1A1610"/>
                </a:solidFill>
                <a:latin typeface="Calibri"/>
              </a:rPr>
              <a:t>Final feedback, Gamification. An on-start one (self-rating) asks first.</a:t>
            </a:r>
          </a:p>
        </p:txBody>
      </p:sp>
      <p:sp>
        <p:nvSpPr>
          <p:cNvPr id="20" name="TextBox 19"/>
          <p:cNvSpPr txBox="1"/>
          <p:nvPr/>
        </p:nvSpPr>
        <p:spPr>
          <a:xfrm>
            <a:off x="822960" y="5532119"/>
            <a:ext cx="2103120" cy="502920"/>
          </a:xfrm>
          <a:prstGeom prst="rect">
            <a:avLst/>
          </a:prstGeom>
          <a:noFill/>
        </p:spPr>
        <p:txBody>
          <a:bodyPr wrap="square" anchor="t" lIns="0" rIns="0" tIns="0" bIns="0">
            <a:spAutoFit/>
          </a:bodyPr>
          <a:lstStyle/>
          <a:p>
            <a:pPr algn="l"/>
            <a:r>
              <a:rPr sz="1300" b="1" i="0">
                <a:solidFill>
                  <a:srgbClr val="4A2A6A"/>
                </a:solidFill>
                <a:latin typeface="Courier New"/>
              </a:rPr>
              <a:t>note</a:t>
            </a:r>
          </a:p>
        </p:txBody>
      </p:sp>
      <p:sp>
        <p:nvSpPr>
          <p:cNvPr id="21" name="TextBox 20"/>
          <p:cNvSpPr txBox="1"/>
          <p:nvPr/>
        </p:nvSpPr>
        <p:spPr>
          <a:xfrm>
            <a:off x="2926080" y="5532119"/>
            <a:ext cx="3611880" cy="548640"/>
          </a:xfrm>
          <a:prstGeom prst="rect">
            <a:avLst/>
          </a:prstGeom>
          <a:noFill/>
        </p:spPr>
        <p:txBody>
          <a:bodyPr wrap="square" anchor="t" lIns="0" rIns="0" tIns="0" bIns="0">
            <a:spAutoFit/>
          </a:bodyPr>
          <a:lstStyle/>
          <a:p>
            <a:pPr algn="l"/>
            <a:r>
              <a:rPr sz="1400" b="0" i="0">
                <a:solidFill>
                  <a:srgbClr val="1A1610"/>
                </a:solidFill>
                <a:latin typeface="Calibri"/>
              </a:rPr>
              <a:t>Author-only reminder, never shown.</a:t>
            </a:r>
          </a:p>
        </p:txBody>
      </p:sp>
      <p:sp>
        <p:nvSpPr>
          <p:cNvPr id="22" name="TextBox 21"/>
          <p:cNvSpPr txBox="1"/>
          <p:nvPr/>
        </p:nvSpPr>
        <p:spPr>
          <a:xfrm>
            <a:off x="7040880" y="1645920"/>
            <a:ext cx="4572000" cy="365760"/>
          </a:xfrm>
          <a:prstGeom prst="rect">
            <a:avLst/>
          </a:prstGeom>
          <a:noFill/>
        </p:spPr>
        <p:txBody>
          <a:bodyPr wrap="square" anchor="t" lIns="0" rIns="0" tIns="0" bIns="0">
            <a:spAutoFit/>
          </a:bodyPr>
          <a:lstStyle/>
          <a:p>
            <a:pPr algn="l"/>
            <a:r>
              <a:rPr sz="1600" b="1" i="0">
                <a:solidFill>
                  <a:srgbClr val="1A1610"/>
                </a:solidFill>
                <a:latin typeface="Calibri"/>
              </a:rPr>
              <a:t>From prompt to text</a:t>
            </a:r>
          </a:p>
        </p:txBody>
      </p:sp>
      <p:sp>
        <p:nvSpPr>
          <p:cNvPr id="23" name="Rounded Rectangle 22"/>
          <p:cNvSpPr/>
          <p:nvPr/>
        </p:nvSpPr>
        <p:spPr>
          <a:xfrm>
            <a:off x="7040880" y="2103120"/>
            <a:ext cx="4599432" cy="1188720"/>
          </a:xfrm>
          <a:prstGeom prst="roundRect">
            <a:avLst>
              <a:gd name="adj" fmla="val 8000"/>
            </a:avLst>
          </a:prstGeom>
          <a:solidFill>
            <a:srgbClr val="EDE8F5"/>
          </a:solidFill>
          <a:ln>
            <a:noFill/>
          </a:ln>
        </p:spPr>
        <p:txBody>
          <a:bodyPr rtlCol="0" anchor="ctr"/>
          <a:lstStyle/>
          <a:p/>
        </p:txBody>
      </p:sp>
      <p:sp>
        <p:nvSpPr>
          <p:cNvPr id="24" name="TextBox 23"/>
          <p:cNvSpPr txBox="1"/>
          <p:nvPr/>
        </p:nvSpPr>
        <p:spPr>
          <a:xfrm>
            <a:off x="7269480" y="2194560"/>
            <a:ext cx="4114800" cy="274320"/>
          </a:xfrm>
          <a:prstGeom prst="rect">
            <a:avLst/>
          </a:prstGeom>
          <a:noFill/>
        </p:spPr>
        <p:txBody>
          <a:bodyPr wrap="square" anchor="t" lIns="0" rIns="0" tIns="0" bIns="0">
            <a:spAutoFit/>
          </a:bodyPr>
          <a:lstStyle/>
          <a:p>
            <a:pPr algn="l"/>
            <a:r>
              <a:rPr sz="1200" b="1" i="0">
                <a:solidFill>
                  <a:srgbClr val="4A2A6A"/>
                </a:solidFill>
                <a:latin typeface="Calibri"/>
              </a:rPr>
              <a:t>AUTHOR WRITES</a:t>
            </a:r>
          </a:p>
        </p:txBody>
      </p:sp>
      <p:sp>
        <p:nvSpPr>
          <p:cNvPr id="25" name="TextBox 24"/>
          <p:cNvSpPr txBox="1"/>
          <p:nvPr/>
        </p:nvSpPr>
        <p:spPr>
          <a:xfrm>
            <a:off x="7269480" y="2468880"/>
            <a:ext cx="4160520" cy="777240"/>
          </a:xfrm>
          <a:prstGeom prst="rect">
            <a:avLst/>
          </a:prstGeom>
          <a:noFill/>
        </p:spPr>
        <p:txBody>
          <a:bodyPr wrap="square" anchor="t" lIns="0" rIns="0" tIns="0" bIns="0">
            <a:spAutoFit/>
          </a:bodyPr>
          <a:lstStyle/>
          <a:p>
            <a:pPr algn="l"/>
            <a:r>
              <a:rPr sz="1400" b="0" i="0">
                <a:solidFill>
                  <a:srgbClr val="1A1610"/>
                </a:solidFill>
                <a:latin typeface="Calibri"/>
              </a:rPr>
              <a:t>Acknowledge </a:t>
            </a:r>
            <a:r>
              <a:rPr sz="1300" b="1" i="0">
                <a:solidFill>
                  <a:srgbClr val="4A2A6A"/>
                </a:solidFill>
                <a:latin typeface="Courier New"/>
              </a:rPr>
              <a:t>{{welcome.answer}}</a:t>
            </a:r>
            <a:r>
              <a:rPr sz="1400" b="0" i="0">
                <a:solidFill>
                  <a:srgbClr val="1A1610"/>
                </a:solidFill>
                <a:latin typeface="Calibri"/>
              </a:rPr>
              <a:t> in one sentence without judging it, then introduce a short review of how anemias are classified.</a:t>
            </a:r>
          </a:p>
        </p:txBody>
      </p:sp>
      <p:sp>
        <p:nvSpPr>
          <p:cNvPr id="26" name="Down Arrow 25"/>
          <p:cNvSpPr/>
          <p:nvPr/>
        </p:nvSpPr>
        <p:spPr>
          <a:xfrm>
            <a:off x="9189720" y="3364992"/>
            <a:ext cx="292608" cy="292608"/>
          </a:xfrm>
          <a:prstGeom prst="downArrow">
            <a:avLst/>
          </a:prstGeom>
          <a:solidFill>
            <a:srgbClr val="4A2A6A"/>
          </a:solidFill>
          <a:ln>
            <a:noFill/>
          </a:ln>
        </p:spPr>
        <p:txBody>
          <a:bodyPr rtlCol="0" anchor="ctr"/>
          <a:lstStyle/>
          <a:p/>
        </p:txBody>
      </p:sp>
      <p:sp>
        <p:nvSpPr>
          <p:cNvPr id="27" name="TextBox 26"/>
          <p:cNvSpPr txBox="1"/>
          <p:nvPr/>
        </p:nvSpPr>
        <p:spPr>
          <a:xfrm>
            <a:off x="9646920" y="3346704"/>
            <a:ext cx="2011680" cy="329184"/>
          </a:xfrm>
          <a:prstGeom prst="rect">
            <a:avLst/>
          </a:prstGeom>
          <a:noFill/>
        </p:spPr>
        <p:txBody>
          <a:bodyPr wrap="square" anchor="ctr" lIns="0" rIns="0" tIns="0" bIns="0">
            <a:spAutoFit/>
          </a:bodyPr>
          <a:lstStyle/>
          <a:p>
            <a:pPr algn="l"/>
            <a:r>
              <a:rPr sz="1200" b="0" i="0">
                <a:solidFill>
                  <a:srgbClr val="6B6050"/>
                </a:solidFill>
                <a:latin typeface="Calibri"/>
              </a:rPr>
              <a:t>fields filled, tutor persona + guardrails</a:t>
            </a:r>
          </a:p>
        </p:txBody>
      </p:sp>
      <p:sp>
        <p:nvSpPr>
          <p:cNvPr id="28" name="Rounded Rectangle 27"/>
          <p:cNvSpPr/>
          <p:nvPr/>
        </p:nvSpPr>
        <p:spPr>
          <a:xfrm>
            <a:off x="7040880" y="3749039"/>
            <a:ext cx="4599432" cy="1143000"/>
          </a:xfrm>
          <a:prstGeom prst="roundRect">
            <a:avLst>
              <a:gd name="adj" fmla="val 8000"/>
            </a:avLst>
          </a:prstGeom>
          <a:solidFill>
            <a:srgbClr val="FFFFFF"/>
          </a:solidFill>
          <a:ln w="9525">
            <a:solidFill>
              <a:srgbClr val="DDD6C8"/>
            </a:solidFill>
          </a:ln>
        </p:spPr>
        <p:txBody>
          <a:bodyPr rtlCol="0" anchor="ctr"/>
          <a:lstStyle/>
          <a:p/>
        </p:txBody>
      </p:sp>
      <p:sp>
        <p:nvSpPr>
          <p:cNvPr id="29" name="TextBox 28"/>
          <p:cNvSpPr txBox="1"/>
          <p:nvPr/>
        </p:nvSpPr>
        <p:spPr>
          <a:xfrm>
            <a:off x="7269480" y="3886200"/>
            <a:ext cx="4142232" cy="274320"/>
          </a:xfrm>
          <a:prstGeom prst="rect">
            <a:avLst/>
          </a:prstGeom>
          <a:noFill/>
        </p:spPr>
        <p:txBody>
          <a:bodyPr wrap="square" anchor="t" lIns="0" rIns="0" tIns="0" bIns="0">
            <a:spAutoFit/>
          </a:bodyPr>
          <a:lstStyle/>
          <a:p>
            <a:pPr algn="l"/>
            <a:r>
              <a:rPr sz="1200" b="1" i="0">
                <a:solidFill>
                  <a:srgbClr val="4A2A6A"/>
                </a:solidFill>
                <a:latin typeface="Calibri"/>
              </a:rPr>
              <a:t>TUTOR · WRITTEN WHEN THE SESSION RUNS</a:t>
            </a:r>
          </a:p>
        </p:txBody>
      </p:sp>
      <p:sp>
        <p:nvSpPr>
          <p:cNvPr id="30" name="TextBox 29"/>
          <p:cNvSpPr txBox="1"/>
          <p:nvPr/>
        </p:nvSpPr>
        <p:spPr>
          <a:xfrm>
            <a:off x="7269480" y="4160520"/>
            <a:ext cx="4142232" cy="640080"/>
          </a:xfrm>
          <a:prstGeom prst="rect">
            <a:avLst/>
          </a:prstGeom>
          <a:noFill/>
        </p:spPr>
        <p:txBody>
          <a:bodyPr wrap="square" anchor="t" lIns="0" rIns="0" tIns="0" bIns="0">
            <a:spAutoFit/>
          </a:bodyPr>
          <a:lstStyle/>
          <a:p>
            <a:pPr algn="l"/>
            <a:r>
              <a:rPr sz="1400" b="0" i="1">
                <a:solidFill>
                  <a:srgbClr val="1A1610"/>
                </a:solidFill>
                <a:latin typeface="Calibri"/>
              </a:rPr>
              <a:t>A text written for this student at this moment, never the same twice.</a:t>
            </a:r>
          </a:p>
        </p:txBody>
      </p:sp>
      <p:sp>
        <p:nvSpPr>
          <p:cNvPr id="31" name="TextBox 30"/>
          <p:cNvSpPr txBox="1"/>
          <p:nvPr/>
        </p:nvSpPr>
        <p:spPr>
          <a:xfrm>
            <a:off x="7040880" y="5120640"/>
            <a:ext cx="4572000" cy="365760"/>
          </a:xfrm>
          <a:prstGeom prst="rect">
            <a:avLst/>
          </a:prstGeom>
          <a:noFill/>
        </p:spPr>
        <p:txBody>
          <a:bodyPr wrap="square" anchor="t" lIns="0" rIns="0" tIns="0" bIns="0">
            <a:spAutoFit/>
          </a:bodyPr>
          <a:lstStyle/>
          <a:p>
            <a:pPr algn="l"/>
            <a:r>
              <a:rPr sz="1600" b="1" i="0">
                <a:solidFill>
                  <a:srgbClr val="1A1610"/>
                </a:solidFill>
                <a:latin typeface="Calibri"/>
              </a:rPr>
              <a:t>Typical uses</a:t>
            </a:r>
          </a:p>
        </p:txBody>
      </p:sp>
      <p:sp>
        <p:nvSpPr>
          <p:cNvPr id="32" name="TextBox 31"/>
          <p:cNvSpPr txBox="1"/>
          <p:nvPr/>
        </p:nvSpPr>
        <p:spPr>
          <a:xfrm>
            <a:off x="7040880" y="5486400"/>
            <a:ext cx="4599432" cy="822960"/>
          </a:xfrm>
          <a:prstGeom prst="rect">
            <a:avLst/>
          </a:prstGeom>
          <a:noFill/>
        </p:spPr>
        <p:txBody>
          <a:bodyPr wrap="square" anchor="t" lIns="0" rIns="0" tIns="0" bIns="0">
            <a:spAutoFit/>
          </a:bodyPr>
          <a:lstStyle/>
          <a:p>
            <a:pPr algn="l">
              <a:spcAft>
                <a:spcPts val="400"/>
              </a:spcAft>
            </a:pPr>
            <a:r>
              <a:rPr sz="1400" b="1" i="0">
                <a:solidFill>
                  <a:srgbClr val="6B6050"/>
                </a:solidFill>
                <a:latin typeface="Calibri"/>
              </a:rPr>
              <a:t>Phase introductions</a:t>
            </a:r>
            <a:r>
              <a:rPr sz="1400" b="0" i="0">
                <a:solidFill>
                  <a:srgbClr val="6B6050"/>
                </a:solidFill>
                <a:latin typeface="Calibri"/>
              </a:rPr>
              <a:t> that recall earlier answers</a:t>
            </a:r>
          </a:p>
          <a:p>
            <a:pPr algn="l">
              <a:spcAft>
                <a:spcPts val="400"/>
              </a:spcAft>
            </a:pPr>
            <a:r>
              <a:rPr sz="1400" b="1" i="0">
                <a:solidFill>
                  <a:srgbClr val="6B6050"/>
                </a:solidFill>
                <a:latin typeface="Calibri"/>
              </a:rPr>
              <a:t>Final feedback</a:t>
            </a:r>
            <a:r>
              <a:rPr sz="1400" b="0" i="0">
                <a:solidFill>
                  <a:srgbClr val="6B6050"/>
                </a:solidFill>
                <a:latin typeface="Calibri"/>
              </a:rPr>
              <a:t> from {{transcript}} and {{evaluator.log}}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Interaction</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A multi-turn conversation between the student and an agent</a:t>
            </a:r>
          </a:p>
        </p:txBody>
      </p:sp>
      <p:sp>
        <p:nvSpPr>
          <p:cNvPr id="4" name="Oval 3"/>
          <p:cNvSpPr/>
          <p:nvPr/>
        </p:nvSpPr>
        <p:spPr>
          <a:xfrm>
            <a:off x="10908792" y="457200"/>
            <a:ext cx="731520" cy="731520"/>
          </a:xfrm>
          <a:prstGeom prst="ellipse">
            <a:avLst/>
          </a:prstGeom>
          <a:solidFill>
            <a:srgbClr val="1A3A30"/>
          </a:solidFill>
          <a:ln>
            <a:noFill/>
          </a:ln>
        </p:spPr>
        <p:txBody>
          <a:bodyPr rtlCol="0" anchor="ctr"/>
          <a:lstStyle/>
          <a:p/>
        </p:txBody>
      </p:sp>
      <p:pic>
        <p:nvPicPr>
          <p:cNvPr id="5" name="Picture 4" descr="image.png"/>
          <p:cNvPicPr>
            <a:picLocks noChangeAspect="1"/>
          </p:cNvPicPr>
          <p:nvPr/>
        </p:nvPicPr>
        <p:blipFill>
          <a:blip r:embed="rId2"/>
          <a:stretch>
            <a:fillRect/>
          </a:stretch>
        </p:blipFill>
        <p:spPr>
          <a:xfrm>
            <a:off x="11069726" y="618134"/>
            <a:ext cx="409651" cy="409651"/>
          </a:xfrm>
          <a:prstGeom prst="rect">
            <a:avLst/>
          </a:prstGeom>
        </p:spPr>
      </p:pic>
      <p:sp>
        <p:nvSpPr>
          <p:cNvPr id="6" name="Rounded Rectangle 5"/>
          <p:cNvSpPr/>
          <p:nvPr/>
        </p:nvSpPr>
        <p:spPr>
          <a:xfrm>
            <a:off x="548640" y="1645920"/>
            <a:ext cx="6172200" cy="4663440"/>
          </a:xfrm>
          <a:prstGeom prst="roundRect">
            <a:avLst>
              <a:gd name="adj" fmla="val 4000"/>
            </a:avLst>
          </a:prstGeom>
          <a:solidFill>
            <a:srgbClr val="DAF5EE"/>
          </a:solidFill>
          <a:ln>
            <a:noFill/>
          </a:ln>
        </p:spPr>
        <p:txBody>
          <a:bodyPr rtlCol="0" anchor="ctr"/>
          <a:lstStyle/>
          <a:p/>
        </p:txBody>
      </p:sp>
      <p:sp>
        <p:nvSpPr>
          <p:cNvPr id="7" name="TextBox 6"/>
          <p:cNvSpPr txBox="1"/>
          <p:nvPr/>
        </p:nvSpPr>
        <p:spPr>
          <a:xfrm>
            <a:off x="822960" y="1783080"/>
            <a:ext cx="5669280" cy="365760"/>
          </a:xfrm>
          <a:prstGeom prst="rect">
            <a:avLst/>
          </a:prstGeom>
          <a:noFill/>
        </p:spPr>
        <p:txBody>
          <a:bodyPr wrap="square" anchor="t" lIns="0" rIns="0" tIns="0" bIns="0">
            <a:spAutoFit/>
          </a:bodyPr>
          <a:lstStyle/>
          <a:p>
            <a:pPr algn="l"/>
            <a:r>
              <a:rPr sz="1600" b="1" i="0">
                <a:solidFill>
                  <a:srgbClr val="1A3A30"/>
                </a:solidFill>
                <a:latin typeface="Calibri"/>
              </a:rPr>
              <a:t>What the author fills in</a:t>
            </a:r>
          </a:p>
        </p:txBody>
      </p:sp>
      <p:sp>
        <p:nvSpPr>
          <p:cNvPr id="8" name="TextBox 7"/>
          <p:cNvSpPr txBox="1"/>
          <p:nvPr/>
        </p:nvSpPr>
        <p:spPr>
          <a:xfrm>
            <a:off x="822960" y="2240280"/>
            <a:ext cx="2103120" cy="502920"/>
          </a:xfrm>
          <a:prstGeom prst="rect">
            <a:avLst/>
          </a:prstGeom>
          <a:noFill/>
        </p:spPr>
        <p:txBody>
          <a:bodyPr wrap="square" anchor="t" lIns="0" rIns="0" tIns="0" bIns="0">
            <a:spAutoFit/>
          </a:bodyPr>
          <a:lstStyle/>
          <a:p>
            <a:pPr algn="l"/>
            <a:r>
              <a:rPr sz="1300" b="1" i="0">
                <a:solidFill>
                  <a:srgbClr val="1A3A30"/>
                </a:solidFill>
                <a:latin typeface="Courier New"/>
              </a:rPr>
              <a:t>text</a:t>
            </a:r>
          </a:p>
        </p:txBody>
      </p:sp>
      <p:sp>
        <p:nvSpPr>
          <p:cNvPr id="9" name="TextBox 8"/>
          <p:cNvSpPr txBox="1"/>
          <p:nvPr/>
        </p:nvSpPr>
        <p:spPr>
          <a:xfrm>
            <a:off x="2926080" y="2240280"/>
            <a:ext cx="3611880" cy="548640"/>
          </a:xfrm>
          <a:prstGeom prst="rect">
            <a:avLst/>
          </a:prstGeom>
          <a:noFill/>
        </p:spPr>
        <p:txBody>
          <a:bodyPr wrap="square" anchor="t" lIns="0" rIns="0" tIns="0" bIns="0">
            <a:spAutoFit/>
          </a:bodyPr>
          <a:lstStyle/>
          <a:p>
            <a:pPr algn="l"/>
            <a:r>
              <a:rPr sz="1400" b="0" i="0">
                <a:solidFill>
                  <a:srgbClr val="1A1610"/>
                </a:solidFill>
                <a:latin typeface="Calibri"/>
              </a:rPr>
              <a:t>The agent's prompt: what to discuss, what to compare, how to help.</a:t>
            </a:r>
          </a:p>
        </p:txBody>
      </p:sp>
      <p:sp>
        <p:nvSpPr>
          <p:cNvPr id="10" name="TextBox 9"/>
          <p:cNvSpPr txBox="1"/>
          <p:nvPr/>
        </p:nvSpPr>
        <p:spPr>
          <a:xfrm>
            <a:off x="822960" y="2788920"/>
            <a:ext cx="2103120" cy="502920"/>
          </a:xfrm>
          <a:prstGeom prst="rect">
            <a:avLst/>
          </a:prstGeom>
          <a:noFill/>
        </p:spPr>
        <p:txBody>
          <a:bodyPr wrap="square" anchor="t" lIns="0" rIns="0" tIns="0" bIns="0">
            <a:spAutoFit/>
          </a:bodyPr>
          <a:lstStyle/>
          <a:p>
            <a:pPr algn="l"/>
            <a:r>
              <a:rPr sz="1300" b="1" i="0">
                <a:solidFill>
                  <a:srgbClr val="1A3A30"/>
                </a:solidFill>
                <a:latin typeface="Courier New"/>
              </a:rPr>
              <a:t>endsWhen</a:t>
            </a:r>
          </a:p>
        </p:txBody>
      </p:sp>
      <p:sp>
        <p:nvSpPr>
          <p:cNvPr id="11" name="TextBox 10"/>
          <p:cNvSpPr txBox="1"/>
          <p:nvPr/>
        </p:nvSpPr>
        <p:spPr>
          <a:xfrm>
            <a:off x="2926080" y="2788920"/>
            <a:ext cx="3611880" cy="548640"/>
          </a:xfrm>
          <a:prstGeom prst="rect">
            <a:avLst/>
          </a:prstGeom>
          <a:noFill/>
        </p:spPr>
        <p:txBody>
          <a:bodyPr wrap="square" anchor="t" lIns="0" rIns="0" tIns="0" bIns="0">
            <a:spAutoFit/>
          </a:bodyPr>
          <a:lstStyle/>
          <a:p>
            <a:pPr algn="l"/>
            <a:r>
              <a:rPr sz="1400" b="0" i="0">
                <a:solidFill>
                  <a:srgbClr val="1A1610"/>
                </a:solidFill>
                <a:latin typeface="Calibri"/>
              </a:rPr>
              <a:t>Optional end condition in plain words, checked by an LLM.</a:t>
            </a:r>
          </a:p>
        </p:txBody>
      </p:sp>
      <p:sp>
        <p:nvSpPr>
          <p:cNvPr id="12" name="TextBox 11"/>
          <p:cNvSpPr txBox="1"/>
          <p:nvPr/>
        </p:nvSpPr>
        <p:spPr>
          <a:xfrm>
            <a:off x="822960" y="3337560"/>
            <a:ext cx="2103120" cy="502920"/>
          </a:xfrm>
          <a:prstGeom prst="rect">
            <a:avLst/>
          </a:prstGeom>
          <a:noFill/>
        </p:spPr>
        <p:txBody>
          <a:bodyPr wrap="square" anchor="t" lIns="0" rIns="0" tIns="0" bIns="0">
            <a:spAutoFit/>
          </a:bodyPr>
          <a:lstStyle/>
          <a:p>
            <a:pPr algn="l"/>
            <a:r>
              <a:rPr sz="1300" b="1" i="0">
                <a:solidFill>
                  <a:srgbClr val="1A3A30"/>
                </a:solidFill>
                <a:latin typeface="Courier New"/>
              </a:rPr>
              <a:t>maxTurns</a:t>
            </a:r>
          </a:p>
        </p:txBody>
      </p:sp>
      <p:sp>
        <p:nvSpPr>
          <p:cNvPr id="13" name="TextBox 12"/>
          <p:cNvSpPr txBox="1"/>
          <p:nvPr/>
        </p:nvSpPr>
        <p:spPr>
          <a:xfrm>
            <a:off x="2926080" y="3337560"/>
            <a:ext cx="3611880" cy="548640"/>
          </a:xfrm>
          <a:prstGeom prst="rect">
            <a:avLst/>
          </a:prstGeom>
          <a:noFill/>
        </p:spPr>
        <p:txBody>
          <a:bodyPr wrap="square" anchor="t" lIns="0" rIns="0" tIns="0" bIns="0">
            <a:spAutoFit/>
          </a:bodyPr>
          <a:lstStyle/>
          <a:p>
            <a:pPr algn="l"/>
            <a:r>
              <a:rPr sz="1400" b="0" i="0">
                <a:solidFill>
                  <a:srgbClr val="1A1610"/>
                </a:solidFill>
                <a:latin typeface="Calibri"/>
              </a:rPr>
              <a:t>Required, 1–50: hard limit on student turns.</a:t>
            </a:r>
          </a:p>
        </p:txBody>
      </p:sp>
      <p:sp>
        <p:nvSpPr>
          <p:cNvPr id="14" name="TextBox 13"/>
          <p:cNvSpPr txBox="1"/>
          <p:nvPr/>
        </p:nvSpPr>
        <p:spPr>
          <a:xfrm>
            <a:off x="822960" y="3886200"/>
            <a:ext cx="2103120" cy="502920"/>
          </a:xfrm>
          <a:prstGeom prst="rect">
            <a:avLst/>
          </a:prstGeom>
          <a:noFill/>
        </p:spPr>
        <p:txBody>
          <a:bodyPr wrap="square" anchor="t" lIns="0" rIns="0" tIns="0" bIns="0">
            <a:spAutoFit/>
          </a:bodyPr>
          <a:lstStyle/>
          <a:p>
            <a:pPr algn="l"/>
            <a:r>
              <a:rPr sz="1300" b="1" i="0">
                <a:solidFill>
                  <a:srgbClr val="1A3A30"/>
                </a:solidFill>
                <a:latin typeface="Courier New"/>
              </a:rPr>
              <a:t>allowStudentExit</a:t>
            </a:r>
          </a:p>
        </p:txBody>
      </p:sp>
      <p:sp>
        <p:nvSpPr>
          <p:cNvPr id="15" name="TextBox 14"/>
          <p:cNvSpPr txBox="1"/>
          <p:nvPr/>
        </p:nvSpPr>
        <p:spPr>
          <a:xfrm>
            <a:off x="2926080" y="3886200"/>
            <a:ext cx="3611880" cy="548640"/>
          </a:xfrm>
          <a:prstGeom prst="rect">
            <a:avLst/>
          </a:prstGeom>
          <a:noFill/>
        </p:spPr>
        <p:txBody>
          <a:bodyPr wrap="square" anchor="t" lIns="0" rIns="0" tIns="0" bIns="0">
            <a:spAutoFit/>
          </a:bodyPr>
          <a:lstStyle/>
          <a:p>
            <a:pPr algn="l"/>
            <a:r>
              <a:rPr sz="1400" b="0" i="0">
                <a:solidFill>
                  <a:srgbClr val="1A1610"/>
                </a:solidFill>
                <a:latin typeface="Calibri"/>
              </a:rPr>
              <a:t>Shows an I'm done button (on by default).</a:t>
            </a:r>
          </a:p>
        </p:txBody>
      </p:sp>
      <p:sp>
        <p:nvSpPr>
          <p:cNvPr id="16" name="TextBox 15"/>
          <p:cNvSpPr txBox="1"/>
          <p:nvPr/>
        </p:nvSpPr>
        <p:spPr>
          <a:xfrm>
            <a:off x="822960" y="4434840"/>
            <a:ext cx="2103120" cy="502920"/>
          </a:xfrm>
          <a:prstGeom prst="rect">
            <a:avLst/>
          </a:prstGeom>
          <a:noFill/>
        </p:spPr>
        <p:txBody>
          <a:bodyPr wrap="square" anchor="t" lIns="0" rIns="0" tIns="0" bIns="0">
            <a:spAutoFit/>
          </a:bodyPr>
          <a:lstStyle/>
          <a:p>
            <a:pPr algn="l"/>
            <a:r>
              <a:rPr sz="1300" b="1" i="0">
                <a:solidFill>
                  <a:srgbClr val="1A3A30"/>
                </a:solidFill>
                <a:latin typeface="Courier New"/>
              </a:rPr>
              <a:t>sideInfo</a:t>
            </a:r>
          </a:p>
        </p:txBody>
      </p:sp>
      <p:sp>
        <p:nvSpPr>
          <p:cNvPr id="17" name="TextBox 16"/>
          <p:cNvSpPr txBox="1"/>
          <p:nvPr/>
        </p:nvSpPr>
        <p:spPr>
          <a:xfrm>
            <a:off x="2926080" y="4434840"/>
            <a:ext cx="3611880" cy="548640"/>
          </a:xfrm>
          <a:prstGeom prst="rect">
            <a:avLst/>
          </a:prstGeom>
          <a:noFill/>
        </p:spPr>
        <p:txBody>
          <a:bodyPr wrap="square" anchor="t" lIns="0" rIns="0" tIns="0" bIns="0">
            <a:spAutoFit/>
          </a:bodyPr>
          <a:lstStyle/>
          <a:p>
            <a:pPr algn="l"/>
            <a:r>
              <a:rPr sz="1400" b="0" i="0">
                <a:solidFill>
                  <a:srgbClr val="1A1610"/>
                </a:solidFill>
                <a:latin typeface="Calibri"/>
              </a:rPr>
              <a:t>Expert explanation (feeds the evaluator), knowledge, hidden findings.</a:t>
            </a:r>
          </a:p>
        </p:txBody>
      </p:sp>
      <p:sp>
        <p:nvSpPr>
          <p:cNvPr id="18" name="TextBox 17"/>
          <p:cNvSpPr txBox="1"/>
          <p:nvPr/>
        </p:nvSpPr>
        <p:spPr>
          <a:xfrm>
            <a:off x="822960" y="4983479"/>
            <a:ext cx="2103120" cy="502920"/>
          </a:xfrm>
          <a:prstGeom prst="rect">
            <a:avLst/>
          </a:prstGeom>
          <a:noFill/>
        </p:spPr>
        <p:txBody>
          <a:bodyPr wrap="square" anchor="t" lIns="0" rIns="0" tIns="0" bIns="0">
            <a:spAutoFit/>
          </a:bodyPr>
          <a:lstStyle/>
          <a:p>
            <a:pPr algn="l"/>
            <a:r>
              <a:rPr sz="1300" b="1" i="0">
                <a:solidFill>
                  <a:srgbClr val="1A3A30"/>
                </a:solidFill>
                <a:latin typeface="Courier New"/>
              </a:rPr>
              <a:t>strategies</a:t>
            </a:r>
          </a:p>
        </p:txBody>
      </p:sp>
      <p:sp>
        <p:nvSpPr>
          <p:cNvPr id="19" name="TextBox 18"/>
          <p:cNvSpPr txBox="1"/>
          <p:nvPr/>
        </p:nvSpPr>
        <p:spPr>
          <a:xfrm>
            <a:off x="2926080" y="4983479"/>
            <a:ext cx="3611880" cy="548640"/>
          </a:xfrm>
          <a:prstGeom prst="rect">
            <a:avLst/>
          </a:prstGeom>
          <a:noFill/>
        </p:spPr>
        <p:txBody>
          <a:bodyPr wrap="square" anchor="t" lIns="0" rIns="0" tIns="0" bIns="0">
            <a:spAutoFit/>
          </a:bodyPr>
          <a:lstStyle/>
          <a:p>
            <a:pPr algn="l"/>
            <a:r>
              <a:rPr sz="1400" b="0" i="0">
                <a:solidFill>
                  <a:srgbClr val="1A1610"/>
                </a:solidFill>
                <a:latin typeface="Calibri"/>
              </a:rPr>
              <a:t>Feedback, Patient, Gamification.</a:t>
            </a:r>
          </a:p>
        </p:txBody>
      </p:sp>
      <p:sp>
        <p:nvSpPr>
          <p:cNvPr id="20" name="TextBox 19"/>
          <p:cNvSpPr txBox="1"/>
          <p:nvPr/>
        </p:nvSpPr>
        <p:spPr>
          <a:xfrm>
            <a:off x="822960" y="5532119"/>
            <a:ext cx="2103120" cy="502920"/>
          </a:xfrm>
          <a:prstGeom prst="rect">
            <a:avLst/>
          </a:prstGeom>
          <a:noFill/>
        </p:spPr>
        <p:txBody>
          <a:bodyPr wrap="square" anchor="t" lIns="0" rIns="0" tIns="0" bIns="0">
            <a:spAutoFit/>
          </a:bodyPr>
          <a:lstStyle/>
          <a:p>
            <a:pPr algn="l"/>
            <a:r>
              <a:rPr sz="1300" b="1" i="0">
                <a:solidFill>
                  <a:srgbClr val="1A3A30"/>
                </a:solidFill>
                <a:latin typeface="Courier New"/>
              </a:rPr>
              <a:t>label · note</a:t>
            </a:r>
          </a:p>
        </p:txBody>
      </p:sp>
      <p:sp>
        <p:nvSpPr>
          <p:cNvPr id="21" name="TextBox 20"/>
          <p:cNvSpPr txBox="1"/>
          <p:nvPr/>
        </p:nvSpPr>
        <p:spPr>
          <a:xfrm>
            <a:off x="2926080" y="5532119"/>
            <a:ext cx="3611880" cy="548640"/>
          </a:xfrm>
          <a:prstGeom prst="rect">
            <a:avLst/>
          </a:prstGeom>
          <a:noFill/>
        </p:spPr>
        <p:txBody>
          <a:bodyPr wrap="square" anchor="t" lIns="0" rIns="0" tIns="0" bIns="0">
            <a:spAutoFit/>
          </a:bodyPr>
          <a:lstStyle/>
          <a:p>
            <a:pPr algn="l"/>
            <a:r>
              <a:rPr sz="1400" b="0" i="0">
                <a:solidFill>
                  <a:srgbClr val="1A1610"/>
                </a:solidFill>
                <a:latin typeface="Calibri"/>
              </a:rPr>
              <a:t>Editor name and author-only reminder.</a:t>
            </a:r>
          </a:p>
        </p:txBody>
      </p:sp>
      <p:sp>
        <p:nvSpPr>
          <p:cNvPr id="22" name="TextBox 21"/>
          <p:cNvSpPr txBox="1"/>
          <p:nvPr/>
        </p:nvSpPr>
        <p:spPr>
          <a:xfrm>
            <a:off x="7040880" y="1645920"/>
            <a:ext cx="4572000" cy="365760"/>
          </a:xfrm>
          <a:prstGeom prst="rect">
            <a:avLst/>
          </a:prstGeom>
          <a:noFill/>
        </p:spPr>
        <p:txBody>
          <a:bodyPr wrap="square" anchor="t" lIns="0" rIns="0" tIns="0" bIns="0">
            <a:spAutoFit/>
          </a:bodyPr>
          <a:lstStyle/>
          <a:p>
            <a:pPr algn="l"/>
            <a:r>
              <a:rPr sz="1600" b="1" i="0">
                <a:solidFill>
                  <a:srgbClr val="1A1610"/>
                </a:solidFill>
                <a:latin typeface="Calibri"/>
              </a:rPr>
              <a:t>After each student turn</a:t>
            </a:r>
          </a:p>
        </p:txBody>
      </p:sp>
      <p:sp>
        <p:nvSpPr>
          <p:cNvPr id="23" name="Oval 22"/>
          <p:cNvSpPr/>
          <p:nvPr/>
        </p:nvSpPr>
        <p:spPr>
          <a:xfrm>
            <a:off x="7040880" y="2103120"/>
            <a:ext cx="384048" cy="384048"/>
          </a:xfrm>
          <a:prstGeom prst="ellipse">
            <a:avLst/>
          </a:prstGeom>
          <a:solidFill>
            <a:srgbClr val="1A3A30"/>
          </a:solidFill>
          <a:ln>
            <a:noFill/>
          </a:ln>
        </p:spPr>
        <p:txBody>
          <a:bodyPr rtlCol="0" anchor="ctr"/>
          <a:lstStyle/>
          <a:p/>
        </p:txBody>
      </p:sp>
      <p:sp>
        <p:nvSpPr>
          <p:cNvPr id="24" name="TextBox 23"/>
          <p:cNvSpPr txBox="1"/>
          <p:nvPr/>
        </p:nvSpPr>
        <p:spPr>
          <a:xfrm>
            <a:off x="7040880" y="2103120"/>
            <a:ext cx="384048" cy="384048"/>
          </a:xfrm>
          <a:prstGeom prst="rect">
            <a:avLst/>
          </a:prstGeom>
          <a:noFill/>
        </p:spPr>
        <p:txBody>
          <a:bodyPr wrap="square" anchor="ctr" lIns="0" rIns="0" tIns="0" bIns="0">
            <a:spAutoFit/>
          </a:bodyPr>
          <a:lstStyle/>
          <a:p>
            <a:pPr algn="ctr"/>
            <a:r>
              <a:rPr sz="1300" b="1" i="0">
                <a:solidFill>
                  <a:srgbClr val="FFFFFF"/>
                </a:solidFill>
                <a:latin typeface="Calibri"/>
              </a:rPr>
              <a:t>1</a:t>
            </a:r>
          </a:p>
        </p:txBody>
      </p:sp>
      <p:sp>
        <p:nvSpPr>
          <p:cNvPr id="25" name="TextBox 24"/>
          <p:cNvSpPr txBox="1"/>
          <p:nvPr/>
        </p:nvSpPr>
        <p:spPr>
          <a:xfrm>
            <a:off x="7589520" y="2103120"/>
            <a:ext cx="4023360" cy="384048"/>
          </a:xfrm>
          <a:prstGeom prst="rect">
            <a:avLst/>
          </a:prstGeom>
          <a:noFill/>
        </p:spPr>
        <p:txBody>
          <a:bodyPr wrap="square" anchor="ctr" lIns="0" rIns="0" tIns="0" bIns="0">
            <a:spAutoFit/>
          </a:bodyPr>
          <a:lstStyle/>
          <a:p>
            <a:pPr algn="l"/>
            <a:r>
              <a:rPr sz="1400" b="1" i="0">
                <a:solidFill>
                  <a:srgbClr val="1A1610"/>
                </a:solidFill>
                <a:latin typeface="Calibri"/>
              </a:rPr>
              <a:t>Student replies</a:t>
            </a:r>
            <a:r>
              <a:rPr sz="1300" b="0" i="0">
                <a:solidFill>
                  <a:srgbClr val="6B6050"/>
                </a:solidFill>
                <a:latin typeface="Calibri"/>
              </a:rPr>
              <a:t>   </a:t>
            </a:r>
          </a:p>
        </p:txBody>
      </p:sp>
      <p:sp>
        <p:nvSpPr>
          <p:cNvPr id="26" name="Oval 25"/>
          <p:cNvSpPr/>
          <p:nvPr/>
        </p:nvSpPr>
        <p:spPr>
          <a:xfrm>
            <a:off x="7040880" y="2633472"/>
            <a:ext cx="384048" cy="384048"/>
          </a:xfrm>
          <a:prstGeom prst="ellipse">
            <a:avLst/>
          </a:prstGeom>
          <a:solidFill>
            <a:srgbClr val="1A3A30"/>
          </a:solidFill>
          <a:ln>
            <a:noFill/>
          </a:ln>
        </p:spPr>
        <p:txBody>
          <a:bodyPr rtlCol="0" anchor="ctr"/>
          <a:lstStyle/>
          <a:p/>
        </p:txBody>
      </p:sp>
      <p:sp>
        <p:nvSpPr>
          <p:cNvPr id="27" name="TextBox 26"/>
          <p:cNvSpPr txBox="1"/>
          <p:nvPr/>
        </p:nvSpPr>
        <p:spPr>
          <a:xfrm>
            <a:off x="7040880" y="2633472"/>
            <a:ext cx="384048" cy="384048"/>
          </a:xfrm>
          <a:prstGeom prst="rect">
            <a:avLst/>
          </a:prstGeom>
          <a:noFill/>
        </p:spPr>
        <p:txBody>
          <a:bodyPr wrap="square" anchor="ctr" lIns="0" rIns="0" tIns="0" bIns="0">
            <a:spAutoFit/>
          </a:bodyPr>
          <a:lstStyle/>
          <a:p>
            <a:pPr algn="ctr"/>
            <a:r>
              <a:rPr sz="1300" b="1" i="0">
                <a:solidFill>
                  <a:srgbClr val="FFFFFF"/>
                </a:solidFill>
                <a:latin typeface="Calibri"/>
              </a:rPr>
              <a:t>2</a:t>
            </a:r>
          </a:p>
        </p:txBody>
      </p:sp>
      <p:sp>
        <p:nvSpPr>
          <p:cNvPr id="28" name="TextBox 27"/>
          <p:cNvSpPr txBox="1"/>
          <p:nvPr/>
        </p:nvSpPr>
        <p:spPr>
          <a:xfrm>
            <a:off x="7589520" y="2633472"/>
            <a:ext cx="4023360" cy="384048"/>
          </a:xfrm>
          <a:prstGeom prst="rect">
            <a:avLst/>
          </a:prstGeom>
          <a:noFill/>
        </p:spPr>
        <p:txBody>
          <a:bodyPr wrap="square" anchor="ctr" lIns="0" rIns="0" tIns="0" bIns="0">
            <a:spAutoFit/>
          </a:bodyPr>
          <a:lstStyle/>
          <a:p>
            <a:pPr algn="l"/>
            <a:r>
              <a:rPr sz="1400" b="1" i="0">
                <a:solidFill>
                  <a:srgbClr val="1A1610"/>
                </a:solidFill>
                <a:latin typeface="Calibri"/>
              </a:rPr>
              <a:t>Hidden evaluator</a:t>
            </a:r>
            <a:r>
              <a:rPr sz="1300" b="0" i="0">
                <a:solidFill>
                  <a:srgbClr val="6B6050"/>
                </a:solidFill>
                <a:latin typeface="Calibri"/>
              </a:rPr>
              <a:t>   checks the expert explanation</a:t>
            </a:r>
          </a:p>
        </p:txBody>
      </p:sp>
      <p:sp>
        <p:nvSpPr>
          <p:cNvPr id="29" name="Oval 28"/>
          <p:cNvSpPr/>
          <p:nvPr/>
        </p:nvSpPr>
        <p:spPr>
          <a:xfrm>
            <a:off x="7040880" y="3163824"/>
            <a:ext cx="384048" cy="384048"/>
          </a:xfrm>
          <a:prstGeom prst="ellipse">
            <a:avLst/>
          </a:prstGeom>
          <a:solidFill>
            <a:srgbClr val="1A3A30"/>
          </a:solidFill>
          <a:ln>
            <a:noFill/>
          </a:ln>
        </p:spPr>
        <p:txBody>
          <a:bodyPr rtlCol="0" anchor="ctr"/>
          <a:lstStyle/>
          <a:p/>
        </p:txBody>
      </p:sp>
      <p:sp>
        <p:nvSpPr>
          <p:cNvPr id="30" name="TextBox 29"/>
          <p:cNvSpPr txBox="1"/>
          <p:nvPr/>
        </p:nvSpPr>
        <p:spPr>
          <a:xfrm>
            <a:off x="7040880" y="3163824"/>
            <a:ext cx="384048" cy="384048"/>
          </a:xfrm>
          <a:prstGeom prst="rect">
            <a:avLst/>
          </a:prstGeom>
          <a:noFill/>
        </p:spPr>
        <p:txBody>
          <a:bodyPr wrap="square" anchor="ctr" lIns="0" rIns="0" tIns="0" bIns="0">
            <a:spAutoFit/>
          </a:bodyPr>
          <a:lstStyle/>
          <a:p>
            <a:pPr algn="ctr"/>
            <a:r>
              <a:rPr sz="1300" b="1" i="0">
                <a:solidFill>
                  <a:srgbClr val="FFFFFF"/>
                </a:solidFill>
                <a:latin typeface="Calibri"/>
              </a:rPr>
              <a:t>3</a:t>
            </a:r>
          </a:p>
        </p:txBody>
      </p:sp>
      <p:sp>
        <p:nvSpPr>
          <p:cNvPr id="31" name="TextBox 30"/>
          <p:cNvSpPr txBox="1"/>
          <p:nvPr/>
        </p:nvSpPr>
        <p:spPr>
          <a:xfrm>
            <a:off x="7589520" y="3163824"/>
            <a:ext cx="4023360" cy="384048"/>
          </a:xfrm>
          <a:prstGeom prst="rect">
            <a:avLst/>
          </a:prstGeom>
          <a:noFill/>
        </p:spPr>
        <p:txBody>
          <a:bodyPr wrap="square" anchor="ctr" lIns="0" rIns="0" tIns="0" bIns="0">
            <a:spAutoFit/>
          </a:bodyPr>
          <a:lstStyle/>
          <a:p>
            <a:pPr algn="l"/>
            <a:r>
              <a:rPr sz="1400" b="1" i="0">
                <a:solidFill>
                  <a:srgbClr val="1A1610"/>
                </a:solidFill>
                <a:latin typeface="Calibri"/>
              </a:rPr>
              <a:t>Turn limit</a:t>
            </a:r>
            <a:r>
              <a:rPr sz="1300" b="0" i="0">
                <a:solidFill>
                  <a:srgbClr val="6B6050"/>
                </a:solidFill>
                <a:latin typeface="Calibri"/>
              </a:rPr>
              <a:t>   maxTurns reached?</a:t>
            </a:r>
          </a:p>
        </p:txBody>
      </p:sp>
      <p:sp>
        <p:nvSpPr>
          <p:cNvPr id="32" name="Oval 31"/>
          <p:cNvSpPr/>
          <p:nvPr/>
        </p:nvSpPr>
        <p:spPr>
          <a:xfrm>
            <a:off x="7040880" y="3694175"/>
            <a:ext cx="384048" cy="384048"/>
          </a:xfrm>
          <a:prstGeom prst="ellipse">
            <a:avLst/>
          </a:prstGeom>
          <a:solidFill>
            <a:srgbClr val="1A3A30"/>
          </a:solidFill>
          <a:ln>
            <a:noFill/>
          </a:ln>
        </p:spPr>
        <p:txBody>
          <a:bodyPr rtlCol="0" anchor="ctr"/>
          <a:lstStyle/>
          <a:p/>
        </p:txBody>
      </p:sp>
      <p:sp>
        <p:nvSpPr>
          <p:cNvPr id="33" name="TextBox 32"/>
          <p:cNvSpPr txBox="1"/>
          <p:nvPr/>
        </p:nvSpPr>
        <p:spPr>
          <a:xfrm>
            <a:off x="7040880" y="3694175"/>
            <a:ext cx="384048" cy="384048"/>
          </a:xfrm>
          <a:prstGeom prst="rect">
            <a:avLst/>
          </a:prstGeom>
          <a:noFill/>
        </p:spPr>
        <p:txBody>
          <a:bodyPr wrap="square" anchor="ctr" lIns="0" rIns="0" tIns="0" bIns="0">
            <a:spAutoFit/>
          </a:bodyPr>
          <a:lstStyle/>
          <a:p>
            <a:pPr algn="ctr"/>
            <a:r>
              <a:rPr sz="1300" b="1" i="0">
                <a:solidFill>
                  <a:srgbClr val="FFFFFF"/>
                </a:solidFill>
                <a:latin typeface="Calibri"/>
              </a:rPr>
              <a:t>4</a:t>
            </a:r>
          </a:p>
        </p:txBody>
      </p:sp>
      <p:sp>
        <p:nvSpPr>
          <p:cNvPr id="34" name="TextBox 33"/>
          <p:cNvSpPr txBox="1"/>
          <p:nvPr/>
        </p:nvSpPr>
        <p:spPr>
          <a:xfrm>
            <a:off x="7589520" y="3694175"/>
            <a:ext cx="4023360" cy="384048"/>
          </a:xfrm>
          <a:prstGeom prst="rect">
            <a:avLst/>
          </a:prstGeom>
          <a:noFill/>
        </p:spPr>
        <p:txBody>
          <a:bodyPr wrap="square" anchor="ctr" lIns="0" rIns="0" tIns="0" bIns="0">
            <a:spAutoFit/>
          </a:bodyPr>
          <a:lstStyle/>
          <a:p>
            <a:pPr algn="l"/>
            <a:r>
              <a:rPr sz="1400" b="1" i="0">
                <a:solidFill>
                  <a:srgbClr val="1A1610"/>
                </a:solidFill>
                <a:latin typeface="Calibri"/>
              </a:rPr>
              <a:t>Ends when…</a:t>
            </a:r>
            <a:r>
              <a:rPr sz="1300" b="0" i="0">
                <a:solidFill>
                  <a:srgbClr val="6B6050"/>
                </a:solidFill>
                <a:latin typeface="Calibri"/>
              </a:rPr>
              <a:t>   LLM checks the condition</a:t>
            </a:r>
          </a:p>
        </p:txBody>
      </p:sp>
      <p:sp>
        <p:nvSpPr>
          <p:cNvPr id="35" name="Oval 34"/>
          <p:cNvSpPr/>
          <p:nvPr/>
        </p:nvSpPr>
        <p:spPr>
          <a:xfrm>
            <a:off x="7040880" y="4224527"/>
            <a:ext cx="384048" cy="384048"/>
          </a:xfrm>
          <a:prstGeom prst="ellipse">
            <a:avLst/>
          </a:prstGeom>
          <a:solidFill>
            <a:srgbClr val="1A3A30"/>
          </a:solidFill>
          <a:ln>
            <a:noFill/>
          </a:ln>
        </p:spPr>
        <p:txBody>
          <a:bodyPr rtlCol="0" anchor="ctr"/>
          <a:lstStyle/>
          <a:p/>
        </p:txBody>
      </p:sp>
      <p:sp>
        <p:nvSpPr>
          <p:cNvPr id="36" name="TextBox 35"/>
          <p:cNvSpPr txBox="1"/>
          <p:nvPr/>
        </p:nvSpPr>
        <p:spPr>
          <a:xfrm>
            <a:off x="7040880" y="4224527"/>
            <a:ext cx="384048" cy="384048"/>
          </a:xfrm>
          <a:prstGeom prst="rect">
            <a:avLst/>
          </a:prstGeom>
          <a:noFill/>
        </p:spPr>
        <p:txBody>
          <a:bodyPr wrap="square" anchor="ctr" lIns="0" rIns="0" tIns="0" bIns="0">
            <a:spAutoFit/>
          </a:bodyPr>
          <a:lstStyle/>
          <a:p>
            <a:pPr algn="ctr"/>
            <a:r>
              <a:rPr sz="1300" b="1" i="0">
                <a:solidFill>
                  <a:srgbClr val="FFFFFF"/>
                </a:solidFill>
                <a:latin typeface="Calibri"/>
              </a:rPr>
              <a:t>5</a:t>
            </a:r>
          </a:p>
        </p:txBody>
      </p:sp>
      <p:sp>
        <p:nvSpPr>
          <p:cNvPr id="37" name="TextBox 36"/>
          <p:cNvSpPr txBox="1"/>
          <p:nvPr/>
        </p:nvSpPr>
        <p:spPr>
          <a:xfrm>
            <a:off x="7589520" y="4224527"/>
            <a:ext cx="4023360" cy="384048"/>
          </a:xfrm>
          <a:prstGeom prst="rect">
            <a:avLst/>
          </a:prstGeom>
          <a:noFill/>
        </p:spPr>
        <p:txBody>
          <a:bodyPr wrap="square" anchor="ctr" lIns="0" rIns="0" tIns="0" bIns="0">
            <a:spAutoFit/>
          </a:bodyPr>
          <a:lstStyle/>
          <a:p>
            <a:pPr algn="l"/>
            <a:r>
              <a:rPr sz="1400" b="1" i="0">
                <a:solidFill>
                  <a:srgbClr val="1A1610"/>
                </a:solidFill>
                <a:latin typeface="Calibri"/>
              </a:rPr>
              <a:t>Agent replies</a:t>
            </a:r>
            <a:r>
              <a:rPr sz="1300" b="0" i="0">
                <a:solidFill>
                  <a:srgbClr val="6B6050"/>
                </a:solidFill>
                <a:latin typeface="Calibri"/>
              </a:rPr>
              <a:t>   then back to 1, until it ends</a:t>
            </a:r>
          </a:p>
        </p:txBody>
      </p:sp>
      <p:sp>
        <p:nvSpPr>
          <p:cNvPr id="38" name="TextBox 37"/>
          <p:cNvSpPr txBox="1"/>
          <p:nvPr/>
        </p:nvSpPr>
        <p:spPr>
          <a:xfrm>
            <a:off x="7040880" y="4892040"/>
            <a:ext cx="4599432" cy="1463040"/>
          </a:xfrm>
          <a:prstGeom prst="rect">
            <a:avLst/>
          </a:prstGeom>
          <a:noFill/>
        </p:spPr>
        <p:txBody>
          <a:bodyPr wrap="square" anchor="t" lIns="0" rIns="0" tIns="0" bIns="0">
            <a:spAutoFit/>
          </a:bodyPr>
          <a:lstStyle/>
          <a:p>
            <a:pPr algn="l">
              <a:spcAft>
                <a:spcPts val="500"/>
              </a:spcAft>
            </a:pPr>
            <a:r>
              <a:rPr sz="1300" b="1" i="0">
                <a:solidFill>
                  <a:srgbClr val="1A1610"/>
                </a:solidFill>
                <a:latin typeface="Calibri"/>
              </a:rPr>
              <a:t>Who opens: </a:t>
            </a:r>
            <a:r>
              <a:rPr sz="1300" b="0" i="0">
                <a:solidFill>
                  <a:srgbClr val="6B6050"/>
                </a:solidFill>
                <a:latin typeface="Calibri"/>
              </a:rPr>
              <a:t>the student, if an opening question comes just before; else the agent.</a:t>
            </a:r>
          </a:p>
          <a:p>
            <a:pPr algn="l">
              <a:spcAft>
                <a:spcPts val="500"/>
              </a:spcAft>
            </a:pPr>
            <a:r>
              <a:rPr sz="1300" b="1" i="0">
                <a:solidFill>
                  <a:srgbClr val="1A1610"/>
                </a:solidFill>
                <a:latin typeface="Calibri"/>
              </a:rPr>
              <a:t>Who the agent is: </a:t>
            </a:r>
            <a:r>
              <a:rPr sz="1300" b="0" i="0">
                <a:solidFill>
                  <a:srgbClr val="6B6050"/>
                </a:solidFill>
                <a:latin typeface="Calibri"/>
              </a:rPr>
              <a:t>the patient in an interview step or with a Patient strategy; otherwise the tutor.</a:t>
            </a:r>
          </a:p>
          <a:p>
            <a:pPr algn="l">
              <a:spcAft>
                <a:spcPts val="500"/>
              </a:spcAft>
            </a:pPr>
            <a:r>
              <a:rPr sz="1300" b="1" i="0">
                <a:solidFill>
                  <a:srgbClr val="1A1610"/>
                </a:solidFill>
                <a:latin typeface="Calibri"/>
              </a:rPr>
              <a:t>At end: </a:t>
            </a:r>
            <a:r>
              <a:rPr sz="1300" b="0" i="0">
                <a:solidFill>
                  <a:srgbClr val="6B6050"/>
                </a:solidFill>
                <a:latin typeface="Calibri"/>
              </a:rPr>
              <a:t>at-end strategies get one closing agent turn.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What every element can carry</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Side information, fields and strategies connect the pipeline to the agents</a:t>
            </a:r>
          </a:p>
        </p:txBody>
      </p:sp>
      <p:sp>
        <p:nvSpPr>
          <p:cNvPr id="4" name="Rounded Rectangle 3"/>
          <p:cNvSpPr/>
          <p:nvPr/>
        </p:nvSpPr>
        <p:spPr>
          <a:xfrm>
            <a:off x="548640" y="1691640"/>
            <a:ext cx="3511296" cy="4069080"/>
          </a:xfrm>
          <a:prstGeom prst="roundRect">
            <a:avLst>
              <a:gd name="adj" fmla="val 5000"/>
            </a:avLst>
          </a:prstGeom>
          <a:solidFill>
            <a:srgbClr val="DEEAF5"/>
          </a:solidFill>
          <a:ln>
            <a:noFill/>
          </a:ln>
        </p:spPr>
        <p:txBody>
          <a:bodyPr rtlCol="0" anchor="ctr"/>
          <a:lstStyle/>
          <a:p/>
        </p:txBody>
      </p:sp>
      <p:sp>
        <p:nvSpPr>
          <p:cNvPr id="5" name="Oval 4"/>
          <p:cNvSpPr/>
          <p:nvPr/>
        </p:nvSpPr>
        <p:spPr>
          <a:xfrm>
            <a:off x="822959" y="1920240"/>
            <a:ext cx="566928" cy="566928"/>
          </a:xfrm>
          <a:prstGeom prst="ellipse">
            <a:avLst/>
          </a:prstGeom>
          <a:solidFill>
            <a:srgbClr val="1A3A5A"/>
          </a:solidFill>
          <a:ln>
            <a:noFill/>
          </a:ln>
        </p:spPr>
        <p:txBody>
          <a:bodyPr rtlCol="0" anchor="ctr"/>
          <a:lstStyle/>
          <a:p/>
        </p:txBody>
      </p:sp>
      <p:pic>
        <p:nvPicPr>
          <p:cNvPr id="6" name="Picture 5" descr="image.png"/>
          <p:cNvPicPr>
            <a:picLocks noChangeAspect="1"/>
          </p:cNvPicPr>
          <p:nvPr/>
        </p:nvPicPr>
        <p:blipFill>
          <a:blip r:embed="rId2"/>
          <a:stretch>
            <a:fillRect/>
          </a:stretch>
        </p:blipFill>
        <p:spPr>
          <a:xfrm>
            <a:off x="947684" y="2044964"/>
            <a:ext cx="317479" cy="317479"/>
          </a:xfrm>
          <a:prstGeom prst="rect">
            <a:avLst/>
          </a:prstGeom>
        </p:spPr>
      </p:pic>
      <p:sp>
        <p:nvSpPr>
          <p:cNvPr id="7" name="TextBox 6"/>
          <p:cNvSpPr txBox="1"/>
          <p:nvPr/>
        </p:nvSpPr>
        <p:spPr>
          <a:xfrm>
            <a:off x="1554480" y="1920240"/>
            <a:ext cx="2322576" cy="566928"/>
          </a:xfrm>
          <a:prstGeom prst="rect">
            <a:avLst/>
          </a:prstGeom>
          <a:noFill/>
        </p:spPr>
        <p:txBody>
          <a:bodyPr wrap="square" anchor="ctr" lIns="0" rIns="0" tIns="0" bIns="0">
            <a:spAutoFit/>
          </a:bodyPr>
          <a:lstStyle/>
          <a:p>
            <a:pPr algn="l"/>
            <a:r>
              <a:rPr sz="2000" b="1" i="0">
                <a:solidFill>
                  <a:srgbClr val="1A3A5A"/>
                </a:solidFill>
                <a:latin typeface="Calibri"/>
              </a:rPr>
              <a:t>Side information</a:t>
            </a:r>
          </a:p>
        </p:txBody>
      </p:sp>
      <p:sp>
        <p:nvSpPr>
          <p:cNvPr id="8" name="TextBox 7"/>
          <p:cNvSpPr txBox="1"/>
          <p:nvPr/>
        </p:nvSpPr>
        <p:spPr>
          <a:xfrm>
            <a:off x="822959" y="2697480"/>
            <a:ext cx="2962656" cy="731520"/>
          </a:xfrm>
          <a:prstGeom prst="rect">
            <a:avLst/>
          </a:prstGeom>
          <a:noFill/>
        </p:spPr>
        <p:txBody>
          <a:bodyPr wrap="square" anchor="t" lIns="0" rIns="0" tIns="0" bIns="0">
            <a:spAutoFit/>
          </a:bodyPr>
          <a:lstStyle/>
          <a:p>
            <a:pPr algn="l"/>
            <a:r>
              <a:rPr sz="1400" b="0" i="0">
                <a:solidFill>
                  <a:srgbClr val="1A1610"/>
                </a:solidFill>
                <a:latin typeface="Calibri"/>
              </a:rPr>
              <a:t>Hidden text attached to an element; the student never sees it.</a:t>
            </a:r>
          </a:p>
        </p:txBody>
      </p:sp>
      <p:sp>
        <p:nvSpPr>
          <p:cNvPr id="9" name="TextBox 8"/>
          <p:cNvSpPr txBox="1"/>
          <p:nvPr/>
        </p:nvSpPr>
        <p:spPr>
          <a:xfrm>
            <a:off x="822959" y="3520440"/>
            <a:ext cx="2962656" cy="2651760"/>
          </a:xfrm>
          <a:prstGeom prst="rect">
            <a:avLst/>
          </a:prstGeom>
          <a:noFill/>
        </p:spPr>
        <p:txBody>
          <a:bodyPr wrap="square" anchor="t" lIns="0" rIns="0" tIns="0" bIns="0">
            <a:spAutoFit/>
          </a:bodyPr>
          <a:lstStyle/>
          <a:p>
            <a:pPr algn="l">
              <a:spcAft>
                <a:spcPts val="900"/>
              </a:spcAft>
            </a:pPr>
            <a:r>
              <a:rPr sz="1300" b="1" i="0">
                <a:solidFill>
                  <a:srgbClr val="1A3A5A"/>
                </a:solidFill>
                <a:latin typeface="Courier New"/>
              </a:rPr>
              <a:t>caseN.expert</a:t>
            </a:r>
            <a:r>
              <a:rPr sz="1300" b="0" i="0">
                <a:solidFill>
                  <a:srgbClr val="6B6050"/>
                </a:solidFill>
                <a:latin typeface="Calibri"/>
              </a:rPr>
              <a:t>  expert explanation: the evaluator's checklist</a:t>
            </a:r>
          </a:p>
          <a:p>
            <a:pPr algn="l">
              <a:spcAft>
                <a:spcPts val="900"/>
              </a:spcAft>
            </a:pPr>
            <a:r>
              <a:rPr sz="1300" b="1" i="0">
                <a:solidFill>
                  <a:srgbClr val="1A3A5A"/>
                </a:solidFill>
                <a:latin typeface="Courier New"/>
              </a:rPr>
              <a:t>knowledge</a:t>
            </a:r>
            <a:r>
              <a:rPr sz="1300" b="0" i="0">
                <a:solidFill>
                  <a:srgbClr val="6B6050"/>
                </a:solidFill>
                <a:latin typeface="Calibri"/>
              </a:rPr>
              <a:t>  reference text for recall</a:t>
            </a:r>
          </a:p>
          <a:p>
            <a:pPr algn="l">
              <a:spcAft>
                <a:spcPts val="900"/>
              </a:spcAft>
            </a:pPr>
            <a:r>
              <a:rPr sz="1300" b="1" i="0">
                <a:solidFill>
                  <a:srgbClr val="1A3A5A"/>
                </a:solidFill>
                <a:latin typeface="Courier New"/>
              </a:rPr>
              <a:t>case1.findings</a:t>
            </a:r>
            <a:r>
              <a:rPr sz="1300" b="0" i="0">
                <a:solidFill>
                  <a:srgbClr val="6B6050"/>
                </a:solidFill>
                <a:latin typeface="Calibri"/>
              </a:rPr>
              <a:t>  revealed by the patient only when asked</a:t>
            </a:r>
          </a:p>
          <a:p>
            <a:pPr algn="l">
              <a:spcAft>
                <a:spcPts val="900"/>
              </a:spcAft>
            </a:pPr>
            <a:r>
              <a:rPr sz="1300" b="0" i="0">
                <a:solidFill>
                  <a:srgbClr val="6B6050"/>
                </a:solidFill>
                <a:latin typeface="Calibri"/>
              </a:rPr>
              <a:t>Anything else: exam report, rubric, labs</a:t>
            </a:r>
          </a:p>
        </p:txBody>
      </p:sp>
      <p:sp>
        <p:nvSpPr>
          <p:cNvPr id="10" name="Rounded Rectangle 9"/>
          <p:cNvSpPr/>
          <p:nvPr/>
        </p:nvSpPr>
        <p:spPr>
          <a:xfrm>
            <a:off x="4334255" y="1691640"/>
            <a:ext cx="3511296" cy="4069080"/>
          </a:xfrm>
          <a:prstGeom prst="roundRect">
            <a:avLst>
              <a:gd name="adj" fmla="val 5000"/>
            </a:avLst>
          </a:prstGeom>
          <a:solidFill>
            <a:srgbClr val="F0E8DE"/>
          </a:solidFill>
          <a:ln>
            <a:noFill/>
          </a:ln>
        </p:spPr>
        <p:txBody>
          <a:bodyPr rtlCol="0" anchor="ctr"/>
          <a:lstStyle/>
          <a:p/>
        </p:txBody>
      </p:sp>
      <p:sp>
        <p:nvSpPr>
          <p:cNvPr id="11" name="Oval 10"/>
          <p:cNvSpPr/>
          <p:nvPr/>
        </p:nvSpPr>
        <p:spPr>
          <a:xfrm>
            <a:off x="4608575" y="1920240"/>
            <a:ext cx="566928" cy="566928"/>
          </a:xfrm>
          <a:prstGeom prst="ellipse">
            <a:avLst/>
          </a:prstGeom>
          <a:solidFill>
            <a:srgbClr val="7A3E1A"/>
          </a:solidFill>
          <a:ln>
            <a:noFill/>
          </a:ln>
        </p:spPr>
        <p:txBody>
          <a:bodyPr rtlCol="0" anchor="ctr"/>
          <a:lstStyle/>
          <a:p/>
        </p:txBody>
      </p:sp>
      <p:pic>
        <p:nvPicPr>
          <p:cNvPr id="12" name="Picture 11" descr="image.png"/>
          <p:cNvPicPr>
            <a:picLocks noChangeAspect="1"/>
          </p:cNvPicPr>
          <p:nvPr/>
        </p:nvPicPr>
        <p:blipFill>
          <a:blip r:embed="rId3"/>
          <a:stretch>
            <a:fillRect/>
          </a:stretch>
        </p:blipFill>
        <p:spPr>
          <a:xfrm>
            <a:off x="4733300" y="2044964"/>
            <a:ext cx="317479" cy="317479"/>
          </a:xfrm>
          <a:prstGeom prst="rect">
            <a:avLst/>
          </a:prstGeom>
        </p:spPr>
      </p:pic>
      <p:sp>
        <p:nvSpPr>
          <p:cNvPr id="13" name="TextBox 12"/>
          <p:cNvSpPr txBox="1"/>
          <p:nvPr/>
        </p:nvSpPr>
        <p:spPr>
          <a:xfrm>
            <a:off x="5340096" y="1920240"/>
            <a:ext cx="2322576" cy="566928"/>
          </a:xfrm>
          <a:prstGeom prst="rect">
            <a:avLst/>
          </a:prstGeom>
          <a:noFill/>
        </p:spPr>
        <p:txBody>
          <a:bodyPr wrap="square" anchor="ctr" lIns="0" rIns="0" tIns="0" bIns="0">
            <a:spAutoFit/>
          </a:bodyPr>
          <a:lstStyle/>
          <a:p>
            <a:pPr algn="l"/>
            <a:r>
              <a:rPr sz="2000" b="1" i="0">
                <a:solidFill>
                  <a:srgbClr val="7A3E1A"/>
                </a:solidFill>
                <a:latin typeface="Calibri"/>
              </a:rPr>
              <a:t>Fields</a:t>
            </a:r>
          </a:p>
        </p:txBody>
      </p:sp>
      <p:sp>
        <p:nvSpPr>
          <p:cNvPr id="14" name="TextBox 13"/>
          <p:cNvSpPr txBox="1"/>
          <p:nvPr/>
        </p:nvSpPr>
        <p:spPr>
          <a:xfrm>
            <a:off x="4608575" y="2697480"/>
            <a:ext cx="2962656" cy="731520"/>
          </a:xfrm>
          <a:prstGeom prst="rect">
            <a:avLst/>
          </a:prstGeom>
          <a:noFill/>
        </p:spPr>
        <p:txBody>
          <a:bodyPr wrap="square" anchor="t" lIns="0" rIns="0" tIns="0" bIns="0">
            <a:spAutoFit/>
          </a:bodyPr>
          <a:lstStyle/>
          <a:p>
            <a:pPr algn="l"/>
            <a:r>
              <a:rPr sz="1400" b="0" i="0">
                <a:solidFill>
                  <a:srgbClr val="1A1610"/>
                </a:solidFill>
                <a:latin typeface="Calibri"/>
              </a:rPr>
              <a:t>{{name}} placeholders filled when the session runs.</a:t>
            </a:r>
          </a:p>
        </p:txBody>
      </p:sp>
      <p:sp>
        <p:nvSpPr>
          <p:cNvPr id="15" name="TextBox 14"/>
          <p:cNvSpPr txBox="1"/>
          <p:nvPr/>
        </p:nvSpPr>
        <p:spPr>
          <a:xfrm>
            <a:off x="4608575" y="3520440"/>
            <a:ext cx="2962656" cy="2651760"/>
          </a:xfrm>
          <a:prstGeom prst="rect">
            <a:avLst/>
          </a:prstGeom>
          <a:noFill/>
        </p:spPr>
        <p:txBody>
          <a:bodyPr wrap="square" anchor="t" lIns="0" rIns="0" tIns="0" bIns="0">
            <a:spAutoFit/>
          </a:bodyPr>
          <a:lstStyle/>
          <a:p>
            <a:pPr algn="l">
              <a:spcAft>
                <a:spcPts val="900"/>
              </a:spcAft>
            </a:pPr>
            <a:r>
              <a:rPr sz="1300" b="1" i="0">
                <a:solidFill>
                  <a:srgbClr val="7A3E1A"/>
                </a:solidFill>
                <a:latin typeface="Courier New"/>
              </a:rPr>
              <a:t>{{case1.vignette}}</a:t>
            </a:r>
            <a:r>
              <a:rPr sz="1300" b="0" i="0">
                <a:solidFill>
                  <a:srgbClr val="6B6050"/>
                </a:solidFill>
                <a:latin typeface="Calibri"/>
              </a:rPr>
              <a:t>  authored content, by ref</a:t>
            </a:r>
          </a:p>
          <a:p>
            <a:pPr algn="l">
              <a:spcAft>
                <a:spcPts val="900"/>
              </a:spcAft>
            </a:pPr>
            <a:r>
              <a:rPr sz="1300" b="1" i="0">
                <a:solidFill>
                  <a:srgbClr val="7A3E1A"/>
                </a:solidFill>
                <a:latin typeface="Courier New"/>
              </a:rPr>
              <a:t>{{welcome.answer}}</a:t>
            </a:r>
            <a:r>
              <a:rPr sz="1300" b="0" i="0">
                <a:solidFill>
                  <a:srgbClr val="6B6050"/>
                </a:solidFill>
                <a:latin typeface="Calibri"/>
              </a:rPr>
              <a:t>  an earlier step's answer</a:t>
            </a:r>
          </a:p>
          <a:p>
            <a:pPr algn="l">
              <a:spcAft>
                <a:spcPts val="900"/>
              </a:spcAft>
            </a:pPr>
            <a:r>
              <a:rPr sz="1300" b="1" i="0">
                <a:solidFill>
                  <a:srgbClr val="7A3E1A"/>
                </a:solidFill>
                <a:latin typeface="Courier New"/>
              </a:rPr>
              <a:t>{{level.hints}}</a:t>
            </a:r>
            <a:r>
              <a:rPr sz="1300" b="0" i="0">
                <a:solidFill>
                  <a:srgbClr val="6B6050"/>
                </a:solidFill>
                <a:latin typeface="Calibri"/>
              </a:rPr>
              <a:t>  system values, also {{transcript}}, {{evaluator.log}}</a:t>
            </a:r>
          </a:p>
          <a:p>
            <a:pPr algn="l">
              <a:spcAft>
                <a:spcPts val="900"/>
              </a:spcAft>
            </a:pPr>
            <a:r>
              <a:rPr sz="1300" b="0" i="0">
                <a:solidFill>
                  <a:srgbClr val="6B6050"/>
                </a:solidFill>
                <a:latin typeface="Calibri"/>
              </a:rPr>
              <a:t>Never forward: a field must already exist at that step</a:t>
            </a:r>
          </a:p>
        </p:txBody>
      </p:sp>
      <p:sp>
        <p:nvSpPr>
          <p:cNvPr id="16" name="Rounded Rectangle 15"/>
          <p:cNvSpPr/>
          <p:nvPr/>
        </p:nvSpPr>
        <p:spPr>
          <a:xfrm>
            <a:off x="8119871" y="1691640"/>
            <a:ext cx="3511296" cy="4069080"/>
          </a:xfrm>
          <a:prstGeom prst="roundRect">
            <a:avLst>
              <a:gd name="adj" fmla="val 5000"/>
            </a:avLst>
          </a:prstGeom>
          <a:solidFill>
            <a:srgbClr val="EDE8F5"/>
          </a:solidFill>
          <a:ln>
            <a:noFill/>
          </a:ln>
        </p:spPr>
        <p:txBody>
          <a:bodyPr rtlCol="0" anchor="ctr"/>
          <a:lstStyle/>
          <a:p/>
        </p:txBody>
      </p:sp>
      <p:sp>
        <p:nvSpPr>
          <p:cNvPr id="17" name="Oval 16"/>
          <p:cNvSpPr/>
          <p:nvPr/>
        </p:nvSpPr>
        <p:spPr>
          <a:xfrm>
            <a:off x="8394192" y="1920240"/>
            <a:ext cx="566928" cy="566928"/>
          </a:xfrm>
          <a:prstGeom prst="ellipse">
            <a:avLst/>
          </a:prstGeom>
          <a:solidFill>
            <a:srgbClr val="4A2A6A"/>
          </a:solidFill>
          <a:ln>
            <a:noFill/>
          </a:ln>
        </p:spPr>
        <p:txBody>
          <a:bodyPr rtlCol="0" anchor="ctr"/>
          <a:lstStyle/>
          <a:p/>
        </p:txBody>
      </p:sp>
      <p:pic>
        <p:nvPicPr>
          <p:cNvPr id="18" name="Picture 17" descr="image.png"/>
          <p:cNvPicPr>
            <a:picLocks noChangeAspect="1"/>
          </p:cNvPicPr>
          <p:nvPr/>
        </p:nvPicPr>
        <p:blipFill>
          <a:blip r:embed="rId4"/>
          <a:stretch>
            <a:fillRect/>
          </a:stretch>
        </p:blipFill>
        <p:spPr>
          <a:xfrm>
            <a:off x="8518916" y="2044964"/>
            <a:ext cx="317479" cy="317479"/>
          </a:xfrm>
          <a:prstGeom prst="rect">
            <a:avLst/>
          </a:prstGeom>
        </p:spPr>
      </p:pic>
      <p:sp>
        <p:nvSpPr>
          <p:cNvPr id="19" name="TextBox 18"/>
          <p:cNvSpPr txBox="1"/>
          <p:nvPr/>
        </p:nvSpPr>
        <p:spPr>
          <a:xfrm>
            <a:off x="9125711" y="1920240"/>
            <a:ext cx="2322576" cy="566928"/>
          </a:xfrm>
          <a:prstGeom prst="rect">
            <a:avLst/>
          </a:prstGeom>
          <a:noFill/>
        </p:spPr>
        <p:txBody>
          <a:bodyPr wrap="square" anchor="ctr" lIns="0" rIns="0" tIns="0" bIns="0">
            <a:spAutoFit/>
          </a:bodyPr>
          <a:lstStyle/>
          <a:p>
            <a:pPr algn="l"/>
            <a:r>
              <a:rPr sz="2000" b="1" i="0">
                <a:solidFill>
                  <a:srgbClr val="4A2A6A"/>
                </a:solidFill>
                <a:latin typeface="Calibri"/>
              </a:rPr>
              <a:t>Strategies</a:t>
            </a:r>
          </a:p>
        </p:txBody>
      </p:sp>
      <p:sp>
        <p:nvSpPr>
          <p:cNvPr id="20" name="TextBox 19"/>
          <p:cNvSpPr txBox="1"/>
          <p:nvPr/>
        </p:nvSpPr>
        <p:spPr>
          <a:xfrm>
            <a:off x="8394192" y="2697480"/>
            <a:ext cx="2962656" cy="731520"/>
          </a:xfrm>
          <a:prstGeom prst="rect">
            <a:avLst/>
          </a:prstGeom>
          <a:noFill/>
        </p:spPr>
        <p:txBody>
          <a:bodyPr wrap="square" anchor="t" lIns="0" rIns="0" tIns="0" bIns="0">
            <a:spAutoFit/>
          </a:bodyPr>
          <a:lstStyle/>
          <a:p>
            <a:pPr algn="l"/>
            <a:r>
              <a:rPr sz="1400" b="0" i="0">
                <a:solidFill>
                  <a:srgbClr val="1A1610"/>
                </a:solidFill>
                <a:latin typeface="Calibri"/>
              </a:rPr>
              <a:t>Reusable instructions, each with a moment: on start, per turn or at end.</a:t>
            </a:r>
          </a:p>
        </p:txBody>
      </p:sp>
      <p:sp>
        <p:nvSpPr>
          <p:cNvPr id="21" name="TextBox 20"/>
          <p:cNvSpPr txBox="1"/>
          <p:nvPr/>
        </p:nvSpPr>
        <p:spPr>
          <a:xfrm>
            <a:off x="8394192" y="3520440"/>
            <a:ext cx="2962656" cy="2651760"/>
          </a:xfrm>
          <a:prstGeom prst="rect">
            <a:avLst/>
          </a:prstGeom>
          <a:noFill/>
        </p:spPr>
        <p:txBody>
          <a:bodyPr wrap="square" anchor="t" lIns="0" rIns="0" tIns="0" bIns="0">
            <a:spAutoFit/>
          </a:bodyPr>
          <a:lstStyle/>
          <a:p>
            <a:pPr algn="l">
              <a:spcAft>
                <a:spcPts val="900"/>
              </a:spcAft>
            </a:pPr>
            <a:r>
              <a:rPr sz="1300" b="1" i="0">
                <a:solidFill>
                  <a:srgbClr val="1A1610"/>
                </a:solidFill>
                <a:latin typeface="Calibri"/>
              </a:rPr>
              <a:t>Feedback</a:t>
            </a:r>
            <a:r>
              <a:rPr sz="1300" b="0" i="0">
                <a:solidFill>
                  <a:srgbClr val="6B6050"/>
                </a:solidFill>
                <a:latin typeface="Calibri"/>
              </a:rPr>
              <a:t>  hints · direct · exam</a:t>
            </a:r>
          </a:p>
          <a:p>
            <a:pPr algn="l">
              <a:spcAft>
                <a:spcPts val="900"/>
              </a:spcAft>
            </a:pPr>
            <a:r>
              <a:rPr sz="1300" b="1" i="0">
                <a:solidFill>
                  <a:srgbClr val="1A1610"/>
                </a:solidFill>
                <a:latin typeface="Calibri"/>
              </a:rPr>
              <a:t>Final feedback</a:t>
            </a:r>
            <a:r>
              <a:rPr sz="1300" b="0" i="0">
                <a:solidFill>
                  <a:srgbClr val="6B6050"/>
                </a:solidFill>
                <a:latin typeface="Calibri"/>
              </a:rPr>
              <a:t>  summary · checklist · self-rating</a:t>
            </a:r>
          </a:p>
          <a:p>
            <a:pPr algn="l">
              <a:spcAft>
                <a:spcPts val="900"/>
              </a:spcAft>
            </a:pPr>
            <a:r>
              <a:rPr sz="1300" b="1" i="0">
                <a:solidFill>
                  <a:srgbClr val="1A1610"/>
                </a:solidFill>
                <a:latin typeface="Calibri"/>
              </a:rPr>
              <a:t>Patient</a:t>
            </a:r>
            <a:r>
              <a:rPr sz="1300" b="0" i="0">
                <a:solidFill>
                  <a:srgbClr val="6B6050"/>
                </a:solidFill>
                <a:latin typeface="Calibri"/>
              </a:rPr>
              <a:t>  forthcoming · worried · reserved</a:t>
            </a:r>
          </a:p>
          <a:p>
            <a:pPr algn="l">
              <a:spcAft>
                <a:spcPts val="900"/>
              </a:spcAft>
            </a:pPr>
            <a:r>
              <a:rPr sz="1300" b="1" i="0">
                <a:solidFill>
                  <a:srgbClr val="1A1610"/>
                </a:solidFill>
                <a:latin typeface="Calibri"/>
              </a:rPr>
              <a:t>Gamification</a:t>
            </a:r>
            <a:r>
              <a:rPr sz="1300" b="0" i="0">
                <a:solidFill>
                  <a:srgbClr val="6B6050"/>
                </a:solidFill>
                <a:latin typeface="Calibri"/>
              </a:rPr>
              <a:t>  badges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