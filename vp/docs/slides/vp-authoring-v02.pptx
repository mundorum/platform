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 Studio lets educators author virtual patient activities: a scripted sequence of steps in which an LLM tutor, and optionally an LLM patient, guide a student through clinical cases. This deck walks through how an author builds one: the Activity Script, the structure of a phase, and the three kinds of elements in a phase's pipeline. The screenshots show the public example case 'Anemia: reading the MCV'.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New case opens a gallery: start from scratch, from a script template, or import a case file. 2. Shape the script: the editor enforces Welcome first, Final feedback last, transfers and assessments after Explain case 1, single steps at most once. 3. Each step holds an ordered list of elements. 4. Side information and strategies guide the agents; {{fields}} pull in authored content and earlier answers; the Strategies panel holds the agent prompts. 5. Preview and Generate sample; Try it plays the current draft, even unsaved. 6. Publish runs the readiness checks; students always play the published copy.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anemia example uses the Recall, Explain, Transfer script: Welcome and case 1, Knowledge activation, Explain case 1, Transfer to case 2, Final feedback. Collapsed, each step shows its type icon, its phase name and a summary. Clicking a step opens its pipeline of elements. 'Add step here' only offers what the rules allow: assessments and transfers after Explain case 1, single steps at most once; disabled options show the reason.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case is one JSON document; its steps list is the Activity Script. Each step type has a default phase name shown in the banner (a step's title replaces it) and records the student's answer under a field later steps can use. Assessments and transfers need Explain case 1 before them; a transfer introduces case 2, 3, and so on. Custom steps get their own title and answer key; renaming one rewrites every reference to its answer.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Explain case 1 step of the anemia example. The pipeline runs top to bottom: a generated introduction, a literal opening question and an interaction that carries the expert explanation as hidden side information. A step with no interaction (except Final) waits for one student reply at its end. The answer it records becomes {{case1.answer}} for later steps.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welcome step of the example holds three literals: the welcome message (with autoPhaseSentence, the player appends the list of phases), the case 1 vignette (card 'Case 1', ref case1.vignette) and the opening question. card and ref are part of the case document; the editor doesn't show them as separate controls. reviewMaterials, on the last literal of Final, appends the vignettes, expert explanations and knowledge text.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generated element the text is an instruction to the LLM. The tutor writes the student's text at that point in the session, with the fields filled in and the tutor persona and guardrails applied. With an 'on start' strategy such as self-rating, the tutor first asks that question and waits for the reply. Typical uses: phase introductions that recall earlier answers, and the Final step's personal feedback.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discussion of the explain step. The prompt uses fields for the vignette, the expert explanation and the hints allowed at the student's level. The interaction ends by the turn limit, by the 'Ends when…' condition, or when the student presses I'm done. The expert explanation, side information generated from the case, is what the hidden evaluator compares the student's answers with. Realistic limits: 6 to 10 turns for discussions, 8 to 12 for interviews.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evaluator runs only when the element has an expert explanation. Every session action works on a copy of the state and is saved only if all its LLM calls succeed; on a provider error the student can send the message again.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presets for side information. Middle: Insert field lists every field the current step can use; fields that point to something not yet available at that step are flagged in red and block publishing. Right: the strategies an interaction may use, grouped by category, from the content pack; authors edit their texts in the Strategies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610"/>
        </a:solidFill>
        <a:effectLst/>
      </p:bgPr>
    </p:bg>
    <p:spTree>
      <p:nvGrpSpPr>
        <p:cNvPr id="1" name=""/>
        <p:cNvGrpSpPr/>
        <p:nvPr/>
      </p:nvGrpSpPr>
      <p:grpSpPr/>
      <p:sp>
        <p:nvSpPr>
          <p:cNvPr id="2" name="TextBox 1"/>
          <p:cNvSpPr txBox="1"/>
          <p:nvPr/>
        </p:nvSpPr>
        <p:spPr>
          <a:xfrm>
            <a:off x="822960" y="1554480"/>
            <a:ext cx="10515600" cy="1097280"/>
          </a:xfrm>
          <a:prstGeom prst="rect">
            <a:avLst/>
          </a:prstGeom>
          <a:noFill/>
        </p:spPr>
        <p:txBody>
          <a:bodyPr wrap="square" anchor="t" lIns="0" rIns="0" tIns="0" bIns="0">
            <a:spAutoFit/>
          </a:bodyPr>
          <a:lstStyle/>
          <a:p>
            <a:pPr algn="l"/>
            <a:r>
              <a:rPr sz="4800" b="1" i="0">
                <a:solidFill>
                  <a:srgbClr val="F5F2EC"/>
                </a:solidFill>
                <a:latin typeface="Cambria"/>
              </a:rPr>
              <a:t>Authoring a Virtual Patient</a:t>
            </a:r>
          </a:p>
        </p:txBody>
      </p:sp>
      <p:sp>
        <p:nvSpPr>
          <p:cNvPr id="3" name="TextBox 2"/>
          <p:cNvSpPr txBox="1"/>
          <p:nvPr/>
        </p:nvSpPr>
        <p:spPr>
          <a:xfrm>
            <a:off x="822960" y="2606040"/>
            <a:ext cx="10515600" cy="548640"/>
          </a:xfrm>
          <a:prstGeom prst="rect">
            <a:avLst/>
          </a:prstGeom>
          <a:noFill/>
        </p:spPr>
        <p:txBody>
          <a:bodyPr wrap="square" anchor="t" lIns="0" rIns="0" tIns="0" bIns="0">
            <a:spAutoFit/>
          </a:bodyPr>
          <a:lstStyle/>
          <a:p>
            <a:pPr algn="l"/>
            <a:r>
              <a:rPr sz="2200" b="0" i="0">
                <a:solidFill>
                  <a:srgbClr val="C9BFAE"/>
                </a:solidFill>
                <a:latin typeface="Calibri"/>
              </a:rPr>
              <a:t>How an author builds a VP activity in VP Studio</a:t>
            </a:r>
          </a:p>
        </p:txBody>
      </p:sp>
      <p:sp>
        <p:nvSpPr>
          <p:cNvPr id="4" name="Oval 3"/>
          <p:cNvSpPr/>
          <p:nvPr/>
        </p:nvSpPr>
        <p:spPr>
          <a:xfrm>
            <a:off x="822960" y="4343400"/>
            <a:ext cx="731520" cy="731520"/>
          </a:xfrm>
          <a:prstGeom prst="ellipse">
            <a:avLst/>
          </a:prstGeom>
          <a:solidFill>
            <a:srgbClr val="7A3E1A"/>
          </a:solidFill>
          <a:ln>
            <a:noFill/>
          </a:ln>
        </p:spPr>
        <p:txBody>
          <a:bodyPr rtlCol="0" anchor="ctr"/>
          <a:lstStyle/>
          <a:p>
            <a:pPr algn="ctr"/>
          </a:p>
        </p:txBody>
      </p:sp>
      <p:pic>
        <p:nvPicPr>
          <p:cNvPr id="5" name="Picture 4" descr="image.png"/>
          <p:cNvPicPr>
            <a:picLocks noChangeAspect="1"/>
          </p:cNvPicPr>
          <p:nvPr/>
        </p:nvPicPr>
        <p:blipFill>
          <a:blip r:embed="rId2"/>
          <a:stretch>
            <a:fillRect/>
          </a:stretch>
        </p:blipFill>
        <p:spPr>
          <a:xfrm>
            <a:off x="983894" y="4504334"/>
            <a:ext cx="409651" cy="409651"/>
          </a:xfrm>
          <a:prstGeom prst="rect">
            <a:avLst/>
          </a:prstGeom>
        </p:spPr>
      </p:pic>
      <p:sp>
        <p:nvSpPr>
          <p:cNvPr id="6" name="TextBox 5"/>
          <p:cNvSpPr txBox="1"/>
          <p:nvPr/>
        </p:nvSpPr>
        <p:spPr>
          <a:xfrm>
            <a:off x="1737360" y="4370832"/>
            <a:ext cx="2286000" cy="365760"/>
          </a:xfrm>
          <a:prstGeom prst="rect">
            <a:avLst/>
          </a:prstGeom>
          <a:noFill/>
        </p:spPr>
        <p:txBody>
          <a:bodyPr wrap="square" anchor="t" lIns="0" rIns="0" tIns="0" bIns="0">
            <a:spAutoFit/>
          </a:bodyPr>
          <a:lstStyle/>
          <a:p>
            <a:pPr algn="l"/>
            <a:r>
              <a:rPr sz="1800" b="1" i="0">
                <a:solidFill>
                  <a:srgbClr val="F5F2EC"/>
                </a:solidFill>
                <a:latin typeface="Calibri"/>
              </a:rPr>
              <a:t>Literal text</a:t>
            </a:r>
          </a:p>
        </p:txBody>
      </p:sp>
      <p:sp>
        <p:nvSpPr>
          <p:cNvPr id="7" name="TextBox 6"/>
          <p:cNvSpPr txBox="1"/>
          <p:nvPr/>
        </p:nvSpPr>
        <p:spPr>
          <a:xfrm>
            <a:off x="1737360" y="4709160"/>
            <a:ext cx="2286000" cy="365760"/>
          </a:xfrm>
          <a:prstGeom prst="rect">
            <a:avLst/>
          </a:prstGeom>
          <a:noFill/>
        </p:spPr>
        <p:txBody>
          <a:bodyPr wrap="square" anchor="t" lIns="0" rIns="0" tIns="0" bIns="0">
            <a:spAutoFit/>
          </a:bodyPr>
          <a:lstStyle/>
          <a:p>
            <a:pPr algn="l"/>
            <a:r>
              <a:rPr sz="1400" b="0" i="0">
                <a:solidFill>
                  <a:srgbClr val="C9BFAE"/>
                </a:solidFill>
                <a:latin typeface="Calibri"/>
              </a:rPr>
              <a:t>shown as written</a:t>
            </a:r>
          </a:p>
        </p:txBody>
      </p:sp>
      <p:sp>
        <p:nvSpPr>
          <p:cNvPr id="8" name="Oval 7"/>
          <p:cNvSpPr/>
          <p:nvPr/>
        </p:nvSpPr>
        <p:spPr>
          <a:xfrm>
            <a:off x="4114800" y="4343400"/>
            <a:ext cx="731520" cy="731520"/>
          </a:xfrm>
          <a:prstGeom prst="ellipse">
            <a:avLst/>
          </a:prstGeom>
          <a:solidFill>
            <a:srgbClr val="4A2A6A"/>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4275734" y="4504334"/>
            <a:ext cx="409651" cy="409651"/>
          </a:xfrm>
          <a:prstGeom prst="rect">
            <a:avLst/>
          </a:prstGeom>
        </p:spPr>
      </p:pic>
      <p:sp>
        <p:nvSpPr>
          <p:cNvPr id="10" name="TextBox 9"/>
          <p:cNvSpPr txBox="1"/>
          <p:nvPr/>
        </p:nvSpPr>
        <p:spPr>
          <a:xfrm>
            <a:off x="5029200" y="4370832"/>
            <a:ext cx="2286000" cy="365760"/>
          </a:xfrm>
          <a:prstGeom prst="rect">
            <a:avLst/>
          </a:prstGeom>
          <a:noFill/>
        </p:spPr>
        <p:txBody>
          <a:bodyPr wrap="square" anchor="t" lIns="0" rIns="0" tIns="0" bIns="0">
            <a:spAutoFit/>
          </a:bodyPr>
          <a:lstStyle/>
          <a:p>
            <a:pPr algn="l"/>
            <a:r>
              <a:rPr sz="1800" b="1" i="0">
                <a:solidFill>
                  <a:srgbClr val="F5F2EC"/>
                </a:solidFill>
                <a:latin typeface="Calibri"/>
              </a:rPr>
              <a:t>Generated text</a:t>
            </a:r>
          </a:p>
        </p:txBody>
      </p:sp>
      <p:sp>
        <p:nvSpPr>
          <p:cNvPr id="11" name="TextBox 10"/>
          <p:cNvSpPr txBox="1"/>
          <p:nvPr/>
        </p:nvSpPr>
        <p:spPr>
          <a:xfrm>
            <a:off x="5029200" y="4709160"/>
            <a:ext cx="2286000" cy="365760"/>
          </a:xfrm>
          <a:prstGeom prst="rect">
            <a:avLst/>
          </a:prstGeom>
          <a:noFill/>
        </p:spPr>
        <p:txBody>
          <a:bodyPr wrap="square" anchor="t" lIns="0" rIns="0" tIns="0" bIns="0">
            <a:spAutoFit/>
          </a:bodyPr>
          <a:lstStyle/>
          <a:p>
            <a:pPr algn="l"/>
            <a:r>
              <a:rPr sz="1400" b="0" i="0">
                <a:solidFill>
                  <a:srgbClr val="C9BFAE"/>
                </a:solidFill>
                <a:latin typeface="Calibri"/>
              </a:rPr>
              <a:t>the LLM writes it</a:t>
            </a:r>
          </a:p>
        </p:txBody>
      </p:sp>
      <p:sp>
        <p:nvSpPr>
          <p:cNvPr id="12" name="Oval 11"/>
          <p:cNvSpPr/>
          <p:nvPr/>
        </p:nvSpPr>
        <p:spPr>
          <a:xfrm>
            <a:off x="7406640" y="4343400"/>
            <a:ext cx="731520" cy="731520"/>
          </a:xfrm>
          <a:prstGeom prst="ellipse">
            <a:avLst/>
          </a:prstGeom>
          <a:solidFill>
            <a:srgbClr val="1A3A30"/>
          </a:solidFill>
          <a:ln>
            <a:noFill/>
          </a:ln>
        </p:spPr>
        <p:txBody>
          <a:bodyPr rtlCol="0" anchor="ctr"/>
          <a:lstStyle/>
          <a:p>
            <a:pPr algn="ctr"/>
          </a:p>
        </p:txBody>
      </p:sp>
      <p:pic>
        <p:nvPicPr>
          <p:cNvPr id="13" name="Picture 12" descr="image.png"/>
          <p:cNvPicPr>
            <a:picLocks noChangeAspect="1"/>
          </p:cNvPicPr>
          <p:nvPr/>
        </p:nvPicPr>
        <p:blipFill>
          <a:blip r:embed="rId4"/>
          <a:stretch>
            <a:fillRect/>
          </a:stretch>
        </p:blipFill>
        <p:spPr>
          <a:xfrm>
            <a:off x="7567574" y="4504334"/>
            <a:ext cx="409651" cy="409651"/>
          </a:xfrm>
          <a:prstGeom prst="rect">
            <a:avLst/>
          </a:prstGeom>
        </p:spPr>
      </p:pic>
      <p:sp>
        <p:nvSpPr>
          <p:cNvPr id="14" name="TextBox 13"/>
          <p:cNvSpPr txBox="1"/>
          <p:nvPr/>
        </p:nvSpPr>
        <p:spPr>
          <a:xfrm>
            <a:off x="8321040" y="4370832"/>
            <a:ext cx="2286000" cy="365760"/>
          </a:xfrm>
          <a:prstGeom prst="rect">
            <a:avLst/>
          </a:prstGeom>
          <a:noFill/>
        </p:spPr>
        <p:txBody>
          <a:bodyPr wrap="square" anchor="t" lIns="0" rIns="0" tIns="0" bIns="0">
            <a:spAutoFit/>
          </a:bodyPr>
          <a:lstStyle/>
          <a:p>
            <a:pPr algn="l"/>
            <a:r>
              <a:rPr sz="1800" b="1" i="0">
                <a:solidFill>
                  <a:srgbClr val="F5F2EC"/>
                </a:solidFill>
                <a:latin typeface="Calibri"/>
              </a:rPr>
              <a:t>Interaction</a:t>
            </a:r>
          </a:p>
        </p:txBody>
      </p:sp>
      <p:sp>
        <p:nvSpPr>
          <p:cNvPr id="15" name="TextBox 14"/>
          <p:cNvSpPr txBox="1"/>
          <p:nvPr/>
        </p:nvSpPr>
        <p:spPr>
          <a:xfrm>
            <a:off x="8321040" y="4709160"/>
            <a:ext cx="2286000" cy="365760"/>
          </a:xfrm>
          <a:prstGeom prst="rect">
            <a:avLst/>
          </a:prstGeom>
          <a:noFill/>
        </p:spPr>
        <p:txBody>
          <a:bodyPr wrap="square" anchor="t" lIns="0" rIns="0" tIns="0" bIns="0">
            <a:spAutoFit/>
          </a:bodyPr>
          <a:lstStyle/>
          <a:p>
            <a:pPr algn="l"/>
            <a:r>
              <a:rPr sz="1400" b="0" i="0">
                <a:solidFill>
                  <a:srgbClr val="C9BFAE"/>
                </a:solidFill>
                <a:latin typeface="Calibri"/>
              </a:rPr>
              <a:t>the agent converses</a:t>
            </a:r>
          </a:p>
        </p:txBody>
      </p:sp>
      <p:sp>
        <p:nvSpPr>
          <p:cNvPr id="16" name="TextBox 15"/>
          <p:cNvSpPr txBox="1"/>
          <p:nvPr/>
        </p:nvSpPr>
        <p:spPr>
          <a:xfrm>
            <a:off x="822960" y="6035040"/>
            <a:ext cx="10515600" cy="365760"/>
          </a:xfrm>
          <a:prstGeom prst="rect">
            <a:avLst/>
          </a:prstGeom>
          <a:noFill/>
        </p:spPr>
        <p:txBody>
          <a:bodyPr wrap="square" anchor="t" lIns="0" rIns="0" tIns="0" bIns="0">
            <a:spAutoFit/>
          </a:bodyPr>
          <a:lstStyle/>
          <a:p>
            <a:pPr algn="l"/>
            <a:r>
              <a:rPr sz="1200" b="0" i="0">
                <a:solidFill>
                  <a:srgbClr val="C9BFAE"/>
                </a:solidFill>
                <a:latin typeface="Calibri"/>
              </a:rPr>
              <a:t>Mundorum Platform · VP Studio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From idea to student link</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The author's path through VP Studio's simple-mode editor</a:t>
            </a:r>
          </a:p>
        </p:txBody>
      </p:sp>
      <p:sp>
        <p:nvSpPr>
          <p:cNvPr id="4" name="Rounded Rectangle 3"/>
          <p:cNvSpPr/>
          <p:nvPr/>
        </p:nvSpPr>
        <p:spPr>
          <a:xfrm>
            <a:off x="548640" y="1691640"/>
            <a:ext cx="3456432" cy="2148840"/>
          </a:xfrm>
          <a:prstGeom prst="roundRect">
            <a:avLst>
              <a:gd name="adj" fmla="val 6000"/>
            </a:avLst>
          </a:prstGeom>
          <a:solidFill>
            <a:srgbClr val="FAF8F4"/>
          </a:solidFill>
          <a:ln w="9525">
            <a:solidFill>
              <a:srgbClr val="DDD6C8"/>
            </a:solidFill>
          </a:ln>
        </p:spPr>
        <p:txBody>
          <a:bodyPr rtlCol="0" anchor="ctr"/>
          <a:lstStyle/>
          <a:p>
            <a:pPr algn="ctr"/>
          </a:p>
        </p:txBody>
      </p:sp>
      <p:sp>
        <p:nvSpPr>
          <p:cNvPr id="5" name="Oval 4"/>
          <p:cNvSpPr/>
          <p:nvPr/>
        </p:nvSpPr>
        <p:spPr>
          <a:xfrm>
            <a:off x="822959" y="1965960"/>
            <a:ext cx="566928" cy="566928"/>
          </a:xfrm>
          <a:prstGeom prst="ellipse">
            <a:avLst/>
          </a:prstGeom>
          <a:solidFill>
            <a:srgbClr val="7A3E1A"/>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47684" y="2090684"/>
            <a:ext cx="317479" cy="317479"/>
          </a:xfrm>
          <a:prstGeom prst="rect">
            <a:avLst/>
          </a:prstGeom>
        </p:spPr>
      </p:pic>
      <p:sp>
        <p:nvSpPr>
          <p:cNvPr id="7" name="TextBox 6"/>
          <p:cNvSpPr txBox="1"/>
          <p:nvPr/>
        </p:nvSpPr>
        <p:spPr>
          <a:xfrm>
            <a:off x="1536192" y="1965960"/>
            <a:ext cx="548640" cy="566928"/>
          </a:xfrm>
          <a:prstGeom prst="rect">
            <a:avLst/>
          </a:prstGeom>
          <a:noFill/>
        </p:spPr>
        <p:txBody>
          <a:bodyPr wrap="square" anchor="ctr" lIns="0" rIns="0" tIns="0" bIns="0">
            <a:spAutoFit/>
          </a:bodyPr>
          <a:lstStyle/>
          <a:p>
            <a:pPr algn="l"/>
            <a:r>
              <a:rPr sz="2600" b="1" i="0">
                <a:solidFill>
                  <a:srgbClr val="DDD6C8"/>
                </a:solidFill>
                <a:latin typeface="Cambria"/>
              </a:rPr>
              <a:t>1</a:t>
            </a:r>
          </a:p>
        </p:txBody>
      </p:sp>
      <p:sp>
        <p:nvSpPr>
          <p:cNvPr id="8" name="TextBox 7"/>
          <p:cNvSpPr txBox="1"/>
          <p:nvPr/>
        </p:nvSpPr>
        <p:spPr>
          <a:xfrm>
            <a:off x="822959" y="2651760"/>
            <a:ext cx="2907791" cy="365760"/>
          </a:xfrm>
          <a:prstGeom prst="rect">
            <a:avLst/>
          </a:prstGeom>
          <a:noFill/>
        </p:spPr>
        <p:txBody>
          <a:bodyPr wrap="square" anchor="t" lIns="0" rIns="0" tIns="0" bIns="0">
            <a:spAutoFit/>
          </a:bodyPr>
          <a:lstStyle/>
          <a:p>
            <a:pPr algn="l"/>
            <a:r>
              <a:rPr sz="1800" b="1" i="0">
                <a:solidFill>
                  <a:srgbClr val="1A1610"/>
                </a:solidFill>
                <a:latin typeface="Calibri"/>
              </a:rPr>
              <a:t>New case</a:t>
            </a:r>
          </a:p>
        </p:txBody>
      </p:sp>
      <p:sp>
        <p:nvSpPr>
          <p:cNvPr id="9" name="TextBox 8"/>
          <p:cNvSpPr txBox="1"/>
          <p:nvPr/>
        </p:nvSpPr>
        <p:spPr>
          <a:xfrm>
            <a:off x="822959" y="3017520"/>
            <a:ext cx="2907791" cy="777240"/>
          </a:xfrm>
          <a:prstGeom prst="rect">
            <a:avLst/>
          </a:prstGeom>
          <a:noFill/>
        </p:spPr>
        <p:txBody>
          <a:bodyPr wrap="square" anchor="t" lIns="0" rIns="0" tIns="0" bIns="0">
            <a:spAutoFit/>
          </a:bodyPr>
          <a:lstStyle/>
          <a:p>
            <a:pPr algn="l"/>
            <a:r>
              <a:rPr sz="1400" b="0" i="0">
                <a:solidFill>
                  <a:srgbClr val="6B6050"/>
                </a:solidFill>
                <a:latin typeface="Calibri"/>
              </a:rPr>
              <a:t>Start from scratch (Welcome + Final feedback), from a script template, or import a .vp.json file.</a:t>
            </a:r>
          </a:p>
        </p:txBody>
      </p:sp>
      <p:sp>
        <p:nvSpPr>
          <p:cNvPr id="10" name="Rounded Rectangle 9"/>
          <p:cNvSpPr/>
          <p:nvPr/>
        </p:nvSpPr>
        <p:spPr>
          <a:xfrm>
            <a:off x="4370831" y="1691640"/>
            <a:ext cx="3456432" cy="2148840"/>
          </a:xfrm>
          <a:prstGeom prst="roundRect">
            <a:avLst>
              <a:gd name="adj" fmla="val 6000"/>
            </a:avLst>
          </a:prstGeom>
          <a:solidFill>
            <a:srgbClr val="FAF8F4"/>
          </a:solidFill>
          <a:ln w="9525">
            <a:solidFill>
              <a:srgbClr val="DDD6C8"/>
            </a:solidFill>
          </a:ln>
        </p:spPr>
        <p:txBody>
          <a:bodyPr rtlCol="0" anchor="ctr"/>
          <a:lstStyle/>
          <a:p>
            <a:pPr algn="ctr"/>
          </a:p>
        </p:txBody>
      </p:sp>
      <p:sp>
        <p:nvSpPr>
          <p:cNvPr id="11" name="Oval 10"/>
          <p:cNvSpPr/>
          <p:nvPr/>
        </p:nvSpPr>
        <p:spPr>
          <a:xfrm>
            <a:off x="4645151" y="1965960"/>
            <a:ext cx="566928" cy="566928"/>
          </a:xfrm>
          <a:prstGeom prst="ellipse">
            <a:avLst/>
          </a:prstGeom>
          <a:solidFill>
            <a:srgbClr val="7A3E1A"/>
          </a:solidFill>
          <a:ln>
            <a:noFill/>
          </a:ln>
        </p:spPr>
        <p:txBody>
          <a:bodyPr rtlCol="0" anchor="ctr"/>
          <a:lstStyle/>
          <a:p>
            <a:pPr algn="ctr"/>
          </a:p>
        </p:txBody>
      </p:sp>
      <p:pic>
        <p:nvPicPr>
          <p:cNvPr id="12" name="Picture 11" descr="image.png"/>
          <p:cNvPicPr>
            <a:picLocks noChangeAspect="1"/>
          </p:cNvPicPr>
          <p:nvPr/>
        </p:nvPicPr>
        <p:blipFill>
          <a:blip r:embed="rId3"/>
          <a:stretch>
            <a:fillRect/>
          </a:stretch>
        </p:blipFill>
        <p:spPr>
          <a:xfrm>
            <a:off x="4769876" y="2090684"/>
            <a:ext cx="317479" cy="317479"/>
          </a:xfrm>
          <a:prstGeom prst="rect">
            <a:avLst/>
          </a:prstGeom>
        </p:spPr>
      </p:pic>
      <p:sp>
        <p:nvSpPr>
          <p:cNvPr id="13" name="TextBox 12"/>
          <p:cNvSpPr txBox="1"/>
          <p:nvPr/>
        </p:nvSpPr>
        <p:spPr>
          <a:xfrm>
            <a:off x="5358383" y="1965960"/>
            <a:ext cx="548640" cy="566928"/>
          </a:xfrm>
          <a:prstGeom prst="rect">
            <a:avLst/>
          </a:prstGeom>
          <a:noFill/>
        </p:spPr>
        <p:txBody>
          <a:bodyPr wrap="square" anchor="ctr" lIns="0" rIns="0" tIns="0" bIns="0">
            <a:spAutoFit/>
          </a:bodyPr>
          <a:lstStyle/>
          <a:p>
            <a:pPr algn="l"/>
            <a:r>
              <a:rPr sz="2600" b="1" i="0">
                <a:solidFill>
                  <a:srgbClr val="DDD6C8"/>
                </a:solidFill>
                <a:latin typeface="Cambria"/>
              </a:rPr>
              <a:t>2</a:t>
            </a:r>
          </a:p>
        </p:txBody>
      </p:sp>
      <p:sp>
        <p:nvSpPr>
          <p:cNvPr id="14" name="TextBox 13"/>
          <p:cNvSpPr txBox="1"/>
          <p:nvPr/>
        </p:nvSpPr>
        <p:spPr>
          <a:xfrm>
            <a:off x="4645151" y="2651760"/>
            <a:ext cx="2907791" cy="365760"/>
          </a:xfrm>
          <a:prstGeom prst="rect">
            <a:avLst/>
          </a:prstGeom>
          <a:noFill/>
        </p:spPr>
        <p:txBody>
          <a:bodyPr wrap="square" anchor="t" lIns="0" rIns="0" tIns="0" bIns="0">
            <a:spAutoFit/>
          </a:bodyPr>
          <a:lstStyle/>
          <a:p>
            <a:pPr algn="l"/>
            <a:r>
              <a:rPr sz="1800" b="1" i="0">
                <a:solidFill>
                  <a:srgbClr val="1A1610"/>
                </a:solidFill>
                <a:latin typeface="Calibri"/>
              </a:rPr>
              <a:t>Shape the Activity Script</a:t>
            </a:r>
          </a:p>
        </p:txBody>
      </p:sp>
      <p:sp>
        <p:nvSpPr>
          <p:cNvPr id="15" name="TextBox 14"/>
          <p:cNvSpPr txBox="1"/>
          <p:nvPr/>
        </p:nvSpPr>
        <p:spPr>
          <a:xfrm>
            <a:off x="4645151" y="3017520"/>
            <a:ext cx="2907791" cy="777240"/>
          </a:xfrm>
          <a:prstGeom prst="rect">
            <a:avLst/>
          </a:prstGeom>
          <a:noFill/>
        </p:spPr>
        <p:txBody>
          <a:bodyPr wrap="square" anchor="t" lIns="0" rIns="0" tIns="0" bIns="0">
            <a:spAutoFit/>
          </a:bodyPr>
          <a:lstStyle/>
          <a:p>
            <a:pPr algn="l"/>
            <a:r>
              <a:rPr sz="1400" b="0" i="0">
                <a:solidFill>
                  <a:srgbClr val="6B6050"/>
                </a:solidFill>
                <a:latin typeface="Calibri"/>
              </a:rPr>
              <a:t>Add, move, rename and remove steps. The editor disables options that would break the script rules.</a:t>
            </a:r>
          </a:p>
        </p:txBody>
      </p:sp>
      <p:sp>
        <p:nvSpPr>
          <p:cNvPr id="16" name="Rounded Rectangle 15"/>
          <p:cNvSpPr/>
          <p:nvPr/>
        </p:nvSpPr>
        <p:spPr>
          <a:xfrm>
            <a:off x="8193023" y="1691640"/>
            <a:ext cx="3456432" cy="2148840"/>
          </a:xfrm>
          <a:prstGeom prst="roundRect">
            <a:avLst>
              <a:gd name="adj" fmla="val 6000"/>
            </a:avLst>
          </a:prstGeom>
          <a:solidFill>
            <a:srgbClr val="FAF8F4"/>
          </a:solidFill>
          <a:ln w="9525">
            <a:solidFill>
              <a:srgbClr val="DDD6C8"/>
            </a:solidFill>
          </a:ln>
        </p:spPr>
        <p:txBody>
          <a:bodyPr rtlCol="0" anchor="ctr"/>
          <a:lstStyle/>
          <a:p>
            <a:pPr algn="ctr"/>
          </a:p>
        </p:txBody>
      </p:sp>
      <p:sp>
        <p:nvSpPr>
          <p:cNvPr id="17" name="Oval 16"/>
          <p:cNvSpPr/>
          <p:nvPr/>
        </p:nvSpPr>
        <p:spPr>
          <a:xfrm>
            <a:off x="8467344" y="1965960"/>
            <a:ext cx="566928" cy="566928"/>
          </a:xfrm>
          <a:prstGeom prst="ellipse">
            <a:avLst/>
          </a:prstGeom>
          <a:solidFill>
            <a:srgbClr val="7A3E1A"/>
          </a:solidFill>
          <a:ln>
            <a:noFill/>
          </a:ln>
        </p:spPr>
        <p:txBody>
          <a:bodyPr rtlCol="0" anchor="ctr"/>
          <a:lstStyle/>
          <a:p>
            <a:pPr algn="ctr"/>
          </a:p>
        </p:txBody>
      </p:sp>
      <p:pic>
        <p:nvPicPr>
          <p:cNvPr id="18" name="Picture 17" descr="image.png"/>
          <p:cNvPicPr>
            <a:picLocks noChangeAspect="1"/>
          </p:cNvPicPr>
          <p:nvPr/>
        </p:nvPicPr>
        <p:blipFill>
          <a:blip r:embed="rId4"/>
          <a:stretch>
            <a:fillRect/>
          </a:stretch>
        </p:blipFill>
        <p:spPr>
          <a:xfrm>
            <a:off x="8592068" y="2090684"/>
            <a:ext cx="317479" cy="317479"/>
          </a:xfrm>
          <a:prstGeom prst="rect">
            <a:avLst/>
          </a:prstGeom>
        </p:spPr>
      </p:pic>
      <p:sp>
        <p:nvSpPr>
          <p:cNvPr id="19" name="TextBox 18"/>
          <p:cNvSpPr txBox="1"/>
          <p:nvPr/>
        </p:nvSpPr>
        <p:spPr>
          <a:xfrm>
            <a:off x="9180576" y="1965960"/>
            <a:ext cx="548640" cy="566928"/>
          </a:xfrm>
          <a:prstGeom prst="rect">
            <a:avLst/>
          </a:prstGeom>
          <a:noFill/>
        </p:spPr>
        <p:txBody>
          <a:bodyPr wrap="square" anchor="ctr" lIns="0" rIns="0" tIns="0" bIns="0">
            <a:spAutoFit/>
          </a:bodyPr>
          <a:lstStyle/>
          <a:p>
            <a:pPr algn="l"/>
            <a:r>
              <a:rPr sz="2600" b="1" i="0">
                <a:solidFill>
                  <a:srgbClr val="DDD6C8"/>
                </a:solidFill>
                <a:latin typeface="Cambria"/>
              </a:rPr>
              <a:t>3</a:t>
            </a:r>
          </a:p>
        </p:txBody>
      </p:sp>
      <p:sp>
        <p:nvSpPr>
          <p:cNvPr id="20" name="TextBox 19"/>
          <p:cNvSpPr txBox="1"/>
          <p:nvPr/>
        </p:nvSpPr>
        <p:spPr>
          <a:xfrm>
            <a:off x="8467344" y="2651760"/>
            <a:ext cx="2907791" cy="365760"/>
          </a:xfrm>
          <a:prstGeom prst="rect">
            <a:avLst/>
          </a:prstGeom>
          <a:noFill/>
        </p:spPr>
        <p:txBody>
          <a:bodyPr wrap="square" anchor="t" lIns="0" rIns="0" tIns="0" bIns="0">
            <a:spAutoFit/>
          </a:bodyPr>
          <a:lstStyle/>
          <a:p>
            <a:pPr algn="l"/>
            <a:r>
              <a:rPr sz="1800" b="1" i="0">
                <a:solidFill>
                  <a:srgbClr val="1A1610"/>
                </a:solidFill>
                <a:latin typeface="Calibri"/>
              </a:rPr>
              <a:t>Fill each phase</a:t>
            </a:r>
          </a:p>
        </p:txBody>
      </p:sp>
      <p:sp>
        <p:nvSpPr>
          <p:cNvPr id="21" name="TextBox 20"/>
          <p:cNvSpPr txBox="1"/>
          <p:nvPr/>
        </p:nvSpPr>
        <p:spPr>
          <a:xfrm>
            <a:off x="8467344" y="3017520"/>
            <a:ext cx="2907791" cy="777240"/>
          </a:xfrm>
          <a:prstGeom prst="rect">
            <a:avLst/>
          </a:prstGeom>
          <a:noFill/>
        </p:spPr>
        <p:txBody>
          <a:bodyPr wrap="square" anchor="t" lIns="0" rIns="0" tIns="0" bIns="0">
            <a:spAutoFit/>
          </a:bodyPr>
          <a:lstStyle/>
          <a:p>
            <a:pPr algn="l"/>
            <a:r>
              <a:rPr sz="1400" b="0" i="0">
                <a:solidFill>
                  <a:srgbClr val="6B6050"/>
                </a:solidFill>
                <a:latin typeface="Calibri"/>
              </a:rPr>
              <a:t>Build the phase's pipeline of elements: Literal text, Generated text and Interaction.</a:t>
            </a:r>
          </a:p>
        </p:txBody>
      </p:sp>
      <p:sp>
        <p:nvSpPr>
          <p:cNvPr id="22" name="Rounded Rectangle 21"/>
          <p:cNvSpPr/>
          <p:nvPr/>
        </p:nvSpPr>
        <p:spPr>
          <a:xfrm>
            <a:off x="548640" y="4206240"/>
            <a:ext cx="3456432" cy="2148840"/>
          </a:xfrm>
          <a:prstGeom prst="roundRect">
            <a:avLst>
              <a:gd name="adj" fmla="val 6000"/>
            </a:avLst>
          </a:prstGeom>
          <a:solidFill>
            <a:srgbClr val="FAF8F4"/>
          </a:solidFill>
          <a:ln w="9525">
            <a:solidFill>
              <a:srgbClr val="DDD6C8"/>
            </a:solidFill>
          </a:ln>
        </p:spPr>
        <p:txBody>
          <a:bodyPr rtlCol="0" anchor="ctr"/>
          <a:lstStyle/>
          <a:p>
            <a:pPr algn="ctr"/>
          </a:p>
        </p:txBody>
      </p:sp>
      <p:sp>
        <p:nvSpPr>
          <p:cNvPr id="23" name="Oval 22"/>
          <p:cNvSpPr/>
          <p:nvPr/>
        </p:nvSpPr>
        <p:spPr>
          <a:xfrm>
            <a:off x="822959" y="4480559"/>
            <a:ext cx="566928" cy="566928"/>
          </a:xfrm>
          <a:prstGeom prst="ellipse">
            <a:avLst/>
          </a:prstGeom>
          <a:solidFill>
            <a:srgbClr val="7A3E1A"/>
          </a:solidFill>
          <a:ln>
            <a:noFill/>
          </a:ln>
        </p:spPr>
        <p:txBody>
          <a:bodyPr rtlCol="0" anchor="ctr"/>
          <a:lstStyle/>
          <a:p>
            <a:pPr algn="ctr"/>
          </a:p>
        </p:txBody>
      </p:sp>
      <p:pic>
        <p:nvPicPr>
          <p:cNvPr id="24" name="Picture 23" descr="image.png"/>
          <p:cNvPicPr>
            <a:picLocks noChangeAspect="1"/>
          </p:cNvPicPr>
          <p:nvPr/>
        </p:nvPicPr>
        <p:blipFill>
          <a:blip r:embed="rId5"/>
          <a:stretch>
            <a:fillRect/>
          </a:stretch>
        </p:blipFill>
        <p:spPr>
          <a:xfrm>
            <a:off x="947684" y="4605284"/>
            <a:ext cx="317479" cy="317479"/>
          </a:xfrm>
          <a:prstGeom prst="rect">
            <a:avLst/>
          </a:prstGeom>
        </p:spPr>
      </p:pic>
      <p:sp>
        <p:nvSpPr>
          <p:cNvPr id="25" name="TextBox 24"/>
          <p:cNvSpPr txBox="1"/>
          <p:nvPr/>
        </p:nvSpPr>
        <p:spPr>
          <a:xfrm>
            <a:off x="1536192" y="4480559"/>
            <a:ext cx="548640" cy="566928"/>
          </a:xfrm>
          <a:prstGeom prst="rect">
            <a:avLst/>
          </a:prstGeom>
          <a:noFill/>
        </p:spPr>
        <p:txBody>
          <a:bodyPr wrap="square" anchor="ctr" lIns="0" rIns="0" tIns="0" bIns="0">
            <a:spAutoFit/>
          </a:bodyPr>
          <a:lstStyle/>
          <a:p>
            <a:pPr algn="l"/>
            <a:r>
              <a:rPr sz="2600" b="1" i="0">
                <a:solidFill>
                  <a:srgbClr val="DDD6C8"/>
                </a:solidFill>
                <a:latin typeface="Cambria"/>
              </a:rPr>
              <a:t>4</a:t>
            </a:r>
          </a:p>
        </p:txBody>
      </p:sp>
      <p:sp>
        <p:nvSpPr>
          <p:cNvPr id="26" name="TextBox 25"/>
          <p:cNvSpPr txBox="1"/>
          <p:nvPr/>
        </p:nvSpPr>
        <p:spPr>
          <a:xfrm>
            <a:off x="822959" y="5166359"/>
            <a:ext cx="2907791" cy="365760"/>
          </a:xfrm>
          <a:prstGeom prst="rect">
            <a:avLst/>
          </a:prstGeom>
          <a:noFill/>
        </p:spPr>
        <p:txBody>
          <a:bodyPr wrap="square" anchor="t" lIns="0" rIns="0" tIns="0" bIns="0">
            <a:spAutoFit/>
          </a:bodyPr>
          <a:lstStyle/>
          <a:p>
            <a:pPr algn="l"/>
            <a:r>
              <a:rPr sz="1800" b="1" i="0">
                <a:solidFill>
                  <a:srgbClr val="1A1610"/>
                </a:solidFill>
                <a:latin typeface="Calibri"/>
              </a:rPr>
              <a:t>Guide the agents</a:t>
            </a:r>
          </a:p>
        </p:txBody>
      </p:sp>
      <p:sp>
        <p:nvSpPr>
          <p:cNvPr id="27" name="TextBox 26"/>
          <p:cNvSpPr txBox="1"/>
          <p:nvPr/>
        </p:nvSpPr>
        <p:spPr>
          <a:xfrm>
            <a:off x="822959" y="5532120"/>
            <a:ext cx="2907791" cy="777240"/>
          </a:xfrm>
          <a:prstGeom prst="rect">
            <a:avLst/>
          </a:prstGeom>
          <a:noFill/>
        </p:spPr>
        <p:txBody>
          <a:bodyPr wrap="square" anchor="t" lIns="0" rIns="0" tIns="0" bIns="0">
            <a:spAutoFit/>
          </a:bodyPr>
          <a:lstStyle/>
          <a:p>
            <a:pPr algn="l"/>
            <a:r>
              <a:rPr sz="1400" b="0" i="0">
                <a:solidFill>
                  <a:srgbClr val="6B6050"/>
                </a:solidFill>
                <a:latin typeface="Calibri"/>
              </a:rPr>
              <a:t>Attach hidden side information and strategies, insert {{fields}}, and tune the agent prompts.</a:t>
            </a:r>
          </a:p>
        </p:txBody>
      </p:sp>
      <p:sp>
        <p:nvSpPr>
          <p:cNvPr id="28" name="Rounded Rectangle 27"/>
          <p:cNvSpPr/>
          <p:nvPr/>
        </p:nvSpPr>
        <p:spPr>
          <a:xfrm>
            <a:off x="4370831" y="4206240"/>
            <a:ext cx="3456432" cy="2148840"/>
          </a:xfrm>
          <a:prstGeom prst="roundRect">
            <a:avLst>
              <a:gd name="adj" fmla="val 6000"/>
            </a:avLst>
          </a:prstGeom>
          <a:solidFill>
            <a:srgbClr val="FAF8F4"/>
          </a:solidFill>
          <a:ln w="9525">
            <a:solidFill>
              <a:srgbClr val="DDD6C8"/>
            </a:solidFill>
          </a:ln>
        </p:spPr>
        <p:txBody>
          <a:bodyPr rtlCol="0" anchor="ctr"/>
          <a:lstStyle/>
          <a:p>
            <a:pPr algn="ctr"/>
          </a:p>
        </p:txBody>
      </p:sp>
      <p:sp>
        <p:nvSpPr>
          <p:cNvPr id="29" name="Oval 28"/>
          <p:cNvSpPr/>
          <p:nvPr/>
        </p:nvSpPr>
        <p:spPr>
          <a:xfrm>
            <a:off x="4645151" y="4480559"/>
            <a:ext cx="566928" cy="566928"/>
          </a:xfrm>
          <a:prstGeom prst="ellipse">
            <a:avLst/>
          </a:prstGeom>
          <a:solidFill>
            <a:srgbClr val="7A3E1A"/>
          </a:solidFill>
          <a:ln>
            <a:noFill/>
          </a:ln>
        </p:spPr>
        <p:txBody>
          <a:bodyPr rtlCol="0" anchor="ctr"/>
          <a:lstStyle/>
          <a:p>
            <a:pPr algn="ctr"/>
          </a:p>
        </p:txBody>
      </p:sp>
      <p:pic>
        <p:nvPicPr>
          <p:cNvPr id="30" name="Picture 29" descr="image.png"/>
          <p:cNvPicPr>
            <a:picLocks noChangeAspect="1"/>
          </p:cNvPicPr>
          <p:nvPr/>
        </p:nvPicPr>
        <p:blipFill>
          <a:blip r:embed="rId6"/>
          <a:stretch>
            <a:fillRect/>
          </a:stretch>
        </p:blipFill>
        <p:spPr>
          <a:xfrm>
            <a:off x="4769876" y="4605284"/>
            <a:ext cx="317479" cy="317479"/>
          </a:xfrm>
          <a:prstGeom prst="rect">
            <a:avLst/>
          </a:prstGeom>
        </p:spPr>
      </p:pic>
      <p:sp>
        <p:nvSpPr>
          <p:cNvPr id="31" name="TextBox 30"/>
          <p:cNvSpPr txBox="1"/>
          <p:nvPr/>
        </p:nvSpPr>
        <p:spPr>
          <a:xfrm>
            <a:off x="5358383" y="4480559"/>
            <a:ext cx="548640" cy="566928"/>
          </a:xfrm>
          <a:prstGeom prst="rect">
            <a:avLst/>
          </a:prstGeom>
          <a:noFill/>
        </p:spPr>
        <p:txBody>
          <a:bodyPr wrap="square" anchor="ctr" lIns="0" rIns="0" tIns="0" bIns="0">
            <a:spAutoFit/>
          </a:bodyPr>
          <a:lstStyle/>
          <a:p>
            <a:pPr algn="l"/>
            <a:r>
              <a:rPr sz="2600" b="1" i="0">
                <a:solidFill>
                  <a:srgbClr val="DDD6C8"/>
                </a:solidFill>
                <a:latin typeface="Cambria"/>
              </a:rPr>
              <a:t>5</a:t>
            </a:r>
          </a:p>
        </p:txBody>
      </p:sp>
      <p:sp>
        <p:nvSpPr>
          <p:cNvPr id="32" name="TextBox 31"/>
          <p:cNvSpPr txBox="1"/>
          <p:nvPr/>
        </p:nvSpPr>
        <p:spPr>
          <a:xfrm>
            <a:off x="4645151" y="5166359"/>
            <a:ext cx="2907791" cy="365760"/>
          </a:xfrm>
          <a:prstGeom prst="rect">
            <a:avLst/>
          </a:prstGeom>
          <a:noFill/>
        </p:spPr>
        <p:txBody>
          <a:bodyPr wrap="square" anchor="t" lIns="0" rIns="0" tIns="0" bIns="0">
            <a:spAutoFit/>
          </a:bodyPr>
          <a:lstStyle/>
          <a:p>
            <a:pPr algn="l"/>
            <a:r>
              <a:rPr sz="1800" b="1" i="0">
                <a:solidFill>
                  <a:srgbClr val="1A1610"/>
                </a:solidFill>
                <a:latin typeface="Calibri"/>
              </a:rPr>
              <a:t>Preview and try</a:t>
            </a:r>
          </a:p>
        </p:txBody>
      </p:sp>
      <p:sp>
        <p:nvSpPr>
          <p:cNvPr id="33" name="TextBox 32"/>
          <p:cNvSpPr txBox="1"/>
          <p:nvPr/>
        </p:nvSpPr>
        <p:spPr>
          <a:xfrm>
            <a:off x="4645151" y="5532120"/>
            <a:ext cx="2907791" cy="777240"/>
          </a:xfrm>
          <a:prstGeom prst="rect">
            <a:avLst/>
          </a:prstGeom>
          <a:noFill/>
        </p:spPr>
        <p:txBody>
          <a:bodyPr wrap="square" anchor="t" lIns="0" rIns="0" tIns="0" bIns="0">
            <a:spAutoFit/>
          </a:bodyPr>
          <a:lstStyle/>
          <a:p>
            <a:pPr algn="l"/>
            <a:r>
              <a:rPr sz="1400" b="0" i="0">
                <a:solidFill>
                  <a:srgbClr val="6B6050"/>
                </a:solidFill>
                <a:latin typeface="Calibri"/>
              </a:rPr>
              <a:t>Preview shows what the student sees. Try it plays the draft, with trace notes only the author sees.</a:t>
            </a:r>
          </a:p>
        </p:txBody>
      </p:sp>
      <p:sp>
        <p:nvSpPr>
          <p:cNvPr id="34" name="Rounded Rectangle 33"/>
          <p:cNvSpPr/>
          <p:nvPr/>
        </p:nvSpPr>
        <p:spPr>
          <a:xfrm>
            <a:off x="8193023" y="4206240"/>
            <a:ext cx="3456432" cy="2148840"/>
          </a:xfrm>
          <a:prstGeom prst="roundRect">
            <a:avLst>
              <a:gd name="adj" fmla="val 6000"/>
            </a:avLst>
          </a:prstGeom>
          <a:solidFill>
            <a:srgbClr val="FAF8F4"/>
          </a:solidFill>
          <a:ln w="9525">
            <a:solidFill>
              <a:srgbClr val="DDD6C8"/>
            </a:solidFill>
          </a:ln>
        </p:spPr>
        <p:txBody>
          <a:bodyPr rtlCol="0" anchor="ctr"/>
          <a:lstStyle/>
          <a:p>
            <a:pPr algn="ctr"/>
          </a:p>
        </p:txBody>
      </p:sp>
      <p:sp>
        <p:nvSpPr>
          <p:cNvPr id="35" name="Oval 34"/>
          <p:cNvSpPr/>
          <p:nvPr/>
        </p:nvSpPr>
        <p:spPr>
          <a:xfrm>
            <a:off x="8467344" y="4480559"/>
            <a:ext cx="566928" cy="566928"/>
          </a:xfrm>
          <a:prstGeom prst="ellipse">
            <a:avLst/>
          </a:prstGeom>
          <a:solidFill>
            <a:srgbClr val="7A3E1A"/>
          </a:solidFill>
          <a:ln>
            <a:noFill/>
          </a:ln>
        </p:spPr>
        <p:txBody>
          <a:bodyPr rtlCol="0" anchor="ctr"/>
          <a:lstStyle/>
          <a:p>
            <a:pPr algn="ctr"/>
          </a:p>
        </p:txBody>
      </p:sp>
      <p:pic>
        <p:nvPicPr>
          <p:cNvPr id="36" name="Picture 35" descr="image.png"/>
          <p:cNvPicPr>
            <a:picLocks noChangeAspect="1"/>
          </p:cNvPicPr>
          <p:nvPr/>
        </p:nvPicPr>
        <p:blipFill>
          <a:blip r:embed="rId7"/>
          <a:stretch>
            <a:fillRect/>
          </a:stretch>
        </p:blipFill>
        <p:spPr>
          <a:xfrm>
            <a:off x="8592068" y="4605284"/>
            <a:ext cx="317479" cy="317479"/>
          </a:xfrm>
          <a:prstGeom prst="rect">
            <a:avLst/>
          </a:prstGeom>
        </p:spPr>
      </p:pic>
      <p:sp>
        <p:nvSpPr>
          <p:cNvPr id="37" name="TextBox 36"/>
          <p:cNvSpPr txBox="1"/>
          <p:nvPr/>
        </p:nvSpPr>
        <p:spPr>
          <a:xfrm>
            <a:off x="9180576" y="4480559"/>
            <a:ext cx="548640" cy="566928"/>
          </a:xfrm>
          <a:prstGeom prst="rect">
            <a:avLst/>
          </a:prstGeom>
          <a:noFill/>
        </p:spPr>
        <p:txBody>
          <a:bodyPr wrap="square" anchor="ctr" lIns="0" rIns="0" tIns="0" bIns="0">
            <a:spAutoFit/>
          </a:bodyPr>
          <a:lstStyle/>
          <a:p>
            <a:pPr algn="l"/>
            <a:r>
              <a:rPr sz="2600" b="1" i="0">
                <a:solidFill>
                  <a:srgbClr val="DDD6C8"/>
                </a:solidFill>
                <a:latin typeface="Cambria"/>
              </a:rPr>
              <a:t>6</a:t>
            </a:r>
          </a:p>
        </p:txBody>
      </p:sp>
      <p:sp>
        <p:nvSpPr>
          <p:cNvPr id="38" name="TextBox 37"/>
          <p:cNvSpPr txBox="1"/>
          <p:nvPr/>
        </p:nvSpPr>
        <p:spPr>
          <a:xfrm>
            <a:off x="8467344" y="5166359"/>
            <a:ext cx="2907791" cy="365760"/>
          </a:xfrm>
          <a:prstGeom prst="rect">
            <a:avLst/>
          </a:prstGeom>
          <a:noFill/>
        </p:spPr>
        <p:txBody>
          <a:bodyPr wrap="square" anchor="t" lIns="0" rIns="0" tIns="0" bIns="0">
            <a:spAutoFit/>
          </a:bodyPr>
          <a:lstStyle/>
          <a:p>
            <a:pPr algn="l"/>
            <a:r>
              <a:rPr sz="1800" b="1" i="0">
                <a:solidFill>
                  <a:srgbClr val="1A1610"/>
                </a:solidFill>
                <a:latin typeface="Calibri"/>
              </a:rPr>
              <a:t>Publish and share</a:t>
            </a:r>
          </a:p>
        </p:txBody>
      </p:sp>
      <p:sp>
        <p:nvSpPr>
          <p:cNvPr id="39" name="TextBox 38"/>
          <p:cNvSpPr txBox="1"/>
          <p:nvPr/>
        </p:nvSpPr>
        <p:spPr>
          <a:xfrm>
            <a:off x="8467344" y="5532120"/>
            <a:ext cx="2907791" cy="777240"/>
          </a:xfrm>
          <a:prstGeom prst="rect">
            <a:avLst/>
          </a:prstGeom>
          <a:noFill/>
        </p:spPr>
        <p:txBody>
          <a:bodyPr wrap="square" anchor="t" lIns="0" rIns="0" tIns="0" bIns="0">
            <a:spAutoFit/>
          </a:bodyPr>
          <a:lstStyle/>
          <a:p>
            <a:pPr algn="l"/>
            <a:r>
              <a:rPr sz="1400" b="0" i="0">
                <a:solidFill>
                  <a:srgbClr val="6B6050"/>
                </a:solidFill>
                <a:latin typeface="Calibri"/>
              </a:rPr>
              <a:t>Publish checks readiness and freezes a copy. Students play it at /vp/play/&lt;case id&gt;/.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The Activity Script</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In the editor, the script is the list of steps; each step after Welcome is a phase</a:t>
            </a:r>
          </a:p>
        </p:txBody>
      </p:sp>
      <p:pic>
        <p:nvPicPr>
          <p:cNvPr id="4" name="Picture 3" descr="script.png"/>
          <p:cNvPicPr>
            <a:picLocks noChangeAspect="1"/>
          </p:cNvPicPr>
          <p:nvPr/>
        </p:nvPicPr>
        <p:blipFill>
          <a:blip r:embed="rId2"/>
          <a:stretch>
            <a:fillRect/>
          </a:stretch>
        </p:blipFill>
        <p:spPr>
          <a:xfrm>
            <a:off x="3246120" y="1828800"/>
            <a:ext cx="5715000" cy="3201523"/>
          </a:xfrm>
          <a:prstGeom prst="rect">
            <a:avLst/>
          </a:prstGeom>
          <a:ln w="9525">
            <a:solidFill>
              <a:srgbClr val="DDD6C8"/>
            </a:solidFill>
          </a:ln>
        </p:spPr>
      </p:pic>
      <p:sp>
        <p:nvSpPr>
          <p:cNvPr id="5" name="TextBox 4"/>
          <p:cNvSpPr txBox="1"/>
          <p:nvPr/>
        </p:nvSpPr>
        <p:spPr>
          <a:xfrm>
            <a:off x="457200" y="1857366"/>
            <a:ext cx="2194560" cy="621792"/>
          </a:xfrm>
          <a:prstGeom prst="rect">
            <a:avLst/>
          </a:prstGeom>
          <a:noFill/>
        </p:spPr>
        <p:txBody>
          <a:bodyPr wrap="square" anchor="t" lIns="0" rIns="0" tIns="0" bIns="0">
            <a:spAutoFit/>
          </a:bodyPr>
          <a:lstStyle/>
          <a:p>
            <a:pPr algn="r"/>
            <a:r>
              <a:rPr sz="1300" b="1" i="0">
                <a:solidFill>
                  <a:srgbClr val="7A3E1A"/>
                </a:solidFill>
                <a:latin typeface="Courier New"/>
              </a:rPr>
              <a:t>order</a:t>
            </a:r>
          </a:p>
          <a:p>
            <a:pPr algn="r"/>
            <a:r>
              <a:rPr sz="1200" b="0" i="0">
                <a:solidFill>
                  <a:srgbClr val="6B6050"/>
                </a:solidFill>
                <a:latin typeface="Calibri"/>
              </a:rPr>
              <a:t>Steps run top to bottom, numbered from 0</a:t>
            </a:r>
          </a:p>
        </p:txBody>
      </p:sp>
      <p:cxnSp>
        <p:nvCxnSpPr>
          <p:cNvPr id="6" name="Connector 5"/>
          <p:cNvCxnSpPr/>
          <p:nvPr/>
        </p:nvCxnSpPr>
        <p:spPr>
          <a:xfrm>
            <a:off x="2816352" y="1976238"/>
            <a:ext cx="485935"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816352" y="1976238"/>
            <a:ext cx="485935"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2761488" y="1921374"/>
            <a:ext cx="109728" cy="109728"/>
          </a:xfrm>
          <a:prstGeom prst="ellipse">
            <a:avLst/>
          </a:prstGeom>
          <a:solidFill>
            <a:srgbClr val="7A3E1A"/>
          </a:solidFill>
          <a:ln>
            <a:noFill/>
          </a:ln>
        </p:spPr>
        <p:txBody>
          <a:bodyPr rtlCol="0" anchor="ctr"/>
          <a:lstStyle/>
          <a:p>
            <a:pPr algn="ctr"/>
          </a:p>
        </p:txBody>
      </p:sp>
      <p:sp>
        <p:nvSpPr>
          <p:cNvPr id="9" name="TextBox 8"/>
          <p:cNvSpPr txBox="1"/>
          <p:nvPr/>
        </p:nvSpPr>
        <p:spPr>
          <a:xfrm>
            <a:off x="457200" y="2643705"/>
            <a:ext cx="2194560" cy="621792"/>
          </a:xfrm>
          <a:prstGeom prst="rect">
            <a:avLst/>
          </a:prstGeom>
          <a:noFill/>
        </p:spPr>
        <p:txBody>
          <a:bodyPr wrap="square" anchor="t" lIns="0" rIns="0" tIns="0" bIns="0">
            <a:spAutoFit/>
          </a:bodyPr>
          <a:lstStyle/>
          <a:p>
            <a:pPr algn="r"/>
            <a:r>
              <a:rPr sz="1300" b="1" i="0">
                <a:solidFill>
                  <a:srgbClr val="7A3E1A"/>
                </a:solidFill>
                <a:latin typeface="Courier New"/>
              </a:rPr>
              <a:t>type</a:t>
            </a:r>
          </a:p>
          <a:p>
            <a:pPr algn="r"/>
            <a:r>
              <a:rPr sz="1200" b="0" i="0">
                <a:solidFill>
                  <a:srgbClr val="6B6050"/>
                </a:solidFill>
                <a:latin typeface="Calibri"/>
              </a:rPr>
              <a:t>Sets the phase banner and the answer field</a:t>
            </a:r>
          </a:p>
        </p:txBody>
      </p:sp>
      <p:cxnSp>
        <p:nvCxnSpPr>
          <p:cNvPr id="10" name="Connector 9"/>
          <p:cNvCxnSpPr/>
          <p:nvPr/>
        </p:nvCxnSpPr>
        <p:spPr>
          <a:xfrm>
            <a:off x="2816352" y="2762577"/>
            <a:ext cx="858041"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816352" y="2762577"/>
            <a:ext cx="858041"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761488" y="2707713"/>
            <a:ext cx="109728" cy="109728"/>
          </a:xfrm>
          <a:prstGeom prst="ellipse">
            <a:avLst/>
          </a:prstGeom>
          <a:solidFill>
            <a:srgbClr val="7A3E1A"/>
          </a:solidFill>
          <a:ln>
            <a:noFill/>
          </a:ln>
        </p:spPr>
        <p:txBody>
          <a:bodyPr rtlCol="0" anchor="ctr"/>
          <a:lstStyle/>
          <a:p>
            <a:pPr algn="ctr"/>
          </a:p>
        </p:txBody>
      </p:sp>
      <p:sp>
        <p:nvSpPr>
          <p:cNvPr id="13" name="TextBox 12"/>
          <p:cNvSpPr txBox="1"/>
          <p:nvPr/>
        </p:nvSpPr>
        <p:spPr>
          <a:xfrm>
            <a:off x="457200" y="3393513"/>
            <a:ext cx="2194560" cy="621792"/>
          </a:xfrm>
          <a:prstGeom prst="rect">
            <a:avLst/>
          </a:prstGeom>
          <a:noFill/>
        </p:spPr>
        <p:txBody>
          <a:bodyPr wrap="square" anchor="t" lIns="0" rIns="0" tIns="0" bIns="0">
            <a:spAutoFit/>
          </a:bodyPr>
          <a:lstStyle/>
          <a:p>
            <a:pPr algn="r"/>
            <a:r>
              <a:rPr sz="1300" b="1" i="0">
                <a:solidFill>
                  <a:srgbClr val="7A3E1A"/>
                </a:solidFill>
                <a:latin typeface="Courier New"/>
              </a:rPr>
              <a:t>title</a:t>
            </a:r>
          </a:p>
          <a:p>
            <a:pPr algn="r"/>
            <a:r>
              <a:rPr sz="1200" b="0" i="0">
                <a:solidFill>
                  <a:srgbClr val="6B6050"/>
                </a:solidFill>
                <a:latin typeface="Calibri"/>
              </a:rPr>
              <a:t>The phase name; click it to rename the step</a:t>
            </a:r>
          </a:p>
        </p:txBody>
      </p:sp>
      <p:cxnSp>
        <p:nvCxnSpPr>
          <p:cNvPr id="14" name="Connector 13"/>
          <p:cNvCxnSpPr/>
          <p:nvPr/>
        </p:nvCxnSpPr>
        <p:spPr>
          <a:xfrm flipV="1">
            <a:off x="2816352" y="3366373"/>
            <a:ext cx="1138877" cy="146012"/>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816352" y="3366373"/>
            <a:ext cx="1138877" cy="146012"/>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761488" y="3457521"/>
            <a:ext cx="109728" cy="109728"/>
          </a:xfrm>
          <a:prstGeom prst="ellipse">
            <a:avLst/>
          </a:prstGeom>
          <a:solidFill>
            <a:srgbClr val="7A3E1A"/>
          </a:solidFill>
          <a:ln>
            <a:noFill/>
          </a:ln>
        </p:spPr>
        <p:txBody>
          <a:bodyPr rtlCol="0" anchor="ctr"/>
          <a:lstStyle/>
          <a:p>
            <a:pPr algn="ctr"/>
          </a:p>
        </p:txBody>
      </p:sp>
      <p:sp>
        <p:nvSpPr>
          <p:cNvPr id="17" name="TextBox 16"/>
          <p:cNvSpPr txBox="1"/>
          <p:nvPr/>
        </p:nvSpPr>
        <p:spPr>
          <a:xfrm>
            <a:off x="457200" y="4143321"/>
            <a:ext cx="2194560" cy="621792"/>
          </a:xfrm>
          <a:prstGeom prst="rect">
            <a:avLst/>
          </a:prstGeom>
          <a:noFill/>
        </p:spPr>
        <p:txBody>
          <a:bodyPr wrap="square" anchor="t" lIns="0" rIns="0" tIns="0" bIns="0">
            <a:spAutoFit/>
          </a:bodyPr>
          <a:lstStyle/>
          <a:p>
            <a:pPr algn="r"/>
            <a:r>
              <a:rPr sz="1300" b="1" i="0">
                <a:solidFill>
                  <a:srgbClr val="7A3E1A"/>
                </a:solidFill>
                <a:latin typeface="Courier New"/>
              </a:rPr>
              <a:t>summary</a:t>
            </a:r>
          </a:p>
          <a:p>
            <a:pPr algn="r"/>
            <a:r>
              <a:rPr sz="1200" b="0" i="0">
                <a:solidFill>
                  <a:srgbClr val="6B6050"/>
                </a:solidFill>
                <a:latin typeface="Calibri"/>
              </a:rPr>
              <a:t>The step's first text, shown while collapsed</a:t>
            </a:r>
          </a:p>
        </p:txBody>
      </p:sp>
      <p:cxnSp>
        <p:nvCxnSpPr>
          <p:cNvPr id="18" name="Connector 17"/>
          <p:cNvCxnSpPr/>
          <p:nvPr/>
        </p:nvCxnSpPr>
        <p:spPr>
          <a:xfrm flipV="1">
            <a:off x="2816352" y="4177285"/>
            <a:ext cx="1181002" cy="84908"/>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816352" y="4177285"/>
            <a:ext cx="1181002" cy="84908"/>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2761488" y="4207329"/>
            <a:ext cx="109728" cy="109728"/>
          </a:xfrm>
          <a:prstGeom prst="ellipse">
            <a:avLst/>
          </a:prstGeom>
          <a:solidFill>
            <a:srgbClr val="7A3E1A"/>
          </a:solidFill>
          <a:ln>
            <a:noFill/>
          </a:ln>
        </p:spPr>
        <p:txBody>
          <a:bodyPr rtlCol="0" anchor="ctr"/>
          <a:lstStyle/>
          <a:p>
            <a:pPr algn="ctr"/>
          </a:p>
        </p:txBody>
      </p:sp>
      <p:sp>
        <p:nvSpPr>
          <p:cNvPr id="21" name="TextBox 20"/>
          <p:cNvSpPr txBox="1"/>
          <p:nvPr/>
        </p:nvSpPr>
        <p:spPr>
          <a:xfrm>
            <a:off x="457200" y="4893129"/>
            <a:ext cx="2194560" cy="621792"/>
          </a:xfrm>
          <a:prstGeom prst="rect">
            <a:avLst/>
          </a:prstGeom>
          <a:noFill/>
        </p:spPr>
        <p:txBody>
          <a:bodyPr wrap="square" anchor="t" lIns="0" rIns="0" tIns="0" bIns="0">
            <a:spAutoFit/>
          </a:bodyPr>
          <a:lstStyle/>
          <a:p>
            <a:pPr algn="r"/>
            <a:r>
              <a:rPr sz="1300" b="1" i="0">
                <a:solidFill>
                  <a:srgbClr val="7A3E1A"/>
                </a:solidFill>
                <a:latin typeface="Courier New"/>
              </a:rPr>
              <a:t>Add step here</a:t>
            </a:r>
          </a:p>
          <a:p>
            <a:pPr algn="r"/>
            <a:r>
              <a:rPr sz="1200" b="0" i="0">
                <a:solidFill>
                  <a:srgbClr val="6B6050"/>
                </a:solidFill>
                <a:latin typeface="Calibri"/>
              </a:rPr>
              <a:t>Offers only the steps the script rules allow</a:t>
            </a:r>
          </a:p>
        </p:txBody>
      </p:sp>
      <p:cxnSp>
        <p:nvCxnSpPr>
          <p:cNvPr id="22" name="Connector 21"/>
          <p:cNvCxnSpPr/>
          <p:nvPr/>
        </p:nvCxnSpPr>
        <p:spPr>
          <a:xfrm flipV="1">
            <a:off x="2816352" y="4415995"/>
            <a:ext cx="766770" cy="59600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816352" y="4415995"/>
            <a:ext cx="766770" cy="596006"/>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761488" y="4957137"/>
            <a:ext cx="109728" cy="109728"/>
          </a:xfrm>
          <a:prstGeom prst="ellipse">
            <a:avLst/>
          </a:prstGeom>
          <a:solidFill>
            <a:srgbClr val="7A3E1A"/>
          </a:solidFill>
          <a:ln>
            <a:noFill/>
          </a:ln>
        </p:spPr>
        <p:txBody>
          <a:bodyPr rtlCol="0" anchor="ctr"/>
          <a:lstStyle/>
          <a:p>
            <a:pPr algn="ctr"/>
          </a:p>
        </p:txBody>
      </p:sp>
      <p:sp>
        <p:nvSpPr>
          <p:cNvPr id="25" name="TextBox 24"/>
          <p:cNvSpPr txBox="1"/>
          <p:nvPr/>
        </p:nvSpPr>
        <p:spPr>
          <a:xfrm>
            <a:off x="457200" y="5642937"/>
            <a:ext cx="2194560" cy="621792"/>
          </a:xfrm>
          <a:prstGeom prst="rect">
            <a:avLst/>
          </a:prstGeom>
          <a:noFill/>
        </p:spPr>
        <p:txBody>
          <a:bodyPr wrap="square" anchor="t" lIns="0" rIns="0" tIns="0" bIns="0">
            <a:spAutoFit/>
          </a:bodyPr>
          <a:lstStyle/>
          <a:p>
            <a:pPr algn="r"/>
            <a:r>
              <a:rPr sz="1300" b="1" i="0">
                <a:solidFill>
                  <a:srgbClr val="7A3E1A"/>
                </a:solidFill>
                <a:latin typeface="Courier New"/>
              </a:rPr>
              <a:t>fixed ends</a:t>
            </a:r>
          </a:p>
          <a:p>
            <a:pPr algn="r"/>
            <a:r>
              <a:rPr sz="1200" b="0" i="0">
                <a:solidFill>
                  <a:srgbClr val="6B6050"/>
                </a:solidFill>
                <a:latin typeface="Calibri"/>
              </a:rPr>
              <a:t>Welcome always first, Final feedback always last</a:t>
            </a:r>
          </a:p>
        </p:txBody>
      </p:sp>
      <p:cxnSp>
        <p:nvCxnSpPr>
          <p:cNvPr id="26" name="Connector 25"/>
          <p:cNvCxnSpPr/>
          <p:nvPr/>
        </p:nvCxnSpPr>
        <p:spPr>
          <a:xfrm flipV="1">
            <a:off x="2816352" y="4809249"/>
            <a:ext cx="766770" cy="95256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816352" y="4809249"/>
            <a:ext cx="766770" cy="95256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761488" y="5706945"/>
            <a:ext cx="109728" cy="109728"/>
          </a:xfrm>
          <a:prstGeom prst="ellipse">
            <a:avLst/>
          </a:prstGeom>
          <a:solidFill>
            <a:srgbClr val="7A3E1A"/>
          </a:solidFill>
          <a:ln>
            <a:noFill/>
          </a:ln>
        </p:spPr>
        <p:txBody>
          <a:bodyPr rtlCol="0" anchor="ctr"/>
          <a:lstStyle/>
          <a:p>
            <a:pPr algn="ctr"/>
          </a:p>
        </p:txBody>
      </p:sp>
      <p:sp>
        <p:nvSpPr>
          <p:cNvPr id="29" name="TextBox 28"/>
          <p:cNvSpPr txBox="1"/>
          <p:nvPr/>
        </p:nvSpPr>
        <p:spPr>
          <a:xfrm>
            <a:off x="9555480" y="2643705"/>
            <a:ext cx="2194559" cy="621792"/>
          </a:xfrm>
          <a:prstGeom prst="rect">
            <a:avLst/>
          </a:prstGeom>
          <a:noFill/>
        </p:spPr>
        <p:txBody>
          <a:bodyPr wrap="square" anchor="t" lIns="0" rIns="0" tIns="0" bIns="0">
            <a:spAutoFit/>
          </a:bodyPr>
          <a:lstStyle/>
          <a:p>
            <a:pPr algn="l"/>
            <a:r>
              <a:rPr sz="1300" b="1" i="0">
                <a:solidFill>
                  <a:srgbClr val="7A3E1A"/>
                </a:solidFill>
                <a:latin typeface="Courier New"/>
              </a:rPr>
              <a:t>Ready</a:t>
            </a:r>
          </a:p>
          <a:p>
            <a:pPr algn="l"/>
            <a:r>
              <a:rPr sz="1200" b="0" i="0">
                <a:solidFill>
                  <a:srgbClr val="6B6050"/>
                </a:solidFill>
                <a:latin typeface="Calibri"/>
              </a:rPr>
              <a:t>Or Needs input: what publishing still needs</a:t>
            </a:r>
          </a:p>
        </p:txBody>
      </p:sp>
      <p:cxnSp>
        <p:nvCxnSpPr>
          <p:cNvPr id="30" name="Connector 29"/>
          <p:cNvCxnSpPr/>
          <p:nvPr/>
        </p:nvCxnSpPr>
        <p:spPr>
          <a:xfrm flipH="1">
            <a:off x="8392428" y="2762577"/>
            <a:ext cx="99846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392428" y="2762577"/>
            <a:ext cx="998460"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9336024" y="2707713"/>
            <a:ext cx="109728" cy="109728"/>
          </a:xfrm>
          <a:prstGeom prst="ellipse">
            <a:avLst/>
          </a:prstGeom>
          <a:solidFill>
            <a:srgbClr val="7A3E1A"/>
          </a:solidFill>
          <a:ln>
            <a:noFill/>
          </a:ln>
        </p:spPr>
        <p:txBody>
          <a:bodyPr rtlCol="0" anchor="ctr"/>
          <a:lstStyle/>
          <a:p>
            <a:pPr algn="ctr"/>
          </a:p>
        </p:txBody>
      </p:sp>
      <p:sp>
        <p:nvSpPr>
          <p:cNvPr id="33" name="TextBox 32"/>
          <p:cNvSpPr txBox="1"/>
          <p:nvPr/>
        </p:nvSpPr>
        <p:spPr>
          <a:xfrm>
            <a:off x="9555480" y="3393513"/>
            <a:ext cx="2194559" cy="621792"/>
          </a:xfrm>
          <a:prstGeom prst="rect">
            <a:avLst/>
          </a:prstGeom>
          <a:noFill/>
        </p:spPr>
        <p:txBody>
          <a:bodyPr wrap="square" anchor="t" lIns="0" rIns="0" tIns="0" bIns="0">
            <a:spAutoFit/>
          </a:bodyPr>
          <a:lstStyle/>
          <a:p>
            <a:pPr algn="l"/>
            <a:r>
              <a:rPr sz="1300" b="1" i="0">
                <a:solidFill>
                  <a:srgbClr val="7A3E1A"/>
                </a:solidFill>
                <a:latin typeface="Courier New"/>
              </a:rPr>
              <a:t>open</a:t>
            </a:r>
          </a:p>
          <a:p>
            <a:pPr algn="l"/>
            <a:r>
              <a:rPr sz="1200" b="0" i="0">
                <a:solidFill>
                  <a:srgbClr val="6B6050"/>
                </a:solidFill>
                <a:latin typeface="Calibri"/>
              </a:rPr>
              <a:t>Opens the step's pipeline of elements</a:t>
            </a:r>
          </a:p>
        </p:txBody>
      </p:sp>
      <p:cxnSp>
        <p:nvCxnSpPr>
          <p:cNvPr id="34" name="Connector 33"/>
          <p:cNvCxnSpPr/>
          <p:nvPr/>
        </p:nvCxnSpPr>
        <p:spPr>
          <a:xfrm flipH="1" flipV="1">
            <a:off x="8589013" y="3429561"/>
            <a:ext cx="801875" cy="82824"/>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9013" y="3429561"/>
            <a:ext cx="801875" cy="82824"/>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9336024" y="3457521"/>
            <a:ext cx="109728" cy="109728"/>
          </a:xfrm>
          <a:prstGeom prst="ellipse">
            <a:avLst/>
          </a:prstGeom>
          <a:solidFill>
            <a:srgbClr val="7A3E1A"/>
          </a:solidFill>
          <a:ln>
            <a:noFill/>
          </a:ln>
        </p:spPr>
        <p:txBody>
          <a:bodyPr rtlCol="0" anchor="ctr"/>
          <a:lstStyle/>
          <a:p>
            <a:pPr algn="ctr"/>
          </a:p>
        </p:txBody>
      </p:sp>
      <p:sp>
        <p:nvSpPr>
          <p:cNvPr id="37" name="TextBox 36"/>
          <p:cNvSpPr txBox="1"/>
          <p:nvPr/>
        </p:nvSpPr>
        <p:spPr>
          <a:xfrm>
            <a:off x="9555480" y="4143321"/>
            <a:ext cx="2194559" cy="621792"/>
          </a:xfrm>
          <a:prstGeom prst="rect">
            <a:avLst/>
          </a:prstGeom>
          <a:noFill/>
        </p:spPr>
        <p:txBody>
          <a:bodyPr wrap="square" anchor="t" lIns="0" rIns="0" tIns="0" bIns="0">
            <a:spAutoFit/>
          </a:bodyPr>
          <a:lstStyle/>
          <a:p>
            <a:pPr algn="l"/>
            <a:r>
              <a:rPr sz="1300" b="1" i="0">
                <a:solidFill>
                  <a:srgbClr val="7A3E1A"/>
                </a:solidFill>
                <a:latin typeface="Courier New"/>
              </a:rPr>
              <a:t>step options</a:t>
            </a:r>
          </a:p>
          <a:p>
            <a:pPr algn="l"/>
            <a:r>
              <a:rPr sz="1200" b="0" i="0">
                <a:solidFill>
                  <a:srgbClr val="6B6050"/>
                </a:solidFill>
                <a:latin typeface="Calibri"/>
              </a:rPr>
              <a:t>Move, rename or remove the step</a:t>
            </a:r>
          </a:p>
        </p:txBody>
      </p:sp>
      <p:cxnSp>
        <p:nvCxnSpPr>
          <p:cNvPr id="38" name="Connector 37"/>
          <p:cNvCxnSpPr/>
          <p:nvPr/>
        </p:nvCxnSpPr>
        <p:spPr>
          <a:xfrm flipH="1" flipV="1">
            <a:off x="8855806" y="4096545"/>
            <a:ext cx="535082" cy="165648"/>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8855806" y="4096545"/>
            <a:ext cx="535082" cy="165648"/>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9336024" y="4207329"/>
            <a:ext cx="109728" cy="109728"/>
          </a:xfrm>
          <a:prstGeom prst="ellipse">
            <a:avLst/>
          </a:prstGeom>
          <a:solidFill>
            <a:srgbClr val="7A3E1A"/>
          </a:solidFill>
          <a:ln>
            <a:noFill/>
          </a:ln>
        </p:spPr>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Step types and their rules</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Each type has a phase name, an answer field later steps can use, and a sequencing rule</a:t>
            </a:r>
          </a:p>
        </p:txBody>
      </p:sp>
      <p:sp>
        <p:nvSpPr>
          <p:cNvPr id="4" name="Rounded Rectangle 3"/>
          <p:cNvSpPr/>
          <p:nvPr/>
        </p:nvSpPr>
        <p:spPr>
          <a:xfrm>
            <a:off x="548640" y="1600200"/>
            <a:ext cx="1938528" cy="640080"/>
          </a:xfrm>
          <a:prstGeom prst="roundRect">
            <a:avLst>
              <a:gd name="adj" fmla="val 20000"/>
            </a:avLst>
          </a:prstGeom>
          <a:solidFill>
            <a:srgbClr val="7A3E1A"/>
          </a:solidFill>
          <a:ln>
            <a:noFill/>
          </a:ln>
        </p:spPr>
        <p:txBody>
          <a:bodyPr rtlCol="0" anchor="ctr"/>
          <a:lstStyle/>
          <a:p>
            <a:pPr algn="ctr"/>
          </a:p>
        </p:txBody>
      </p:sp>
      <p:sp>
        <p:nvSpPr>
          <p:cNvPr id="5" name="TextBox 4"/>
          <p:cNvSpPr txBox="1"/>
          <p:nvPr/>
        </p:nvSpPr>
        <p:spPr>
          <a:xfrm>
            <a:off x="548640" y="1600200"/>
            <a:ext cx="1938528" cy="640080"/>
          </a:xfrm>
          <a:prstGeom prst="rect">
            <a:avLst/>
          </a:prstGeom>
          <a:noFill/>
        </p:spPr>
        <p:txBody>
          <a:bodyPr wrap="square" anchor="ctr" lIns="0" rIns="0" tIns="0" bIns="0">
            <a:spAutoFit/>
          </a:bodyPr>
          <a:lstStyle/>
          <a:p>
            <a:pPr algn="ctr"/>
            <a:r>
              <a:rPr sz="1400" b="1" i="0">
                <a:solidFill>
                  <a:srgbClr val="FFFFFF"/>
                </a:solidFill>
                <a:latin typeface="Calibri"/>
              </a:rPr>
              <a:t>Welcome &amp; case 1</a:t>
            </a:r>
          </a:p>
        </p:txBody>
      </p:sp>
      <p:sp>
        <p:nvSpPr>
          <p:cNvPr id="6" name="Right Arrow 5"/>
          <p:cNvSpPr/>
          <p:nvPr/>
        </p:nvSpPr>
        <p:spPr>
          <a:xfrm>
            <a:off x="2551176" y="1783080"/>
            <a:ext cx="219456" cy="274320"/>
          </a:xfrm>
          <a:prstGeom prst="rightArrow">
            <a:avLst/>
          </a:prstGeom>
          <a:solidFill>
            <a:srgbClr val="DDD6C8"/>
          </a:solidFill>
          <a:ln>
            <a:noFill/>
          </a:ln>
        </p:spPr>
        <p:txBody>
          <a:bodyPr rtlCol="0" anchor="ctr"/>
          <a:lstStyle/>
          <a:p>
            <a:pPr algn="ctr"/>
          </a:p>
        </p:txBody>
      </p:sp>
      <p:sp>
        <p:nvSpPr>
          <p:cNvPr id="7" name="Rounded Rectangle 6"/>
          <p:cNvSpPr/>
          <p:nvPr/>
        </p:nvSpPr>
        <p:spPr>
          <a:xfrm>
            <a:off x="2839212" y="1600200"/>
            <a:ext cx="1938528" cy="640080"/>
          </a:xfrm>
          <a:prstGeom prst="roundRect">
            <a:avLst>
              <a:gd name="adj" fmla="val 20000"/>
            </a:avLst>
          </a:prstGeom>
          <a:solidFill>
            <a:srgbClr val="F0E8DE"/>
          </a:solidFill>
          <a:ln>
            <a:noFill/>
          </a:ln>
        </p:spPr>
        <p:txBody>
          <a:bodyPr rtlCol="0" anchor="ctr"/>
          <a:lstStyle/>
          <a:p>
            <a:pPr algn="ctr"/>
          </a:p>
        </p:txBody>
      </p:sp>
      <p:sp>
        <p:nvSpPr>
          <p:cNvPr id="8" name="TextBox 7"/>
          <p:cNvSpPr txBox="1"/>
          <p:nvPr/>
        </p:nvSpPr>
        <p:spPr>
          <a:xfrm>
            <a:off x="2839212" y="1600200"/>
            <a:ext cx="1938528" cy="640080"/>
          </a:xfrm>
          <a:prstGeom prst="rect">
            <a:avLst/>
          </a:prstGeom>
          <a:noFill/>
        </p:spPr>
        <p:txBody>
          <a:bodyPr wrap="square" anchor="ctr" lIns="0" rIns="0" tIns="0" bIns="0">
            <a:spAutoFit/>
          </a:bodyPr>
          <a:lstStyle/>
          <a:p>
            <a:pPr algn="ctr"/>
            <a:r>
              <a:rPr sz="1400" b="1" i="0">
                <a:solidFill>
                  <a:srgbClr val="7A3E1A"/>
                </a:solidFill>
                <a:latin typeface="Calibri"/>
              </a:rPr>
              <a:t>Knowledge activation</a:t>
            </a:r>
          </a:p>
        </p:txBody>
      </p:sp>
      <p:sp>
        <p:nvSpPr>
          <p:cNvPr id="9" name="Right Arrow 8"/>
          <p:cNvSpPr/>
          <p:nvPr/>
        </p:nvSpPr>
        <p:spPr>
          <a:xfrm>
            <a:off x="4841748" y="1783080"/>
            <a:ext cx="219456" cy="274320"/>
          </a:xfrm>
          <a:prstGeom prst="rightArrow">
            <a:avLst/>
          </a:prstGeom>
          <a:solidFill>
            <a:srgbClr val="DDD6C8"/>
          </a:solidFill>
          <a:ln>
            <a:noFill/>
          </a:ln>
        </p:spPr>
        <p:txBody>
          <a:bodyPr rtlCol="0" anchor="ctr"/>
          <a:lstStyle/>
          <a:p>
            <a:pPr algn="ctr"/>
          </a:p>
        </p:txBody>
      </p:sp>
      <p:sp>
        <p:nvSpPr>
          <p:cNvPr id="10" name="Rounded Rectangle 9"/>
          <p:cNvSpPr/>
          <p:nvPr/>
        </p:nvSpPr>
        <p:spPr>
          <a:xfrm>
            <a:off x="5129783" y="1600200"/>
            <a:ext cx="1938528" cy="640080"/>
          </a:xfrm>
          <a:prstGeom prst="roundRect">
            <a:avLst>
              <a:gd name="adj" fmla="val 20000"/>
            </a:avLst>
          </a:prstGeom>
          <a:solidFill>
            <a:srgbClr val="F0E8DE"/>
          </a:solidFill>
          <a:ln>
            <a:noFill/>
          </a:ln>
        </p:spPr>
        <p:txBody>
          <a:bodyPr rtlCol="0" anchor="ctr"/>
          <a:lstStyle/>
          <a:p>
            <a:pPr algn="ctr"/>
          </a:p>
        </p:txBody>
      </p:sp>
      <p:sp>
        <p:nvSpPr>
          <p:cNvPr id="11" name="TextBox 10"/>
          <p:cNvSpPr txBox="1"/>
          <p:nvPr/>
        </p:nvSpPr>
        <p:spPr>
          <a:xfrm>
            <a:off x="5129783" y="1600200"/>
            <a:ext cx="1938528" cy="640080"/>
          </a:xfrm>
          <a:prstGeom prst="rect">
            <a:avLst/>
          </a:prstGeom>
          <a:noFill/>
        </p:spPr>
        <p:txBody>
          <a:bodyPr wrap="square" anchor="ctr" lIns="0" rIns="0" tIns="0" bIns="0">
            <a:spAutoFit/>
          </a:bodyPr>
          <a:lstStyle/>
          <a:p>
            <a:pPr algn="ctr"/>
            <a:r>
              <a:rPr sz="1400" b="1" i="0">
                <a:solidFill>
                  <a:srgbClr val="7A3E1A"/>
                </a:solidFill>
                <a:latin typeface="Calibri"/>
              </a:rPr>
              <a:t>Explain case 1</a:t>
            </a:r>
          </a:p>
        </p:txBody>
      </p:sp>
      <p:sp>
        <p:nvSpPr>
          <p:cNvPr id="12" name="Right Arrow 11"/>
          <p:cNvSpPr/>
          <p:nvPr/>
        </p:nvSpPr>
        <p:spPr>
          <a:xfrm>
            <a:off x="7132320" y="1783080"/>
            <a:ext cx="219456" cy="274320"/>
          </a:xfrm>
          <a:prstGeom prst="rightArrow">
            <a:avLst/>
          </a:prstGeom>
          <a:solidFill>
            <a:srgbClr val="DDD6C8"/>
          </a:solidFill>
          <a:ln>
            <a:noFill/>
          </a:ln>
        </p:spPr>
        <p:txBody>
          <a:bodyPr rtlCol="0" anchor="ctr"/>
          <a:lstStyle/>
          <a:p>
            <a:pPr algn="ctr"/>
          </a:p>
        </p:txBody>
      </p:sp>
      <p:sp>
        <p:nvSpPr>
          <p:cNvPr id="13" name="Rounded Rectangle 12"/>
          <p:cNvSpPr/>
          <p:nvPr/>
        </p:nvSpPr>
        <p:spPr>
          <a:xfrm>
            <a:off x="7420356" y="1600200"/>
            <a:ext cx="1938528" cy="640080"/>
          </a:xfrm>
          <a:prstGeom prst="roundRect">
            <a:avLst>
              <a:gd name="adj" fmla="val 20000"/>
            </a:avLst>
          </a:prstGeom>
          <a:solidFill>
            <a:srgbClr val="F0E8DE"/>
          </a:solidFill>
          <a:ln>
            <a:noFill/>
          </a:ln>
        </p:spPr>
        <p:txBody>
          <a:bodyPr rtlCol="0" anchor="ctr"/>
          <a:lstStyle/>
          <a:p>
            <a:pPr algn="ctr"/>
          </a:p>
        </p:txBody>
      </p:sp>
      <p:sp>
        <p:nvSpPr>
          <p:cNvPr id="14" name="TextBox 13"/>
          <p:cNvSpPr txBox="1"/>
          <p:nvPr/>
        </p:nvSpPr>
        <p:spPr>
          <a:xfrm>
            <a:off x="7420356" y="1600200"/>
            <a:ext cx="1938528" cy="640080"/>
          </a:xfrm>
          <a:prstGeom prst="rect">
            <a:avLst/>
          </a:prstGeom>
          <a:noFill/>
        </p:spPr>
        <p:txBody>
          <a:bodyPr wrap="square" anchor="ctr" lIns="0" rIns="0" tIns="0" bIns="0">
            <a:spAutoFit/>
          </a:bodyPr>
          <a:lstStyle/>
          <a:p>
            <a:pPr algn="ctr"/>
            <a:r>
              <a:rPr sz="1400" b="1" i="0">
                <a:solidFill>
                  <a:srgbClr val="7A3E1A"/>
                </a:solidFill>
                <a:latin typeface="Calibri"/>
              </a:rPr>
              <a:t>Transfer to case 2</a:t>
            </a:r>
          </a:p>
        </p:txBody>
      </p:sp>
      <p:sp>
        <p:nvSpPr>
          <p:cNvPr id="15" name="Right Arrow 14"/>
          <p:cNvSpPr/>
          <p:nvPr/>
        </p:nvSpPr>
        <p:spPr>
          <a:xfrm>
            <a:off x="9422892" y="1783080"/>
            <a:ext cx="219456" cy="274320"/>
          </a:xfrm>
          <a:prstGeom prst="rightArrow">
            <a:avLst/>
          </a:prstGeom>
          <a:solidFill>
            <a:srgbClr val="DDD6C8"/>
          </a:solidFill>
          <a:ln>
            <a:noFill/>
          </a:ln>
        </p:spPr>
        <p:txBody>
          <a:bodyPr rtlCol="0" anchor="ctr"/>
          <a:lstStyle/>
          <a:p>
            <a:pPr algn="ctr"/>
          </a:p>
        </p:txBody>
      </p:sp>
      <p:sp>
        <p:nvSpPr>
          <p:cNvPr id="16" name="Rounded Rectangle 15"/>
          <p:cNvSpPr/>
          <p:nvPr/>
        </p:nvSpPr>
        <p:spPr>
          <a:xfrm>
            <a:off x="9710928" y="1600200"/>
            <a:ext cx="1938528" cy="640080"/>
          </a:xfrm>
          <a:prstGeom prst="roundRect">
            <a:avLst>
              <a:gd name="adj" fmla="val 20000"/>
            </a:avLst>
          </a:prstGeom>
          <a:solidFill>
            <a:srgbClr val="7A3E1A"/>
          </a:solidFill>
          <a:ln>
            <a:noFill/>
          </a:ln>
        </p:spPr>
        <p:txBody>
          <a:bodyPr rtlCol="0" anchor="ctr"/>
          <a:lstStyle/>
          <a:p>
            <a:pPr algn="ctr"/>
          </a:p>
        </p:txBody>
      </p:sp>
      <p:sp>
        <p:nvSpPr>
          <p:cNvPr id="17" name="TextBox 16"/>
          <p:cNvSpPr txBox="1"/>
          <p:nvPr/>
        </p:nvSpPr>
        <p:spPr>
          <a:xfrm>
            <a:off x="9710928" y="1600200"/>
            <a:ext cx="1938528" cy="640080"/>
          </a:xfrm>
          <a:prstGeom prst="rect">
            <a:avLst/>
          </a:prstGeom>
          <a:noFill/>
        </p:spPr>
        <p:txBody>
          <a:bodyPr wrap="square" anchor="ctr" lIns="0" rIns="0" tIns="0" bIns="0">
            <a:spAutoFit/>
          </a:bodyPr>
          <a:lstStyle/>
          <a:p>
            <a:pPr algn="ctr"/>
            <a:r>
              <a:rPr sz="1400" b="1" i="0">
                <a:solidFill>
                  <a:srgbClr val="FFFFFF"/>
                </a:solidFill>
                <a:latin typeface="Calibri"/>
              </a:rPr>
              <a:t>Final feedback</a:t>
            </a:r>
          </a:p>
        </p:txBody>
      </p:sp>
      <p:sp>
        <p:nvSpPr>
          <p:cNvPr id="18" name="TextBox 17"/>
          <p:cNvSpPr txBox="1"/>
          <p:nvPr/>
        </p:nvSpPr>
        <p:spPr>
          <a:xfrm>
            <a:off x="548640" y="2331720"/>
            <a:ext cx="11064240" cy="320040"/>
          </a:xfrm>
          <a:prstGeom prst="rect">
            <a:avLst/>
          </a:prstGeom>
          <a:noFill/>
        </p:spPr>
        <p:txBody>
          <a:bodyPr wrap="square" anchor="t" lIns="0" rIns="0" tIns="0" bIns="0">
            <a:spAutoFit/>
          </a:bodyPr>
          <a:lstStyle/>
          <a:p>
            <a:pPr algn="l"/>
            <a:r>
              <a:rPr sz="1300" b="1" i="0">
                <a:solidFill>
                  <a:srgbClr val="1A1610"/>
                </a:solidFill>
                <a:latin typeface="Calibri"/>
              </a:rPr>
              <a:t>Fixed ends: </a:t>
            </a:r>
            <a:r>
              <a:rPr sz="1300" b="0" i="0">
                <a:solidFill>
                  <a:srgbClr val="6B6050"/>
                </a:solidFill>
                <a:latin typeface="Calibri"/>
              </a:rPr>
              <a:t>Welcome first, Final feedback last.   </a:t>
            </a:r>
            <a:r>
              <a:rPr sz="1300" b="1" i="0">
                <a:solidFill>
                  <a:srgbClr val="1A1610"/>
                </a:solidFill>
                <a:latin typeface="Calibri"/>
              </a:rPr>
              <a:t>Middle: </a:t>
            </a:r>
            <a:r>
              <a:rPr sz="1300" b="0" i="0">
                <a:solidFill>
                  <a:srgbClr val="6B6050"/>
                </a:solidFill>
                <a:latin typeface="Calibri"/>
              </a:rPr>
              <a:t>pick the steps, e.g. the Recall → Explain → Transfer script above.</a:t>
            </a:r>
          </a:p>
        </p:txBody>
      </p:sp>
      <p:graphicFrame>
        <p:nvGraphicFramePr>
          <p:cNvPr id="19" name="Table 18"/>
          <p:cNvGraphicFramePr>
            <a:graphicFrameLocks noGrp="1"/>
          </p:cNvGraphicFramePr>
          <p:nvPr/>
        </p:nvGraphicFramePr>
        <p:xfrm>
          <a:off x="548640" y="2788920"/>
          <a:ext cx="7406640" cy="3383280"/>
        </p:xfrm>
        <a:graphic>
          <a:graphicData uri="http://schemas.openxmlformats.org/drawingml/2006/table">
            <a:tbl>
              <a:tblPr firstRow="1" bandRow="1">
                <a:tableStyleId>{5C22544A-7EE6-4342-B048-85BDC9FD1C3A}</a:tableStyleId>
              </a:tblPr>
              <a:tblGrid>
                <a:gridCol w="1143000"/>
                <a:gridCol w="2103120"/>
                <a:gridCol w="2148840"/>
                <a:gridCol w="2011680"/>
              </a:tblGrid>
              <a:tr h="338328">
                <a:tc>
                  <a:txBody>
                    <a:bodyPr/>
                    <a:lstStyle/>
                    <a:p>
                      <a:r>
                        <a:rPr sz="1300" b="1">
                          <a:solidFill>
                            <a:srgbClr val="FFFFFF"/>
                          </a:solidFill>
                          <a:latin typeface="Calibri"/>
                        </a:rPr>
                        <a:t>Step type</a:t>
                      </a:r>
                    </a:p>
                  </a:txBody>
                  <a:tcPr marL="73152" marR="73152" marT="18288" marB="18288" anchor="ctr">
                    <a:solidFill>
                      <a:srgbClr val="7A3E1A"/>
                    </a:solidFill>
                  </a:tcPr>
                </a:tc>
                <a:tc>
                  <a:txBody>
                    <a:bodyPr/>
                    <a:lstStyle/>
                    <a:p>
                      <a:r>
                        <a:rPr sz="1300" b="1">
                          <a:solidFill>
                            <a:srgbClr val="FFFFFF"/>
                          </a:solidFill>
                          <a:latin typeface="Calibri"/>
                        </a:rPr>
                        <a:t>Phase banner</a:t>
                      </a:r>
                    </a:p>
                  </a:txBody>
                  <a:tcPr marL="73152" marR="73152" marT="18288" marB="18288" anchor="ctr">
                    <a:solidFill>
                      <a:srgbClr val="7A3E1A"/>
                    </a:solidFill>
                  </a:tcPr>
                </a:tc>
                <a:tc>
                  <a:txBody>
                    <a:bodyPr/>
                    <a:lstStyle/>
                    <a:p>
                      <a:r>
                        <a:rPr sz="1300" b="1">
                          <a:solidFill>
                            <a:srgbClr val="FFFFFF"/>
                          </a:solidFill>
                          <a:latin typeface="Calibri"/>
                        </a:rPr>
                        <a:t>Answer field</a:t>
                      </a:r>
                    </a:p>
                  </a:txBody>
                  <a:tcPr marL="73152" marR="73152" marT="18288" marB="18288" anchor="ctr">
                    <a:solidFill>
                      <a:srgbClr val="7A3E1A"/>
                    </a:solidFill>
                  </a:tcPr>
                </a:tc>
                <a:tc>
                  <a:txBody>
                    <a:bodyPr/>
                    <a:lstStyle/>
                    <a:p>
                      <a:r>
                        <a:rPr sz="1300" b="1">
                          <a:solidFill>
                            <a:srgbClr val="FFFFFF"/>
                          </a:solidFill>
                          <a:latin typeface="Calibri"/>
                        </a:rPr>
                        <a:t>Rule</a:t>
                      </a:r>
                    </a:p>
                  </a:txBody>
                  <a:tcPr marL="73152" marR="73152" marT="18288" marB="18288" anchor="ctr">
                    <a:solidFill>
                      <a:srgbClr val="7A3E1A"/>
                    </a:solidFill>
                  </a:tcPr>
                </a:tc>
              </a:tr>
              <a:tr h="338328">
                <a:tc>
                  <a:txBody>
                    <a:bodyPr/>
                    <a:lstStyle/>
                    <a:p>
                      <a:r>
                        <a:rPr sz="1200" b="1">
                          <a:solidFill>
                            <a:srgbClr val="7A3E1A"/>
                          </a:solidFill>
                          <a:latin typeface="Courier New"/>
                        </a:rPr>
                        <a:t>welcome</a:t>
                      </a:r>
                    </a:p>
                  </a:txBody>
                  <a:tcPr marL="73152" marR="73152" marT="18288" marB="18288" anchor="ctr">
                    <a:solidFill>
                      <a:srgbClr val="FFFFFF"/>
                    </a:solidFill>
                  </a:tcPr>
                </a:tc>
                <a:tc>
                  <a:txBody>
                    <a:bodyPr/>
                    <a:lstStyle/>
                    <a:p>
                      <a:r>
                        <a:rPr sz="1300" b="0">
                          <a:solidFill>
                            <a:srgbClr val="1A1610"/>
                          </a:solidFill>
                          <a:latin typeface="Calibri"/>
                        </a:rPr>
                        <a:t>(none)</a:t>
                      </a:r>
                    </a:p>
                  </a:txBody>
                  <a:tcPr marL="73152" marR="73152" marT="18288" marB="18288" anchor="ctr">
                    <a:solidFill>
                      <a:srgbClr val="FFFFFF"/>
                    </a:solidFill>
                  </a:tcPr>
                </a:tc>
                <a:tc>
                  <a:txBody>
                    <a:bodyPr/>
                    <a:lstStyle/>
                    <a:p>
                      <a:r>
                        <a:rPr sz="1200" b="0">
                          <a:solidFill>
                            <a:srgbClr val="1A1610"/>
                          </a:solidFill>
                          <a:latin typeface="Courier New"/>
                        </a:rPr>
                        <a:t>{{welcome.answer}}</a:t>
                      </a:r>
                    </a:p>
                  </a:txBody>
                  <a:tcPr marL="73152" marR="73152" marT="18288" marB="18288" anchor="ctr">
                    <a:solidFill>
                      <a:srgbClr val="FFFFFF"/>
                    </a:solidFill>
                  </a:tcPr>
                </a:tc>
                <a:tc>
                  <a:txBody>
                    <a:bodyPr/>
                    <a:lstStyle/>
                    <a:p>
                      <a:r>
                        <a:rPr sz="1300" b="0">
                          <a:solidFill>
                            <a:srgbClr val="1A1610"/>
                          </a:solidFill>
                          <a:latin typeface="Calibri"/>
                        </a:rPr>
                        <a:t>Exactly one, first</a:t>
                      </a:r>
                    </a:p>
                  </a:txBody>
                  <a:tcPr marL="73152" marR="73152" marT="18288" marB="18288" anchor="ctr">
                    <a:solidFill>
                      <a:srgbClr val="FFFFFF"/>
                    </a:solidFill>
                  </a:tcPr>
                </a:tc>
              </a:tr>
              <a:tr h="338328">
                <a:tc>
                  <a:txBody>
                    <a:bodyPr/>
                    <a:lstStyle/>
                    <a:p>
                      <a:r>
                        <a:rPr sz="1200" b="1">
                          <a:solidFill>
                            <a:srgbClr val="7A3E1A"/>
                          </a:solidFill>
                          <a:latin typeface="Courier New"/>
                        </a:rPr>
                        <a:t>know</a:t>
                      </a:r>
                    </a:p>
                  </a:txBody>
                  <a:tcPr marL="73152" marR="73152" marT="18288" marB="18288" anchor="ctr">
                    <a:solidFill>
                      <a:srgbClr val="FAF8F4"/>
                    </a:solidFill>
                  </a:tcPr>
                </a:tc>
                <a:tc>
                  <a:txBody>
                    <a:bodyPr/>
                    <a:lstStyle/>
                    <a:p>
                      <a:r>
                        <a:rPr sz="1300" b="0">
                          <a:solidFill>
                            <a:srgbClr val="1A1610"/>
                          </a:solidFill>
                          <a:latin typeface="Calibri"/>
                        </a:rPr>
                        <a:t>Knowledge Activation</a:t>
                      </a:r>
                    </a:p>
                  </a:txBody>
                  <a:tcPr marL="73152" marR="73152" marT="18288" marB="18288" anchor="ctr">
                    <a:solidFill>
                      <a:srgbClr val="FAF8F4"/>
                    </a:solidFill>
                  </a:tcPr>
                </a:tc>
                <a:tc>
                  <a:txBody>
                    <a:bodyPr/>
                    <a:lstStyle/>
                    <a:p>
                      <a:r>
                        <a:rPr sz="1200" b="0">
                          <a:solidFill>
                            <a:srgbClr val="1A1610"/>
                          </a:solidFill>
                          <a:latin typeface="Courier New"/>
                        </a:rPr>
                        <a:t>{{knowledge.answer}}</a:t>
                      </a:r>
                    </a:p>
                  </a:txBody>
                  <a:tcPr marL="73152" marR="73152" marT="18288" marB="18288" anchor="ctr">
                    <a:solidFill>
                      <a:srgbClr val="FAF8F4"/>
                    </a:solidFill>
                  </a:tcPr>
                </a:tc>
                <a:tc>
                  <a:txBody>
                    <a:bodyPr/>
                    <a:lstStyle/>
                    <a:p>
                      <a:r>
                        <a:rPr sz="1300" b="0">
                          <a:solidFill>
                            <a:srgbClr val="1A1610"/>
                          </a:solidFill>
                          <a:latin typeface="Calibri"/>
                        </a:rPr>
                        <a:t>At most once</a:t>
                      </a:r>
                    </a:p>
                  </a:txBody>
                  <a:tcPr marL="73152" marR="73152" marT="18288" marB="18288" anchor="ctr">
                    <a:solidFill>
                      <a:srgbClr val="FAF8F4"/>
                    </a:solidFill>
                  </a:tcPr>
                </a:tc>
              </a:tr>
              <a:tr h="338328">
                <a:tc>
                  <a:txBody>
                    <a:bodyPr/>
                    <a:lstStyle/>
                    <a:p>
                      <a:r>
                        <a:rPr sz="1200" b="1">
                          <a:solidFill>
                            <a:srgbClr val="7A3E1A"/>
                          </a:solidFill>
                          <a:latin typeface="Courier New"/>
                        </a:rPr>
                        <a:t>explain</a:t>
                      </a:r>
                    </a:p>
                  </a:txBody>
                  <a:tcPr marL="73152" marR="73152" marT="18288" marB="18288" anchor="ctr">
                    <a:solidFill>
                      <a:srgbClr val="FFFFFF"/>
                    </a:solidFill>
                  </a:tcPr>
                </a:tc>
                <a:tc>
                  <a:txBody>
                    <a:bodyPr/>
                    <a:lstStyle/>
                    <a:p>
                      <a:r>
                        <a:rPr sz="1300" b="0">
                          <a:solidFill>
                            <a:srgbClr val="1A1610"/>
                          </a:solidFill>
                          <a:latin typeface="Calibri"/>
                        </a:rPr>
                        <a:t>Narrative Construction</a:t>
                      </a:r>
                    </a:p>
                  </a:txBody>
                  <a:tcPr marL="73152" marR="73152" marT="18288" marB="18288" anchor="ctr">
                    <a:solidFill>
                      <a:srgbClr val="FFFFFF"/>
                    </a:solidFill>
                  </a:tcPr>
                </a:tc>
                <a:tc>
                  <a:txBody>
                    <a:bodyPr/>
                    <a:lstStyle/>
                    <a:p>
                      <a:r>
                        <a:rPr sz="1200" b="0">
                          <a:solidFill>
                            <a:srgbClr val="1A1610"/>
                          </a:solidFill>
                          <a:latin typeface="Courier New"/>
                        </a:rPr>
                        <a:t>{{case1.answer}}</a:t>
                      </a:r>
                    </a:p>
                  </a:txBody>
                  <a:tcPr marL="73152" marR="73152" marT="18288" marB="18288" anchor="ctr">
                    <a:solidFill>
                      <a:srgbClr val="FFFFFF"/>
                    </a:solidFill>
                  </a:tcPr>
                </a:tc>
                <a:tc>
                  <a:txBody>
                    <a:bodyPr/>
                    <a:lstStyle/>
                    <a:p>
                      <a:r>
                        <a:rPr sz="1300" b="0">
                          <a:solidFill>
                            <a:srgbClr val="1A1610"/>
                          </a:solidFill>
                          <a:latin typeface="Calibri"/>
                        </a:rPr>
                        <a:t>At most once</a:t>
                      </a:r>
                    </a:p>
                  </a:txBody>
                  <a:tcPr marL="73152" marR="73152" marT="18288" marB="18288" anchor="ctr">
                    <a:solidFill>
                      <a:srgbClr val="FFFFFF"/>
                    </a:solidFill>
                  </a:tcPr>
                </a:tc>
              </a:tr>
              <a:tr h="338328">
                <a:tc>
                  <a:txBody>
                    <a:bodyPr/>
                    <a:lstStyle/>
                    <a:p>
                      <a:r>
                        <a:rPr sz="1200" b="1">
                          <a:solidFill>
                            <a:srgbClr val="7A3E1A"/>
                          </a:solidFill>
                          <a:latin typeface="Courier New"/>
                        </a:rPr>
                        <a:t>assess</a:t>
                      </a:r>
                    </a:p>
                  </a:txBody>
                  <a:tcPr marL="73152" marR="73152" marT="18288" marB="18288" anchor="ctr">
                    <a:solidFill>
                      <a:srgbClr val="FAF8F4"/>
                    </a:solidFill>
                  </a:tcPr>
                </a:tc>
                <a:tc>
                  <a:txBody>
                    <a:bodyPr/>
                    <a:lstStyle/>
                    <a:p>
                      <a:r>
                        <a:rPr sz="1300" b="0">
                          <a:solidFill>
                            <a:srgbClr val="1A1610"/>
                          </a:solidFill>
                          <a:latin typeface="Calibri"/>
                        </a:rPr>
                        <a:t>Assessment</a:t>
                      </a:r>
                    </a:p>
                  </a:txBody>
                  <a:tcPr marL="73152" marR="73152" marT="18288" marB="18288" anchor="ctr">
                    <a:solidFill>
                      <a:srgbClr val="FAF8F4"/>
                    </a:solidFill>
                  </a:tcPr>
                </a:tc>
                <a:tc>
                  <a:txBody>
                    <a:bodyPr/>
                    <a:lstStyle/>
                    <a:p>
                      <a:r>
                        <a:rPr sz="1200" b="0">
                          <a:solidFill>
                            <a:srgbClr val="1A1610"/>
                          </a:solidFill>
                          <a:latin typeface="Courier New"/>
                        </a:rPr>
                        <a:t>{{assessment.answer}}</a:t>
                      </a:r>
                    </a:p>
                  </a:txBody>
                  <a:tcPr marL="73152" marR="73152" marT="18288" marB="18288" anchor="ctr">
                    <a:solidFill>
                      <a:srgbClr val="FAF8F4"/>
                    </a:solidFill>
                  </a:tcPr>
                </a:tc>
                <a:tc>
                  <a:txBody>
                    <a:bodyPr/>
                    <a:lstStyle/>
                    <a:p>
                      <a:r>
                        <a:rPr sz="1300" b="0">
                          <a:solidFill>
                            <a:srgbClr val="1A1610"/>
                          </a:solidFill>
                          <a:latin typeface="Calibri"/>
                        </a:rPr>
                        <a:t>After explain</a:t>
                      </a:r>
                    </a:p>
                  </a:txBody>
                  <a:tcPr marL="73152" marR="73152" marT="18288" marB="18288" anchor="ctr">
                    <a:solidFill>
                      <a:srgbClr val="FAF8F4"/>
                    </a:solidFill>
                  </a:tcPr>
                </a:tc>
              </a:tr>
              <a:tr h="338328">
                <a:tc>
                  <a:txBody>
                    <a:bodyPr/>
                    <a:lstStyle/>
                    <a:p>
                      <a:r>
                        <a:rPr sz="1200" b="1">
                          <a:solidFill>
                            <a:srgbClr val="7A3E1A"/>
                          </a:solidFill>
                          <a:latin typeface="Courier New"/>
                        </a:rPr>
                        <a:t>transfer</a:t>
                      </a:r>
                    </a:p>
                  </a:txBody>
                  <a:tcPr marL="73152" marR="73152" marT="18288" marB="18288" anchor="ctr">
                    <a:solidFill>
                      <a:srgbClr val="FFFFFF"/>
                    </a:solidFill>
                  </a:tcPr>
                </a:tc>
                <a:tc>
                  <a:txBody>
                    <a:bodyPr/>
                    <a:lstStyle/>
                    <a:p>
                      <a:r>
                        <a:rPr sz="1300" b="0">
                          <a:solidFill>
                            <a:srgbClr val="1A1610"/>
                          </a:solidFill>
                          <a:latin typeface="Calibri"/>
                        </a:rPr>
                        <a:t>Reasoning Transfer</a:t>
                      </a:r>
                    </a:p>
                  </a:txBody>
                  <a:tcPr marL="73152" marR="73152" marT="18288" marB="18288" anchor="ctr">
                    <a:solidFill>
                      <a:srgbClr val="FFFFFF"/>
                    </a:solidFill>
                  </a:tcPr>
                </a:tc>
                <a:tc>
                  <a:txBody>
                    <a:bodyPr/>
                    <a:lstStyle/>
                    <a:p>
                      <a:r>
                        <a:rPr sz="1200" b="0">
                          <a:solidFill>
                            <a:srgbClr val="1A1610"/>
                          </a:solidFill>
                          <a:latin typeface="Courier New"/>
                        </a:rPr>
                        <a:t>{{caseN.answer}}</a:t>
                      </a:r>
                    </a:p>
                  </a:txBody>
                  <a:tcPr marL="73152" marR="73152" marT="18288" marB="18288" anchor="ctr">
                    <a:solidFill>
                      <a:srgbClr val="FFFFFF"/>
                    </a:solidFill>
                  </a:tcPr>
                </a:tc>
                <a:tc>
                  <a:txBody>
                    <a:bodyPr/>
                    <a:lstStyle/>
                    <a:p>
                      <a:r>
                        <a:rPr sz="1300" b="0">
                          <a:solidFill>
                            <a:srgbClr val="1A1610"/>
                          </a:solidFill>
                          <a:latin typeface="Calibri"/>
                        </a:rPr>
                        <a:t>After explain; N = 2, 3, …</a:t>
                      </a:r>
                    </a:p>
                  </a:txBody>
                  <a:tcPr marL="73152" marR="73152" marT="18288" marB="18288" anchor="ctr">
                    <a:solidFill>
                      <a:srgbClr val="FFFFFF"/>
                    </a:solidFill>
                  </a:tcPr>
                </a:tc>
              </a:tr>
              <a:tr h="338328">
                <a:tc>
                  <a:txBody>
                    <a:bodyPr/>
                    <a:lstStyle/>
                    <a:p>
                      <a:r>
                        <a:rPr sz="1200" b="1">
                          <a:solidFill>
                            <a:srgbClr val="7A3E1A"/>
                          </a:solidFill>
                          <a:latin typeface="Courier New"/>
                        </a:rPr>
                        <a:t>interview</a:t>
                      </a:r>
                    </a:p>
                  </a:txBody>
                  <a:tcPr marL="73152" marR="73152" marT="18288" marB="18288" anchor="ctr">
                    <a:solidFill>
                      <a:srgbClr val="FAF8F4"/>
                    </a:solidFill>
                  </a:tcPr>
                </a:tc>
                <a:tc>
                  <a:txBody>
                    <a:bodyPr/>
                    <a:lstStyle/>
                    <a:p>
                      <a:r>
                        <a:rPr sz="1300" b="0">
                          <a:solidFill>
                            <a:srgbClr val="1A1610"/>
                          </a:solidFill>
                          <a:latin typeface="Calibri"/>
                        </a:rPr>
                        <a:t>Patient Interview</a:t>
                      </a:r>
                    </a:p>
                  </a:txBody>
                  <a:tcPr marL="73152" marR="73152" marT="18288" marB="18288" anchor="ctr">
                    <a:solidFill>
                      <a:srgbClr val="FAF8F4"/>
                    </a:solidFill>
                  </a:tcPr>
                </a:tc>
                <a:tc>
                  <a:txBody>
                    <a:bodyPr/>
                    <a:lstStyle/>
                    <a:p>
                      <a:r>
                        <a:rPr sz="1200" b="0">
                          <a:solidFill>
                            <a:srgbClr val="1A1610"/>
                          </a:solidFill>
                          <a:latin typeface="Courier New"/>
                        </a:rPr>
                        <a:t>{{interview.answer}}</a:t>
                      </a:r>
                    </a:p>
                  </a:txBody>
                  <a:tcPr marL="73152" marR="73152" marT="18288" marB="18288" anchor="ctr">
                    <a:solidFill>
                      <a:srgbClr val="FAF8F4"/>
                    </a:solidFill>
                  </a:tcPr>
                </a:tc>
                <a:tc>
                  <a:txBody>
                    <a:bodyPr/>
                    <a:lstStyle/>
                    <a:p>
                      <a:r>
                        <a:rPr sz="1300" b="0">
                          <a:solidFill>
                            <a:srgbClr val="1A1610"/>
                          </a:solidFill>
                          <a:latin typeface="Calibri"/>
                        </a:rPr>
                        <a:t>At most once</a:t>
                      </a:r>
                    </a:p>
                  </a:txBody>
                  <a:tcPr marL="73152" marR="73152" marT="18288" marB="18288" anchor="ctr">
                    <a:solidFill>
                      <a:srgbClr val="FAF8F4"/>
                    </a:solidFill>
                  </a:tcPr>
                </a:tc>
              </a:tr>
              <a:tr h="338328">
                <a:tc>
                  <a:txBody>
                    <a:bodyPr/>
                    <a:lstStyle/>
                    <a:p>
                      <a:r>
                        <a:rPr sz="1200" b="1">
                          <a:solidFill>
                            <a:srgbClr val="7A3E1A"/>
                          </a:solidFill>
                          <a:latin typeface="Courier New"/>
                        </a:rPr>
                        <a:t>reflect</a:t>
                      </a:r>
                    </a:p>
                  </a:txBody>
                  <a:tcPr marL="73152" marR="73152" marT="18288" marB="18288" anchor="ctr">
                    <a:solidFill>
                      <a:srgbClr val="FFFFFF"/>
                    </a:solidFill>
                  </a:tcPr>
                </a:tc>
                <a:tc>
                  <a:txBody>
                    <a:bodyPr/>
                    <a:lstStyle/>
                    <a:p>
                      <a:r>
                        <a:rPr sz="1300" b="0">
                          <a:solidFill>
                            <a:srgbClr val="1A1610"/>
                          </a:solidFill>
                          <a:latin typeface="Calibri"/>
                        </a:rPr>
                        <a:t>Reflection</a:t>
                      </a:r>
                    </a:p>
                  </a:txBody>
                  <a:tcPr marL="73152" marR="73152" marT="18288" marB="18288" anchor="ctr">
                    <a:solidFill>
                      <a:srgbClr val="FFFFFF"/>
                    </a:solidFill>
                  </a:tcPr>
                </a:tc>
                <a:tc>
                  <a:txBody>
                    <a:bodyPr/>
                    <a:lstStyle/>
                    <a:p>
                      <a:r>
                        <a:rPr sz="1200" b="0">
                          <a:solidFill>
                            <a:srgbClr val="1A1610"/>
                          </a:solidFill>
                          <a:latin typeface="Courier New"/>
                        </a:rPr>
                        <a:t>{{reflection.answer}}</a:t>
                      </a:r>
                    </a:p>
                  </a:txBody>
                  <a:tcPr marL="73152" marR="73152" marT="18288" marB="18288" anchor="ctr">
                    <a:solidFill>
                      <a:srgbClr val="FFFFFF"/>
                    </a:solidFill>
                  </a:tcPr>
                </a:tc>
                <a:tc>
                  <a:txBody>
                    <a:bodyPr/>
                    <a:lstStyle/>
                    <a:p>
                      <a:r>
                        <a:rPr sz="1300" b="0">
                          <a:solidFill>
                            <a:srgbClr val="1A1610"/>
                          </a:solidFill>
                          <a:latin typeface="Calibri"/>
                        </a:rPr>
                        <a:t>Once</a:t>
                      </a:r>
                    </a:p>
                  </a:txBody>
                  <a:tcPr marL="73152" marR="73152" marT="18288" marB="18288" anchor="ctr">
                    <a:solidFill>
                      <a:srgbClr val="FFFFFF"/>
                    </a:solidFill>
                  </a:tcPr>
                </a:tc>
              </a:tr>
              <a:tr h="338328">
                <a:tc>
                  <a:txBody>
                    <a:bodyPr/>
                    <a:lstStyle/>
                    <a:p>
                      <a:r>
                        <a:rPr sz="1200" b="1">
                          <a:solidFill>
                            <a:srgbClr val="7A3E1A"/>
                          </a:solidFill>
                          <a:latin typeface="Courier New"/>
                        </a:rPr>
                        <a:t>custom</a:t>
                      </a:r>
                    </a:p>
                  </a:txBody>
                  <a:tcPr marL="73152" marR="73152" marT="18288" marB="18288" anchor="ctr">
                    <a:solidFill>
                      <a:srgbClr val="FAF8F4"/>
                    </a:solidFill>
                  </a:tcPr>
                </a:tc>
                <a:tc>
                  <a:txBody>
                    <a:bodyPr/>
                    <a:lstStyle/>
                    <a:p>
                      <a:r>
                        <a:rPr sz="1300" b="0">
                          <a:solidFill>
                            <a:srgbClr val="1A1610"/>
                          </a:solidFill>
                          <a:latin typeface="Calibri"/>
                        </a:rPr>
                        <a:t>Its own title</a:t>
                      </a:r>
                    </a:p>
                  </a:txBody>
                  <a:tcPr marL="73152" marR="73152" marT="18288" marB="18288" anchor="ctr">
                    <a:solidFill>
                      <a:srgbClr val="FAF8F4"/>
                    </a:solidFill>
                  </a:tcPr>
                </a:tc>
                <a:tc>
                  <a:txBody>
                    <a:bodyPr/>
                    <a:lstStyle/>
                    <a:p>
                      <a:r>
                        <a:rPr sz="1200" b="0">
                          <a:solidFill>
                            <a:srgbClr val="1A1610"/>
                          </a:solidFill>
                          <a:latin typeface="Courier New"/>
                        </a:rPr>
                        <a:t>{{&lt;key&gt;.answer}}</a:t>
                      </a:r>
                    </a:p>
                  </a:txBody>
                  <a:tcPr marL="73152" marR="73152" marT="18288" marB="18288" anchor="ctr">
                    <a:solidFill>
                      <a:srgbClr val="FAF8F4"/>
                    </a:solidFill>
                  </a:tcPr>
                </a:tc>
                <a:tc>
                  <a:txBody>
                    <a:bodyPr/>
                    <a:lstStyle/>
                    <a:p>
                      <a:r>
                        <a:rPr sz="1300" b="0">
                          <a:solidFill>
                            <a:srgbClr val="1A1610"/>
                          </a:solidFill>
                          <a:latin typeface="Calibri"/>
                        </a:rPr>
                        <a:t>Unique answer key</a:t>
                      </a:r>
                    </a:p>
                  </a:txBody>
                  <a:tcPr marL="73152" marR="73152" marT="18288" marB="18288" anchor="ctr">
                    <a:solidFill>
                      <a:srgbClr val="FAF8F4"/>
                    </a:solidFill>
                  </a:tcPr>
                </a:tc>
              </a:tr>
              <a:tr h="338328">
                <a:tc>
                  <a:txBody>
                    <a:bodyPr/>
                    <a:lstStyle/>
                    <a:p>
                      <a:r>
                        <a:rPr sz="1200" b="1">
                          <a:solidFill>
                            <a:srgbClr val="7A3E1A"/>
                          </a:solidFill>
                          <a:latin typeface="Courier New"/>
                        </a:rPr>
                        <a:t>final</a:t>
                      </a:r>
                    </a:p>
                  </a:txBody>
                  <a:tcPr marL="73152" marR="73152" marT="18288" marB="18288" anchor="ctr">
                    <a:solidFill>
                      <a:srgbClr val="FFFFFF"/>
                    </a:solidFill>
                  </a:tcPr>
                </a:tc>
                <a:tc>
                  <a:txBody>
                    <a:bodyPr/>
                    <a:lstStyle/>
                    <a:p>
                      <a:r>
                        <a:rPr sz="1300" b="0">
                          <a:solidFill>
                            <a:srgbClr val="1A1610"/>
                          </a:solidFill>
                          <a:latin typeface="Calibri"/>
                        </a:rPr>
                        <a:t>(none)</a:t>
                      </a:r>
                    </a:p>
                  </a:txBody>
                  <a:tcPr marL="73152" marR="73152" marT="18288" marB="18288" anchor="ctr">
                    <a:solidFill>
                      <a:srgbClr val="FFFFFF"/>
                    </a:solidFill>
                  </a:tcPr>
                </a:tc>
                <a:tc>
                  <a:txBody>
                    <a:bodyPr/>
                    <a:lstStyle/>
                    <a:p>
                      <a:r>
                        <a:rPr sz="1200" b="0">
                          <a:solidFill>
                            <a:srgbClr val="1A1610"/>
                          </a:solidFill>
                          <a:latin typeface="Courier New"/>
                        </a:rPr>
                        <a:t>(none)</a:t>
                      </a:r>
                    </a:p>
                  </a:txBody>
                  <a:tcPr marL="73152" marR="73152" marT="18288" marB="18288" anchor="ctr">
                    <a:solidFill>
                      <a:srgbClr val="FFFFFF"/>
                    </a:solidFill>
                  </a:tcPr>
                </a:tc>
                <a:tc>
                  <a:txBody>
                    <a:bodyPr/>
                    <a:lstStyle/>
                    <a:p>
                      <a:r>
                        <a:rPr sz="1300" b="0">
                          <a:solidFill>
                            <a:srgbClr val="1A1610"/>
                          </a:solidFill>
                          <a:latin typeface="Calibri"/>
                        </a:rPr>
                        <a:t>Exactly one, last</a:t>
                      </a:r>
                    </a:p>
                  </a:txBody>
                  <a:tcPr marL="73152" marR="73152" marT="18288" marB="18288" anchor="ctr">
                    <a:solidFill>
                      <a:srgbClr val="FFFFFF"/>
                    </a:solidFill>
                  </a:tcPr>
                </a:tc>
              </a:tr>
            </a:tbl>
          </a:graphicData>
        </a:graphic>
      </p:graphicFrame>
      <p:sp>
        <p:nvSpPr>
          <p:cNvPr id="20" name="Rounded Rectangle 19"/>
          <p:cNvSpPr/>
          <p:nvPr/>
        </p:nvSpPr>
        <p:spPr>
          <a:xfrm>
            <a:off x="8229600" y="2788920"/>
            <a:ext cx="3410712" cy="3383280"/>
          </a:xfrm>
          <a:prstGeom prst="roundRect">
            <a:avLst>
              <a:gd name="adj" fmla="val 5000"/>
            </a:avLst>
          </a:prstGeom>
          <a:solidFill>
            <a:srgbClr val="FAF8F4"/>
          </a:solidFill>
          <a:ln w="9525">
            <a:solidFill>
              <a:srgbClr val="DDD6C8"/>
            </a:solidFill>
          </a:ln>
        </p:spPr>
        <p:txBody>
          <a:bodyPr rtlCol="0" anchor="ctr"/>
          <a:lstStyle/>
          <a:p>
            <a:pPr algn="ctr"/>
          </a:p>
        </p:txBody>
      </p:sp>
      <p:sp>
        <p:nvSpPr>
          <p:cNvPr id="21" name="TextBox 20"/>
          <p:cNvSpPr txBox="1"/>
          <p:nvPr/>
        </p:nvSpPr>
        <p:spPr>
          <a:xfrm>
            <a:off x="8458200" y="2971800"/>
            <a:ext cx="3017520" cy="365760"/>
          </a:xfrm>
          <a:prstGeom prst="rect">
            <a:avLst/>
          </a:prstGeom>
          <a:noFill/>
        </p:spPr>
        <p:txBody>
          <a:bodyPr wrap="square" anchor="t" lIns="0" rIns="0" tIns="0" bIns="0">
            <a:spAutoFit/>
          </a:bodyPr>
          <a:lstStyle/>
          <a:p>
            <a:pPr algn="l"/>
            <a:r>
              <a:rPr sz="1600" b="1" i="0">
                <a:solidFill>
                  <a:srgbClr val="1A1610"/>
                </a:solidFill>
                <a:latin typeface="Calibri"/>
              </a:rPr>
              <a:t>The case also holds</a:t>
            </a:r>
          </a:p>
        </p:txBody>
      </p:sp>
      <p:sp>
        <p:nvSpPr>
          <p:cNvPr id="22" name="TextBox 21"/>
          <p:cNvSpPr txBox="1"/>
          <p:nvPr/>
        </p:nvSpPr>
        <p:spPr>
          <a:xfrm>
            <a:off x="8458200" y="3429000"/>
            <a:ext cx="3017520" cy="2743200"/>
          </a:xfrm>
          <a:prstGeom prst="rect">
            <a:avLst/>
          </a:prstGeom>
          <a:noFill/>
        </p:spPr>
        <p:txBody>
          <a:bodyPr wrap="square" anchor="t" lIns="0" rIns="0" tIns="0" bIns="0">
            <a:spAutoFit/>
          </a:bodyPr>
          <a:lstStyle/>
          <a:p>
            <a:pPr algn="l">
              <a:spcAft>
                <a:spcPts val="200"/>
              </a:spcAft>
            </a:pPr>
            <a:r>
              <a:rPr sz="1300" b="1" i="0">
                <a:solidFill>
                  <a:srgbClr val="7A3E1A"/>
                </a:solidFill>
                <a:latin typeface="Courier New"/>
              </a:rPr>
              <a:t>title</a:t>
            </a:r>
          </a:p>
          <a:p>
            <a:pPr algn="l">
              <a:spcAft>
                <a:spcPts val="200"/>
              </a:spcAft>
            </a:pPr>
            <a:r>
              <a:rPr sz="1300" b="0" i="0">
                <a:solidFill>
                  <a:srgbClr val="6B6050"/>
                </a:solidFill>
                <a:latin typeface="Calibri"/>
              </a:rPr>
              <a:t>The activity's name</a:t>
            </a:r>
          </a:p>
          <a:p>
            <a:pPr algn="l">
              <a:spcAft>
                <a:spcPts val="200"/>
              </a:spcAft>
            </a:pPr>
            <a:r>
              <a:rPr sz="1300" b="1" i="0">
                <a:solidFill>
                  <a:srgbClr val="7A3E1A"/>
                </a:solidFill>
                <a:latin typeface="Courier New"/>
              </a:rPr>
              <a:t>settings</a:t>
            </a:r>
          </a:p>
          <a:p>
            <a:pPr algn="l">
              <a:spcAft>
                <a:spcPts val="200"/>
              </a:spcAft>
            </a:pPr>
            <a:r>
              <a:rPr sz="1300" b="0" i="0">
                <a:solidFill>
                  <a:srgbClr val="6B6050"/>
                </a:solidFill>
                <a:latin typeface="Calibri"/>
              </a:rPr>
              <a:t>Student level (4 / 3 / 2 hints per point), progress bar</a:t>
            </a:r>
          </a:p>
          <a:p>
            <a:pPr algn="l">
              <a:spcAft>
                <a:spcPts val="200"/>
              </a:spcAft>
            </a:pPr>
            <a:r>
              <a:rPr sz="1300" b="1" i="0">
                <a:solidFill>
                  <a:srgbClr val="7A3E1A"/>
                </a:solidFill>
                <a:latin typeface="Courier New"/>
              </a:rPr>
              <a:t>agentPrompts</a:t>
            </a:r>
          </a:p>
          <a:p>
            <a:pPr algn="l">
              <a:spcAft>
                <a:spcPts val="200"/>
              </a:spcAft>
            </a:pPr>
            <a:r>
              <a:rPr sz="1300" b="0" i="0">
                <a:solidFill>
                  <a:srgbClr val="6B6050"/>
                </a:solidFill>
                <a:latin typeface="Calibri"/>
              </a:rPr>
              <a:t>Tutor persona, patient persona, guardrails</a:t>
            </a:r>
          </a:p>
          <a:p>
            <a:pPr algn="l">
              <a:spcAft>
                <a:spcPts val="200"/>
              </a:spcAft>
            </a:pPr>
            <a:r>
              <a:rPr sz="1300" b="1" i="0">
                <a:solidFill>
                  <a:srgbClr val="7A3E1A"/>
                </a:solidFill>
                <a:latin typeface="Courier New"/>
              </a:rPr>
              <a:t>strategyPrompts</a:t>
            </a:r>
          </a:p>
          <a:p>
            <a:pPr algn="l">
              <a:spcAft>
                <a:spcPts val="200"/>
              </a:spcAft>
            </a:pPr>
            <a:r>
              <a:rPr sz="1300" b="0" i="0">
                <a:solidFill>
                  <a:srgbClr val="6B6050"/>
                </a:solidFill>
                <a:latin typeface="Calibri"/>
              </a:rPr>
              <a:t>One instruction per strategy used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Structure of a phase</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A step opens into its pipeline: elements that run top to bottom, then the answer it records</a:t>
            </a:r>
          </a:p>
        </p:txBody>
      </p:sp>
      <p:pic>
        <p:nvPicPr>
          <p:cNvPr id="4" name="Picture 3" descr="phase.png"/>
          <p:cNvPicPr>
            <a:picLocks noChangeAspect="1"/>
          </p:cNvPicPr>
          <p:nvPr/>
        </p:nvPicPr>
        <p:blipFill>
          <a:blip r:embed="rId2"/>
          <a:stretch>
            <a:fillRect/>
          </a:stretch>
        </p:blipFill>
        <p:spPr>
          <a:xfrm>
            <a:off x="4069080" y="1600200"/>
            <a:ext cx="4164838" cy="4983480"/>
          </a:xfrm>
          <a:prstGeom prst="rect">
            <a:avLst/>
          </a:prstGeom>
          <a:ln w="9525">
            <a:solidFill>
              <a:srgbClr val="DDD6C8"/>
            </a:solidFill>
          </a:ln>
        </p:spPr>
      </p:pic>
      <p:sp>
        <p:nvSpPr>
          <p:cNvPr id="5" name="TextBox 4"/>
          <p:cNvSpPr txBox="1"/>
          <p:nvPr/>
        </p:nvSpPr>
        <p:spPr>
          <a:xfrm>
            <a:off x="457200" y="1600199"/>
            <a:ext cx="3017520" cy="434340"/>
          </a:xfrm>
          <a:prstGeom prst="rect">
            <a:avLst/>
          </a:prstGeom>
          <a:noFill/>
        </p:spPr>
        <p:txBody>
          <a:bodyPr wrap="square" anchor="t" lIns="0" rIns="0" tIns="0" bIns="0">
            <a:spAutoFit/>
          </a:bodyPr>
          <a:lstStyle/>
          <a:p>
            <a:pPr algn="r"/>
            <a:r>
              <a:rPr sz="1300" b="1" i="0">
                <a:solidFill>
                  <a:srgbClr val="7A3E1A"/>
                </a:solidFill>
                <a:latin typeface="Courier New"/>
              </a:rPr>
              <a:t>position</a:t>
            </a:r>
          </a:p>
          <a:p>
            <a:pPr algn="r"/>
            <a:r>
              <a:rPr sz="1200" b="0" i="0">
                <a:solidFill>
                  <a:srgbClr val="6B6050"/>
                </a:solidFill>
                <a:latin typeface="Calibri"/>
              </a:rPr>
              <a:t>Phase 2 of the script</a:t>
            </a:r>
          </a:p>
        </p:txBody>
      </p:sp>
      <p:cxnSp>
        <p:nvCxnSpPr>
          <p:cNvPr id="6" name="Connector 5"/>
          <p:cNvCxnSpPr/>
          <p:nvPr/>
        </p:nvCxnSpPr>
        <p:spPr>
          <a:xfrm flipV="1">
            <a:off x="3639311" y="1707646"/>
            <a:ext cx="470701" cy="11425"/>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3639311" y="1707646"/>
            <a:ext cx="470701" cy="11425"/>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584447" y="1664207"/>
            <a:ext cx="109728" cy="109728"/>
          </a:xfrm>
          <a:prstGeom prst="ellipse">
            <a:avLst/>
          </a:prstGeom>
          <a:solidFill>
            <a:srgbClr val="7A3E1A"/>
          </a:solidFill>
          <a:ln>
            <a:noFill/>
          </a:ln>
        </p:spPr>
        <p:txBody>
          <a:bodyPr rtlCol="0" anchor="ctr"/>
          <a:lstStyle/>
          <a:p>
            <a:pPr algn="ctr"/>
          </a:p>
        </p:txBody>
      </p:sp>
      <p:sp>
        <p:nvSpPr>
          <p:cNvPr id="9" name="TextBox 8"/>
          <p:cNvSpPr txBox="1"/>
          <p:nvPr/>
        </p:nvSpPr>
        <p:spPr>
          <a:xfrm>
            <a:off x="457200" y="2162556"/>
            <a:ext cx="3017520" cy="621792"/>
          </a:xfrm>
          <a:prstGeom prst="rect">
            <a:avLst/>
          </a:prstGeom>
          <a:noFill/>
        </p:spPr>
        <p:txBody>
          <a:bodyPr wrap="square" anchor="t" lIns="0" rIns="0" tIns="0" bIns="0">
            <a:spAutoFit/>
          </a:bodyPr>
          <a:lstStyle/>
          <a:p>
            <a:pPr algn="r"/>
            <a:r>
              <a:rPr sz="1300" b="1" i="0">
                <a:solidFill>
                  <a:srgbClr val="4A2A6A"/>
                </a:solidFill>
                <a:latin typeface="Courier New"/>
              </a:rPr>
              <a:t>1 · Generated text</a:t>
            </a:r>
          </a:p>
          <a:p>
            <a:pPr algn="r"/>
            <a:r>
              <a:rPr sz="1200" b="0" i="0">
                <a:solidFill>
                  <a:srgbClr val="6B6050"/>
                </a:solidFill>
                <a:latin typeface="Calibri"/>
              </a:rPr>
              <a:t>The tutor writes the phase introduction</a:t>
            </a:r>
          </a:p>
        </p:txBody>
      </p:sp>
      <p:cxnSp>
        <p:nvCxnSpPr>
          <p:cNvPr id="10" name="Connector 9"/>
          <p:cNvCxnSpPr/>
          <p:nvPr/>
        </p:nvCxnSpPr>
        <p:spPr>
          <a:xfrm flipV="1">
            <a:off x="3639311" y="2091384"/>
            <a:ext cx="787924" cy="190043"/>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3639311" y="2091384"/>
            <a:ext cx="787924" cy="190043"/>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3584447" y="2226563"/>
            <a:ext cx="109728" cy="109728"/>
          </a:xfrm>
          <a:prstGeom prst="ellipse">
            <a:avLst/>
          </a:prstGeom>
          <a:solidFill>
            <a:srgbClr val="4A2A6A"/>
          </a:solidFill>
          <a:ln>
            <a:noFill/>
          </a:ln>
        </p:spPr>
        <p:txBody>
          <a:bodyPr rtlCol="0" anchor="ctr"/>
          <a:lstStyle/>
          <a:p>
            <a:pPr algn="ctr"/>
          </a:p>
        </p:txBody>
      </p:sp>
      <p:sp>
        <p:nvSpPr>
          <p:cNvPr id="13" name="TextBox 12"/>
          <p:cNvSpPr txBox="1"/>
          <p:nvPr/>
        </p:nvSpPr>
        <p:spPr>
          <a:xfrm>
            <a:off x="457200" y="2912364"/>
            <a:ext cx="3017520" cy="621792"/>
          </a:xfrm>
          <a:prstGeom prst="rect">
            <a:avLst/>
          </a:prstGeom>
          <a:noFill/>
        </p:spPr>
        <p:txBody>
          <a:bodyPr wrap="square" anchor="t" lIns="0" rIns="0" tIns="0" bIns="0">
            <a:spAutoFit/>
          </a:bodyPr>
          <a:lstStyle/>
          <a:p>
            <a:pPr algn="r"/>
            <a:r>
              <a:rPr sz="1300" b="1" i="0">
                <a:solidFill>
                  <a:srgbClr val="7A3E1A"/>
                </a:solidFill>
                <a:latin typeface="Courier New"/>
              </a:rPr>
              <a:t>2 · Literal text</a:t>
            </a:r>
          </a:p>
          <a:p>
            <a:pPr algn="r"/>
            <a:r>
              <a:rPr sz="1200" b="0" i="0">
                <a:solidFill>
                  <a:srgbClr val="6B6050"/>
                </a:solidFill>
                <a:latin typeface="Calibri"/>
              </a:rPr>
              <a:t>The opening question; the student answers it first</a:t>
            </a:r>
          </a:p>
        </p:txBody>
      </p:sp>
      <p:cxnSp>
        <p:nvCxnSpPr>
          <p:cNvPr id="14" name="Connector 13"/>
          <p:cNvCxnSpPr/>
          <p:nvPr/>
        </p:nvCxnSpPr>
        <p:spPr>
          <a:xfrm flipV="1">
            <a:off x="3639311" y="2925375"/>
            <a:ext cx="787924" cy="105861"/>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639311" y="2925375"/>
            <a:ext cx="787924" cy="105861"/>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584447" y="2976372"/>
            <a:ext cx="109728" cy="109728"/>
          </a:xfrm>
          <a:prstGeom prst="ellipse">
            <a:avLst/>
          </a:prstGeom>
          <a:solidFill>
            <a:srgbClr val="7A3E1A"/>
          </a:solidFill>
          <a:ln>
            <a:noFill/>
          </a:ln>
        </p:spPr>
        <p:txBody>
          <a:bodyPr rtlCol="0" anchor="ctr"/>
          <a:lstStyle/>
          <a:p>
            <a:pPr algn="ctr"/>
          </a:p>
        </p:txBody>
      </p:sp>
      <p:sp>
        <p:nvSpPr>
          <p:cNvPr id="17" name="TextBox 16"/>
          <p:cNvSpPr txBox="1"/>
          <p:nvPr/>
        </p:nvSpPr>
        <p:spPr>
          <a:xfrm>
            <a:off x="457200" y="3662172"/>
            <a:ext cx="3017520" cy="434340"/>
          </a:xfrm>
          <a:prstGeom prst="rect">
            <a:avLst/>
          </a:prstGeom>
          <a:noFill/>
        </p:spPr>
        <p:txBody>
          <a:bodyPr wrap="square" anchor="t" lIns="0" rIns="0" tIns="0" bIns="0">
            <a:spAutoFit/>
          </a:bodyPr>
          <a:lstStyle/>
          <a:p>
            <a:pPr algn="r"/>
            <a:r>
              <a:rPr sz="1300" b="1" i="0">
                <a:solidFill>
                  <a:srgbClr val="1A3A30"/>
                </a:solidFill>
                <a:latin typeface="Courier New"/>
              </a:rPr>
              <a:t>3 · Interaction</a:t>
            </a:r>
          </a:p>
          <a:p>
            <a:pPr algn="r"/>
            <a:r>
              <a:rPr sz="1200" b="0" i="0">
                <a:solidFill>
                  <a:srgbClr val="6B6050"/>
                </a:solidFill>
                <a:latin typeface="Calibri"/>
              </a:rPr>
              <a:t>The case discussion with the tutor</a:t>
            </a:r>
          </a:p>
        </p:txBody>
      </p:sp>
      <p:cxnSp>
        <p:nvCxnSpPr>
          <p:cNvPr id="18" name="Connector 17"/>
          <p:cNvCxnSpPr/>
          <p:nvPr/>
        </p:nvCxnSpPr>
        <p:spPr>
          <a:xfrm flipV="1">
            <a:off x="3639311" y="3581248"/>
            <a:ext cx="787924" cy="1997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639311" y="3581248"/>
            <a:ext cx="787924" cy="199796"/>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3584447" y="3726180"/>
            <a:ext cx="109728" cy="109728"/>
          </a:xfrm>
          <a:prstGeom prst="ellipse">
            <a:avLst/>
          </a:prstGeom>
          <a:solidFill>
            <a:srgbClr val="1A3A30"/>
          </a:solidFill>
          <a:ln>
            <a:noFill/>
          </a:ln>
        </p:spPr>
        <p:txBody>
          <a:bodyPr rtlCol="0" anchor="ctr"/>
          <a:lstStyle/>
          <a:p>
            <a:pPr algn="ctr"/>
          </a:p>
        </p:txBody>
      </p:sp>
      <p:sp>
        <p:nvSpPr>
          <p:cNvPr id="21" name="TextBox 20"/>
          <p:cNvSpPr txBox="1"/>
          <p:nvPr/>
        </p:nvSpPr>
        <p:spPr>
          <a:xfrm>
            <a:off x="457200" y="5870448"/>
            <a:ext cx="3017520" cy="621792"/>
          </a:xfrm>
          <a:prstGeom prst="rect">
            <a:avLst/>
          </a:prstGeom>
          <a:noFill/>
        </p:spPr>
        <p:txBody>
          <a:bodyPr wrap="square" anchor="t" lIns="0" rIns="0" tIns="0" bIns="0">
            <a:spAutoFit/>
          </a:bodyPr>
          <a:lstStyle/>
          <a:p>
            <a:pPr algn="r"/>
            <a:r>
              <a:rPr sz="1300" b="1" i="0">
                <a:solidFill>
                  <a:srgbClr val="7A3E1A"/>
                </a:solidFill>
                <a:latin typeface="Courier New"/>
              </a:rPr>
              <a:t>Add element</a:t>
            </a:r>
          </a:p>
          <a:p>
            <a:pPr algn="r"/>
            <a:r>
              <a:rPr sz="1200" b="0" i="0">
                <a:solidFill>
                  <a:srgbClr val="6B6050"/>
                </a:solidFill>
                <a:latin typeface="Calibri"/>
              </a:rPr>
              <a:t>Append a Literal text, Generated text or Interaction</a:t>
            </a:r>
          </a:p>
        </p:txBody>
      </p:sp>
      <p:cxnSp>
        <p:nvCxnSpPr>
          <p:cNvPr id="22" name="Connector 21"/>
          <p:cNvCxnSpPr/>
          <p:nvPr/>
        </p:nvCxnSpPr>
        <p:spPr>
          <a:xfrm>
            <a:off x="3639311" y="5989320"/>
            <a:ext cx="741876" cy="412723"/>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639311" y="5989320"/>
            <a:ext cx="741876" cy="412723"/>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3584447" y="5934456"/>
            <a:ext cx="109728" cy="109728"/>
          </a:xfrm>
          <a:prstGeom prst="ellipse">
            <a:avLst/>
          </a:prstGeom>
          <a:solidFill>
            <a:srgbClr val="7A3E1A"/>
          </a:solidFill>
          <a:ln>
            <a:noFill/>
          </a:ln>
        </p:spPr>
        <p:txBody>
          <a:bodyPr rtlCol="0" anchor="ctr"/>
          <a:lstStyle/>
          <a:p>
            <a:pPr algn="ctr"/>
          </a:p>
        </p:txBody>
      </p:sp>
      <p:sp>
        <p:nvSpPr>
          <p:cNvPr id="25" name="TextBox 24"/>
          <p:cNvSpPr txBox="1"/>
          <p:nvPr/>
        </p:nvSpPr>
        <p:spPr>
          <a:xfrm>
            <a:off x="8823960" y="1600200"/>
            <a:ext cx="2926080" cy="809244"/>
          </a:xfrm>
          <a:prstGeom prst="rect">
            <a:avLst/>
          </a:prstGeom>
          <a:noFill/>
        </p:spPr>
        <p:txBody>
          <a:bodyPr wrap="square" anchor="t" lIns="0" rIns="0" tIns="0" bIns="0">
            <a:spAutoFit/>
          </a:bodyPr>
          <a:lstStyle/>
          <a:p>
            <a:pPr algn="l"/>
            <a:r>
              <a:rPr sz="1300" b="1" i="0">
                <a:solidFill>
                  <a:srgbClr val="7A3E1A"/>
                </a:solidFill>
                <a:latin typeface="Courier New"/>
              </a:rPr>
              <a:t>title</a:t>
            </a:r>
          </a:p>
          <a:p>
            <a:pPr algn="l"/>
            <a:r>
              <a:rPr sz="1200" b="0" i="0">
                <a:solidFill>
                  <a:srgbClr val="6B6050"/>
                </a:solidFill>
                <a:latin typeface="Calibri"/>
              </a:rPr>
              <a:t>Phase name in the student's banner: Narrative Construction unless renamed</a:t>
            </a:r>
          </a:p>
        </p:txBody>
      </p:sp>
      <p:cxnSp>
        <p:nvCxnSpPr>
          <p:cNvPr id="26" name="Connector 25"/>
          <p:cNvCxnSpPr/>
          <p:nvPr/>
        </p:nvCxnSpPr>
        <p:spPr>
          <a:xfrm flipH="1">
            <a:off x="5179362" y="1719072"/>
            <a:ext cx="3480005" cy="32445"/>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5179362" y="1719072"/>
            <a:ext cx="3480005" cy="32445"/>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8604503" y="1664207"/>
            <a:ext cx="109728" cy="109728"/>
          </a:xfrm>
          <a:prstGeom prst="ellipse">
            <a:avLst/>
          </a:prstGeom>
          <a:solidFill>
            <a:srgbClr val="7A3E1A"/>
          </a:solidFill>
          <a:ln>
            <a:noFill/>
          </a:ln>
        </p:spPr>
        <p:txBody>
          <a:bodyPr rtlCol="0" anchor="ctr"/>
          <a:lstStyle/>
          <a:p>
            <a:pPr algn="ctr"/>
          </a:p>
        </p:txBody>
      </p:sp>
      <p:sp>
        <p:nvSpPr>
          <p:cNvPr id="29" name="TextBox 28"/>
          <p:cNvSpPr txBox="1"/>
          <p:nvPr/>
        </p:nvSpPr>
        <p:spPr>
          <a:xfrm>
            <a:off x="8823960" y="4933188"/>
            <a:ext cx="2926080" cy="621792"/>
          </a:xfrm>
          <a:prstGeom prst="rect">
            <a:avLst/>
          </a:prstGeom>
          <a:noFill/>
        </p:spPr>
        <p:txBody>
          <a:bodyPr wrap="square" anchor="t" lIns="0" rIns="0" tIns="0" bIns="0">
            <a:spAutoFit/>
          </a:bodyPr>
          <a:lstStyle/>
          <a:p>
            <a:pPr algn="l"/>
            <a:r>
              <a:rPr sz="1300" b="1" i="0">
                <a:solidFill>
                  <a:srgbClr val="1A3A5A"/>
                </a:solidFill>
                <a:latin typeface="Courier New"/>
              </a:rPr>
              <a:t>sideInfo</a:t>
            </a:r>
          </a:p>
          <a:p>
            <a:pPr algn="l"/>
            <a:r>
              <a:rPr sz="1200" b="0" i="0">
                <a:solidFill>
                  <a:srgbClr val="6B6050"/>
                </a:solidFill>
                <a:latin typeface="Calibri"/>
              </a:rPr>
              <a:t>Hidden from the student: here the expert explanation the evaluator uses</a:t>
            </a:r>
          </a:p>
        </p:txBody>
      </p:sp>
      <p:cxnSp>
        <p:nvCxnSpPr>
          <p:cNvPr id="30" name="Connector 29"/>
          <p:cNvCxnSpPr/>
          <p:nvPr/>
        </p:nvCxnSpPr>
        <p:spPr>
          <a:xfrm flipH="1">
            <a:off x="8075635" y="5052060"/>
            <a:ext cx="583732" cy="35422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075635" y="5052060"/>
            <a:ext cx="583732" cy="354226"/>
          </a:xfrm>
          <a:prstGeom prst="line">
            <a:avLst/>
          </a:prstGeom>
          <a:ln w="19050">
            <a:solidFill>
              <a:srgbClr val="1A3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8604503" y="4997196"/>
            <a:ext cx="109728" cy="109728"/>
          </a:xfrm>
          <a:prstGeom prst="ellipse">
            <a:avLst/>
          </a:prstGeom>
          <a:solidFill>
            <a:srgbClr val="1A3A5A"/>
          </a:solidFill>
          <a:ln>
            <a:noFill/>
          </a:ln>
        </p:spPr>
        <p:txBody>
          <a:bodyPr rtlCol="0" anchor="ctr"/>
          <a:lstStyle/>
          <a:p>
            <a:pPr algn="ctr"/>
          </a:p>
        </p:txBody>
      </p:sp>
      <p:sp>
        <p:nvSpPr>
          <p:cNvPr id="33" name="TextBox 32"/>
          <p:cNvSpPr txBox="1"/>
          <p:nvPr/>
        </p:nvSpPr>
        <p:spPr>
          <a:xfrm>
            <a:off x="8823960" y="5682996"/>
            <a:ext cx="2926080" cy="809244"/>
          </a:xfrm>
          <a:prstGeom prst="rect">
            <a:avLst/>
          </a:prstGeom>
          <a:noFill/>
        </p:spPr>
        <p:txBody>
          <a:bodyPr wrap="square" anchor="t" lIns="0" rIns="0" tIns="0" bIns="0">
            <a:spAutoFit/>
          </a:bodyPr>
          <a:lstStyle/>
          <a:p>
            <a:pPr algn="l"/>
            <a:r>
              <a:rPr sz="1300" b="1" i="0">
                <a:solidFill>
                  <a:srgbClr val="7A3E1A"/>
                </a:solidFill>
                <a:latin typeface="Courier New"/>
              </a:rPr>
              <a:t>answer</a:t>
            </a:r>
          </a:p>
          <a:p>
            <a:pPr algn="l"/>
            <a:r>
              <a:rPr sz="1200" b="0" i="0">
                <a:solidFill>
                  <a:srgbClr val="6B6050"/>
                </a:solidFill>
                <a:latin typeface="Calibri"/>
              </a:rPr>
              <a:t>Recorded as {{case1.answer}}: that reply, or the last message of the interaction</a:t>
            </a:r>
          </a:p>
        </p:txBody>
      </p:sp>
      <p:cxnSp>
        <p:nvCxnSpPr>
          <p:cNvPr id="34" name="Connector 33"/>
          <p:cNvCxnSpPr/>
          <p:nvPr/>
        </p:nvCxnSpPr>
        <p:spPr>
          <a:xfrm flipH="1">
            <a:off x="6289645" y="5801868"/>
            <a:ext cx="2369722" cy="444122"/>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289645" y="5801868"/>
            <a:ext cx="2369722" cy="444122"/>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604503" y="5747004"/>
            <a:ext cx="109728" cy="109728"/>
          </a:xfrm>
          <a:prstGeom prst="ellipse">
            <a:avLst/>
          </a:prstGeom>
          <a:solidFill>
            <a:srgbClr val="7A3E1A"/>
          </a:solidFill>
          <a:ln>
            <a:noFill/>
          </a:ln>
        </p:spPr>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Literal text</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Shown to the student exactly as the author wrote it</a:t>
            </a:r>
          </a:p>
        </p:txBody>
      </p:sp>
      <p:sp>
        <p:nvSpPr>
          <p:cNvPr id="4" name="Oval 3"/>
          <p:cNvSpPr/>
          <p:nvPr/>
        </p:nvSpPr>
        <p:spPr>
          <a:xfrm>
            <a:off x="10908792" y="457200"/>
            <a:ext cx="731520" cy="731520"/>
          </a:xfrm>
          <a:prstGeom prst="ellipse">
            <a:avLst/>
          </a:prstGeom>
          <a:solidFill>
            <a:srgbClr val="7A3E1A"/>
          </a:solidFill>
          <a:ln>
            <a:noFill/>
          </a:ln>
        </p:spPr>
        <p:txBody>
          <a:bodyPr rtlCol="0" anchor="ctr"/>
          <a:lstStyle/>
          <a:p>
            <a:pPr algn="ctr"/>
          </a:p>
        </p:txBody>
      </p:sp>
      <p:pic>
        <p:nvPicPr>
          <p:cNvPr id="5" name="Picture 4" descr="image.png"/>
          <p:cNvPicPr>
            <a:picLocks noChangeAspect="1"/>
          </p:cNvPicPr>
          <p:nvPr/>
        </p:nvPicPr>
        <p:blipFill>
          <a:blip r:embed="rId2"/>
          <a:stretch>
            <a:fillRect/>
          </a:stretch>
        </p:blipFill>
        <p:spPr>
          <a:xfrm>
            <a:off x="11069726" y="618134"/>
            <a:ext cx="409651" cy="409651"/>
          </a:xfrm>
          <a:prstGeom prst="rect">
            <a:avLst/>
          </a:prstGeom>
        </p:spPr>
      </p:pic>
      <p:pic>
        <p:nvPicPr>
          <p:cNvPr id="6" name="Picture 5" descr="literal.png"/>
          <p:cNvPicPr>
            <a:picLocks noChangeAspect="1"/>
          </p:cNvPicPr>
          <p:nvPr/>
        </p:nvPicPr>
        <p:blipFill>
          <a:blip r:embed="rId3"/>
          <a:stretch>
            <a:fillRect/>
          </a:stretch>
        </p:blipFill>
        <p:spPr>
          <a:xfrm>
            <a:off x="3291840" y="1874519"/>
            <a:ext cx="5623560" cy="3926193"/>
          </a:xfrm>
          <a:prstGeom prst="rect">
            <a:avLst/>
          </a:prstGeom>
          <a:ln w="9525">
            <a:solidFill>
              <a:srgbClr val="DDD6C8"/>
            </a:solidFill>
          </a:ln>
        </p:spPr>
      </p:pic>
      <p:sp>
        <p:nvSpPr>
          <p:cNvPr id="7" name="TextBox 6"/>
          <p:cNvSpPr txBox="1"/>
          <p:nvPr/>
        </p:nvSpPr>
        <p:spPr>
          <a:xfrm>
            <a:off x="457200" y="1959728"/>
            <a:ext cx="2240280" cy="621792"/>
          </a:xfrm>
          <a:prstGeom prst="rect">
            <a:avLst/>
          </a:prstGeom>
          <a:noFill/>
        </p:spPr>
        <p:txBody>
          <a:bodyPr wrap="square" anchor="t" lIns="0" rIns="0" tIns="0" bIns="0">
            <a:spAutoFit/>
          </a:bodyPr>
          <a:lstStyle/>
          <a:p>
            <a:pPr algn="r"/>
            <a:r>
              <a:rPr sz="1300" b="1" i="0">
                <a:solidFill>
                  <a:srgbClr val="7A3E1A"/>
                </a:solidFill>
                <a:latin typeface="Courier New"/>
              </a:rPr>
              <a:t>kind · label</a:t>
            </a:r>
          </a:p>
          <a:p>
            <a:pPr algn="r"/>
            <a:r>
              <a:rPr sz="1200" b="0" i="0">
                <a:solidFill>
                  <a:srgbClr val="6B6050"/>
                </a:solidFill>
                <a:latin typeface="Calibri"/>
              </a:rPr>
              <a:t>The type (click to change) and the name the author sees</a:t>
            </a:r>
          </a:p>
        </p:txBody>
      </p:sp>
      <p:cxnSp>
        <p:nvCxnSpPr>
          <p:cNvPr id="8" name="Connector 7"/>
          <p:cNvCxnSpPr/>
          <p:nvPr/>
        </p:nvCxnSpPr>
        <p:spPr>
          <a:xfrm>
            <a:off x="2862072" y="2078600"/>
            <a:ext cx="543146"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862072" y="2078600"/>
            <a:ext cx="543146"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807208" y="2023736"/>
            <a:ext cx="109728" cy="109728"/>
          </a:xfrm>
          <a:prstGeom prst="ellipse">
            <a:avLst/>
          </a:prstGeom>
          <a:solidFill>
            <a:srgbClr val="7A3E1A"/>
          </a:solidFill>
          <a:ln>
            <a:noFill/>
          </a:ln>
        </p:spPr>
        <p:txBody>
          <a:bodyPr rtlCol="0" anchor="ctr"/>
          <a:lstStyle/>
          <a:p>
            <a:pPr algn="ctr"/>
          </a:p>
        </p:txBody>
      </p:sp>
      <p:sp>
        <p:nvSpPr>
          <p:cNvPr id="11" name="TextBox 10"/>
          <p:cNvSpPr txBox="1"/>
          <p:nvPr/>
        </p:nvSpPr>
        <p:spPr>
          <a:xfrm>
            <a:off x="457200" y="2709536"/>
            <a:ext cx="2240280" cy="621792"/>
          </a:xfrm>
          <a:prstGeom prst="rect">
            <a:avLst/>
          </a:prstGeom>
          <a:noFill/>
        </p:spPr>
        <p:txBody>
          <a:bodyPr wrap="square" anchor="t" lIns="0" rIns="0" tIns="0" bIns="0">
            <a:spAutoFit/>
          </a:bodyPr>
          <a:lstStyle/>
          <a:p>
            <a:pPr algn="r"/>
            <a:r>
              <a:rPr sz="1300" b="1" i="0">
                <a:solidFill>
                  <a:srgbClr val="7A3E1A"/>
                </a:solidFill>
                <a:latin typeface="Courier New"/>
              </a:rPr>
              <a:t>text</a:t>
            </a:r>
          </a:p>
          <a:p>
            <a:pPr algn="r"/>
            <a:r>
              <a:rPr sz="1200" b="0" i="0">
                <a:solidFill>
                  <a:srgbClr val="6B6050"/>
                </a:solidFill>
                <a:latin typeface="Calibri"/>
              </a:rPr>
              <a:t>Exactly what the student reads; no {{fields}}</a:t>
            </a:r>
          </a:p>
        </p:txBody>
      </p:sp>
      <p:cxnSp>
        <p:nvCxnSpPr>
          <p:cNvPr id="12" name="Connector 11"/>
          <p:cNvCxnSpPr/>
          <p:nvPr/>
        </p:nvCxnSpPr>
        <p:spPr>
          <a:xfrm flipV="1">
            <a:off x="2862072" y="2479912"/>
            <a:ext cx="558263" cy="34849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862072" y="2479912"/>
            <a:ext cx="558263" cy="348496"/>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807208" y="2773544"/>
            <a:ext cx="109728" cy="109728"/>
          </a:xfrm>
          <a:prstGeom prst="ellipse">
            <a:avLst/>
          </a:prstGeom>
          <a:solidFill>
            <a:srgbClr val="7A3E1A"/>
          </a:solidFill>
          <a:ln>
            <a:noFill/>
          </a:ln>
        </p:spPr>
        <p:txBody>
          <a:bodyPr rtlCol="0" anchor="ctr"/>
          <a:lstStyle/>
          <a:p>
            <a:pPr algn="ctr"/>
          </a:p>
        </p:txBody>
      </p:sp>
      <p:sp>
        <p:nvSpPr>
          <p:cNvPr id="15" name="TextBox 14"/>
          <p:cNvSpPr txBox="1"/>
          <p:nvPr/>
        </p:nvSpPr>
        <p:spPr>
          <a:xfrm>
            <a:off x="457200" y="3459344"/>
            <a:ext cx="2240280" cy="621792"/>
          </a:xfrm>
          <a:prstGeom prst="rect">
            <a:avLst/>
          </a:prstGeom>
          <a:noFill/>
        </p:spPr>
        <p:txBody>
          <a:bodyPr wrap="square" anchor="t" lIns="0" rIns="0" tIns="0" bIns="0">
            <a:spAutoFit/>
          </a:bodyPr>
          <a:lstStyle/>
          <a:p>
            <a:pPr algn="r"/>
            <a:r>
              <a:rPr sz="1300" b="1" i="0">
                <a:solidFill>
                  <a:srgbClr val="7A3E1A"/>
                </a:solidFill>
                <a:latin typeface="Courier New"/>
              </a:rPr>
              <a:t>autoPhaseSentence</a:t>
            </a:r>
          </a:p>
          <a:p>
            <a:pPr algn="r"/>
            <a:r>
              <a:rPr sz="1200" b="0" i="0">
                <a:solidFill>
                  <a:srgbClr val="6B6050"/>
                </a:solidFill>
                <a:latin typeface="Calibri"/>
              </a:rPr>
              <a:t>Welcome: the list of phases is appended</a:t>
            </a:r>
          </a:p>
        </p:txBody>
      </p:sp>
      <p:cxnSp>
        <p:nvCxnSpPr>
          <p:cNvPr id="16" name="Connector 15"/>
          <p:cNvCxnSpPr/>
          <p:nvPr/>
        </p:nvCxnSpPr>
        <p:spPr>
          <a:xfrm flipV="1">
            <a:off x="2862072" y="2905789"/>
            <a:ext cx="558263" cy="672427"/>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862072" y="2905789"/>
            <a:ext cx="558263" cy="672427"/>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807208" y="3523352"/>
            <a:ext cx="109728" cy="109728"/>
          </a:xfrm>
          <a:prstGeom prst="ellipse">
            <a:avLst/>
          </a:prstGeom>
          <a:solidFill>
            <a:srgbClr val="7A3E1A"/>
          </a:solidFill>
          <a:ln>
            <a:noFill/>
          </a:ln>
        </p:spPr>
        <p:txBody>
          <a:bodyPr rtlCol="0" anchor="ctr"/>
          <a:lstStyle/>
          <a:p>
            <a:pPr algn="ctr"/>
          </a:p>
        </p:txBody>
      </p:sp>
      <p:sp>
        <p:nvSpPr>
          <p:cNvPr id="19" name="TextBox 18"/>
          <p:cNvSpPr txBox="1"/>
          <p:nvPr/>
        </p:nvSpPr>
        <p:spPr>
          <a:xfrm>
            <a:off x="457200" y="5303205"/>
            <a:ext cx="2240280" cy="809244"/>
          </a:xfrm>
          <a:prstGeom prst="rect">
            <a:avLst/>
          </a:prstGeom>
          <a:noFill/>
        </p:spPr>
        <p:txBody>
          <a:bodyPr wrap="square" anchor="t" lIns="0" rIns="0" tIns="0" bIns="0">
            <a:spAutoFit/>
          </a:bodyPr>
          <a:lstStyle/>
          <a:p>
            <a:pPr algn="r"/>
            <a:r>
              <a:rPr sz="1300" b="1" i="0">
                <a:solidFill>
                  <a:srgbClr val="7A3E1A"/>
                </a:solidFill>
                <a:latin typeface="Courier New"/>
              </a:rPr>
              <a:t>opening question</a:t>
            </a:r>
          </a:p>
          <a:p>
            <a:pPr algn="r"/>
            <a:r>
              <a:rPr sz="1200" b="0" i="0">
                <a:solidFill>
                  <a:srgbClr val="6B6050"/>
                </a:solidFill>
                <a:latin typeface="Calibri"/>
              </a:rPr>
              <a:t>No card, just before an interaction: the student answers first</a:t>
            </a:r>
          </a:p>
        </p:txBody>
      </p:sp>
      <p:cxnSp>
        <p:nvCxnSpPr>
          <p:cNvPr id="20" name="Connector 19"/>
          <p:cNvCxnSpPr/>
          <p:nvPr/>
        </p:nvCxnSpPr>
        <p:spPr>
          <a:xfrm>
            <a:off x="2862072" y="5422077"/>
            <a:ext cx="558263"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62072" y="5422077"/>
            <a:ext cx="558263"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2807208" y="5367213"/>
            <a:ext cx="109728" cy="109728"/>
          </a:xfrm>
          <a:prstGeom prst="ellipse">
            <a:avLst/>
          </a:prstGeom>
          <a:solidFill>
            <a:srgbClr val="7A3E1A"/>
          </a:solidFill>
          <a:ln>
            <a:noFill/>
          </a:ln>
        </p:spPr>
        <p:txBody>
          <a:bodyPr rtlCol="0" anchor="ctr"/>
          <a:lstStyle/>
          <a:p>
            <a:pPr algn="ctr"/>
          </a:p>
        </p:txBody>
      </p:sp>
      <p:sp>
        <p:nvSpPr>
          <p:cNvPr id="23" name="TextBox 22"/>
          <p:cNvSpPr txBox="1"/>
          <p:nvPr/>
        </p:nvSpPr>
        <p:spPr>
          <a:xfrm>
            <a:off x="9509760" y="1959728"/>
            <a:ext cx="2240280" cy="434340"/>
          </a:xfrm>
          <a:prstGeom prst="rect">
            <a:avLst/>
          </a:prstGeom>
          <a:noFill/>
        </p:spPr>
        <p:txBody>
          <a:bodyPr wrap="square" anchor="t" lIns="0" rIns="0" tIns="0" bIns="0">
            <a:spAutoFit/>
          </a:bodyPr>
          <a:lstStyle/>
          <a:p>
            <a:pPr algn="l"/>
            <a:r>
              <a:rPr sz="1300" b="1" i="0">
                <a:solidFill>
                  <a:srgbClr val="7A3E1A"/>
                </a:solidFill>
                <a:latin typeface="Courier New"/>
              </a:rPr>
              <a:t>strategies</a:t>
            </a:r>
          </a:p>
          <a:p>
            <a:pPr algn="l"/>
            <a:r>
              <a:rPr sz="1200" b="0" i="0">
                <a:solidFill>
                  <a:srgbClr val="6B6050"/>
                </a:solidFill>
                <a:latin typeface="Calibri"/>
              </a:rPr>
              <a:t>Gamification only</a:t>
            </a:r>
          </a:p>
        </p:txBody>
      </p:sp>
      <p:cxnSp>
        <p:nvCxnSpPr>
          <p:cNvPr id="24" name="Connector 23"/>
          <p:cNvCxnSpPr/>
          <p:nvPr/>
        </p:nvCxnSpPr>
        <p:spPr>
          <a:xfrm flipH="1">
            <a:off x="8597940" y="2078600"/>
            <a:ext cx="747227"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8597940" y="2078600"/>
            <a:ext cx="747227"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9290303" y="2023736"/>
            <a:ext cx="109728" cy="109728"/>
          </a:xfrm>
          <a:prstGeom prst="ellipse">
            <a:avLst/>
          </a:prstGeom>
          <a:solidFill>
            <a:srgbClr val="7A3E1A"/>
          </a:solidFill>
          <a:ln>
            <a:noFill/>
          </a:ln>
        </p:spPr>
        <p:txBody>
          <a:bodyPr rtlCol="0" anchor="ctr"/>
          <a:lstStyle/>
          <a:p>
            <a:pPr algn="ctr"/>
          </a:p>
        </p:txBody>
      </p:sp>
      <p:sp>
        <p:nvSpPr>
          <p:cNvPr id="27" name="TextBox 26"/>
          <p:cNvSpPr txBox="1"/>
          <p:nvPr/>
        </p:nvSpPr>
        <p:spPr>
          <a:xfrm>
            <a:off x="9509760" y="2522084"/>
            <a:ext cx="2240280" cy="434340"/>
          </a:xfrm>
          <a:prstGeom prst="rect">
            <a:avLst/>
          </a:prstGeom>
          <a:noFill/>
        </p:spPr>
        <p:txBody>
          <a:bodyPr wrap="square" anchor="t" lIns="0" rIns="0" tIns="0" bIns="0">
            <a:spAutoFit/>
          </a:bodyPr>
          <a:lstStyle/>
          <a:p>
            <a:pPr algn="l"/>
            <a:r>
              <a:rPr sz="1300" b="1" i="0">
                <a:solidFill>
                  <a:srgbClr val="1A3A5A"/>
                </a:solidFill>
                <a:latin typeface="Courier New"/>
              </a:rPr>
              <a:t>sideInfo</a:t>
            </a:r>
          </a:p>
          <a:p>
            <a:pPr algn="l"/>
            <a:r>
              <a:rPr sz="1200" b="0" i="0">
                <a:solidFill>
                  <a:srgbClr val="6B6050"/>
                </a:solidFill>
                <a:latin typeface="Calibri"/>
              </a:rPr>
              <a:t>Attach hidden information</a:t>
            </a:r>
          </a:p>
        </p:txBody>
      </p:sp>
      <p:cxnSp>
        <p:nvCxnSpPr>
          <p:cNvPr id="28" name="Connector 27"/>
          <p:cNvCxnSpPr/>
          <p:nvPr/>
        </p:nvCxnSpPr>
        <p:spPr>
          <a:xfrm flipH="1" flipV="1">
            <a:off x="8272923" y="2184420"/>
            <a:ext cx="1072244" cy="45653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8272923" y="2184420"/>
            <a:ext cx="1072244" cy="456536"/>
          </a:xfrm>
          <a:prstGeom prst="line">
            <a:avLst/>
          </a:prstGeom>
          <a:ln w="19050">
            <a:solidFill>
              <a:srgbClr val="1A3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290303" y="2586092"/>
            <a:ext cx="109728" cy="109728"/>
          </a:xfrm>
          <a:prstGeom prst="ellipse">
            <a:avLst/>
          </a:prstGeom>
          <a:solidFill>
            <a:srgbClr val="1A3A5A"/>
          </a:solidFill>
          <a:ln>
            <a:noFill/>
          </a:ln>
        </p:spPr>
        <p:txBody>
          <a:bodyPr rtlCol="0" anchor="ctr"/>
          <a:lstStyle/>
          <a:p>
            <a:pPr algn="ctr"/>
          </a:p>
        </p:txBody>
      </p:sp>
      <p:sp>
        <p:nvSpPr>
          <p:cNvPr id="31" name="TextBox 30"/>
          <p:cNvSpPr txBox="1"/>
          <p:nvPr/>
        </p:nvSpPr>
        <p:spPr>
          <a:xfrm>
            <a:off x="9509760" y="3084440"/>
            <a:ext cx="2240280" cy="621792"/>
          </a:xfrm>
          <a:prstGeom prst="rect">
            <a:avLst/>
          </a:prstGeom>
          <a:noFill/>
        </p:spPr>
        <p:txBody>
          <a:bodyPr wrap="square" anchor="t" lIns="0" rIns="0" tIns="0" bIns="0">
            <a:spAutoFit/>
          </a:bodyPr>
          <a:lstStyle/>
          <a:p>
            <a:pPr algn="l"/>
            <a:r>
              <a:rPr sz="1300" b="1" i="0">
                <a:solidFill>
                  <a:srgbClr val="7A3E1A"/>
                </a:solidFill>
                <a:latin typeface="Courier New"/>
              </a:rPr>
              <a:t>assistant</a:t>
            </a:r>
          </a:p>
          <a:p>
            <a:pPr algn="l"/>
            <a:r>
              <a:rPr sz="1200" b="0" i="0">
                <a:solidFill>
                  <a:srgbClr val="6B6050"/>
                </a:solidFill>
                <a:latin typeface="Calibri"/>
              </a:rPr>
              <a:t>Writes the text, or a case vignette</a:t>
            </a:r>
          </a:p>
        </p:txBody>
      </p:sp>
      <p:cxnSp>
        <p:nvCxnSpPr>
          <p:cNvPr id="32" name="Connector 31"/>
          <p:cNvCxnSpPr/>
          <p:nvPr/>
        </p:nvCxnSpPr>
        <p:spPr>
          <a:xfrm flipH="1" flipV="1">
            <a:off x="7758942" y="2184420"/>
            <a:ext cx="1586225" cy="1018892"/>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7758942" y="2184420"/>
            <a:ext cx="1586225" cy="1018892"/>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9290303" y="3148448"/>
            <a:ext cx="109728" cy="109728"/>
          </a:xfrm>
          <a:prstGeom prst="ellipse">
            <a:avLst/>
          </a:prstGeom>
          <a:solidFill>
            <a:srgbClr val="7A3E1A"/>
          </a:solidFill>
          <a:ln>
            <a:noFill/>
          </a:ln>
        </p:spPr>
        <p:txBody>
          <a:bodyPr rtlCol="0" anchor="ctr"/>
          <a:lstStyle/>
          <a:p>
            <a:pPr algn="ctr"/>
          </a:p>
        </p:txBody>
      </p:sp>
      <p:sp>
        <p:nvSpPr>
          <p:cNvPr id="35" name="TextBox 34"/>
          <p:cNvSpPr txBox="1"/>
          <p:nvPr/>
        </p:nvSpPr>
        <p:spPr>
          <a:xfrm>
            <a:off x="9509760" y="3985183"/>
            <a:ext cx="2240280" cy="809244"/>
          </a:xfrm>
          <a:prstGeom prst="rect">
            <a:avLst/>
          </a:prstGeom>
          <a:noFill/>
        </p:spPr>
        <p:txBody>
          <a:bodyPr wrap="square" anchor="t" lIns="0" rIns="0" tIns="0" bIns="0">
            <a:spAutoFit/>
          </a:bodyPr>
          <a:lstStyle/>
          <a:p>
            <a:pPr algn="l"/>
            <a:r>
              <a:rPr sz="1300" b="1" i="0">
                <a:solidFill>
                  <a:srgbClr val="7A3E1A"/>
                </a:solidFill>
                <a:latin typeface="Courier New"/>
              </a:rPr>
              <a:t>card · ref</a:t>
            </a:r>
          </a:p>
          <a:p>
            <a:pPr algn="l"/>
            <a:r>
              <a:rPr sz="1200" b="0" i="0">
                <a:solidFill>
                  <a:srgbClr val="6B6050"/>
                </a:solidFill>
                <a:latin typeface="Calibri"/>
              </a:rPr>
              <a:t>Case vignette: shown as a case card, usable as {{case1.vignette}}</a:t>
            </a:r>
          </a:p>
        </p:txBody>
      </p:sp>
      <p:cxnSp>
        <p:nvCxnSpPr>
          <p:cNvPr id="36" name="Connector 35"/>
          <p:cNvCxnSpPr/>
          <p:nvPr/>
        </p:nvCxnSpPr>
        <p:spPr>
          <a:xfrm flipH="1">
            <a:off x="8786904" y="4104055"/>
            <a:ext cx="558263"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786904" y="4104055"/>
            <a:ext cx="558263" cy="0"/>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9290303" y="4049191"/>
            <a:ext cx="109728" cy="109728"/>
          </a:xfrm>
          <a:prstGeom prst="ellipse">
            <a:avLst/>
          </a:prstGeom>
          <a:solidFill>
            <a:srgbClr val="7A3E1A"/>
          </a:solidFill>
          <a:ln>
            <a:noFill/>
          </a:ln>
        </p:spPr>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Generated text</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The author writes a prompt; the tutor writes the text when the session runs</a:t>
            </a:r>
          </a:p>
        </p:txBody>
      </p:sp>
      <p:sp>
        <p:nvSpPr>
          <p:cNvPr id="4" name="Oval 3"/>
          <p:cNvSpPr/>
          <p:nvPr/>
        </p:nvSpPr>
        <p:spPr>
          <a:xfrm>
            <a:off x="10908792" y="457200"/>
            <a:ext cx="731520" cy="731520"/>
          </a:xfrm>
          <a:prstGeom prst="ellipse">
            <a:avLst/>
          </a:prstGeom>
          <a:solidFill>
            <a:srgbClr val="4A2A6A"/>
          </a:solidFill>
          <a:ln>
            <a:noFill/>
          </a:ln>
        </p:spPr>
        <p:txBody>
          <a:bodyPr rtlCol="0" anchor="ctr"/>
          <a:lstStyle/>
          <a:p>
            <a:pPr algn="ctr"/>
          </a:p>
        </p:txBody>
      </p:sp>
      <p:pic>
        <p:nvPicPr>
          <p:cNvPr id="5" name="Picture 4" descr="image.png"/>
          <p:cNvPicPr>
            <a:picLocks noChangeAspect="1"/>
          </p:cNvPicPr>
          <p:nvPr/>
        </p:nvPicPr>
        <p:blipFill>
          <a:blip r:embed="rId2"/>
          <a:stretch>
            <a:fillRect/>
          </a:stretch>
        </p:blipFill>
        <p:spPr>
          <a:xfrm>
            <a:off x="11069726" y="618134"/>
            <a:ext cx="409651" cy="409651"/>
          </a:xfrm>
          <a:prstGeom prst="rect">
            <a:avLst/>
          </a:prstGeom>
        </p:spPr>
      </p:pic>
      <p:sp>
        <p:nvSpPr>
          <p:cNvPr id="6" name="TextBox 5"/>
          <p:cNvSpPr txBox="1"/>
          <p:nvPr/>
        </p:nvSpPr>
        <p:spPr>
          <a:xfrm>
            <a:off x="3291840" y="1645920"/>
            <a:ext cx="5623560" cy="274320"/>
          </a:xfrm>
          <a:prstGeom prst="rect">
            <a:avLst/>
          </a:prstGeom>
          <a:noFill/>
        </p:spPr>
        <p:txBody>
          <a:bodyPr wrap="square" anchor="t" lIns="0" rIns="0" tIns="0" bIns="0">
            <a:spAutoFit/>
          </a:bodyPr>
          <a:lstStyle/>
          <a:p>
            <a:pPr algn="l"/>
            <a:r>
              <a:rPr sz="1200" b="1" i="0">
                <a:solidFill>
                  <a:srgbClr val="6B6050"/>
                </a:solidFill>
                <a:latin typeface="Calibri"/>
              </a:rPr>
              <a:t>Knowledge activation · Phase introduction</a:t>
            </a:r>
          </a:p>
        </p:txBody>
      </p:sp>
      <p:pic>
        <p:nvPicPr>
          <p:cNvPr id="7" name="Picture 6" descr="generated.png"/>
          <p:cNvPicPr>
            <a:picLocks noChangeAspect="1"/>
          </p:cNvPicPr>
          <p:nvPr/>
        </p:nvPicPr>
        <p:blipFill>
          <a:blip r:embed="rId3"/>
          <a:stretch>
            <a:fillRect/>
          </a:stretch>
        </p:blipFill>
        <p:spPr>
          <a:xfrm>
            <a:off x="3291840" y="1920240"/>
            <a:ext cx="5623560" cy="1247160"/>
          </a:xfrm>
          <a:prstGeom prst="rect">
            <a:avLst/>
          </a:prstGeom>
          <a:ln w="9525">
            <a:solidFill>
              <a:srgbClr val="DDD6C8"/>
            </a:solidFill>
          </a:ln>
        </p:spPr>
      </p:pic>
      <p:sp>
        <p:nvSpPr>
          <p:cNvPr id="8" name="TextBox 7"/>
          <p:cNvSpPr txBox="1"/>
          <p:nvPr/>
        </p:nvSpPr>
        <p:spPr>
          <a:xfrm>
            <a:off x="3291840" y="3304560"/>
            <a:ext cx="5623560" cy="274320"/>
          </a:xfrm>
          <a:prstGeom prst="rect">
            <a:avLst/>
          </a:prstGeom>
          <a:noFill/>
        </p:spPr>
        <p:txBody>
          <a:bodyPr wrap="square" anchor="t" lIns="0" rIns="0" tIns="0" bIns="0">
            <a:spAutoFit/>
          </a:bodyPr>
          <a:lstStyle/>
          <a:p>
            <a:pPr algn="l"/>
            <a:r>
              <a:rPr sz="1200" b="1" i="0">
                <a:solidFill>
                  <a:srgbClr val="6B6050"/>
                </a:solidFill>
                <a:latin typeface="Calibri"/>
              </a:rPr>
              <a:t>Final feedback · Personal feedback</a:t>
            </a:r>
          </a:p>
        </p:txBody>
      </p:sp>
      <p:pic>
        <p:nvPicPr>
          <p:cNvPr id="9" name="Picture 8" descr="final.png"/>
          <p:cNvPicPr>
            <a:picLocks noChangeAspect="1"/>
          </p:cNvPicPr>
          <p:nvPr/>
        </p:nvPicPr>
        <p:blipFill>
          <a:blip r:embed="rId4"/>
          <a:stretch>
            <a:fillRect/>
          </a:stretch>
        </p:blipFill>
        <p:spPr>
          <a:xfrm>
            <a:off x="3291840" y="3578880"/>
            <a:ext cx="5623560" cy="1685556"/>
          </a:xfrm>
          <a:prstGeom prst="rect">
            <a:avLst/>
          </a:prstGeom>
          <a:ln w="9525">
            <a:solidFill>
              <a:srgbClr val="DDD6C8"/>
            </a:solidFill>
          </a:ln>
        </p:spPr>
      </p:pic>
      <p:sp>
        <p:nvSpPr>
          <p:cNvPr id="10" name="TextBox 9"/>
          <p:cNvSpPr txBox="1"/>
          <p:nvPr/>
        </p:nvSpPr>
        <p:spPr>
          <a:xfrm>
            <a:off x="457200" y="2005448"/>
            <a:ext cx="2240280" cy="434340"/>
          </a:xfrm>
          <a:prstGeom prst="rect">
            <a:avLst/>
          </a:prstGeom>
          <a:noFill/>
        </p:spPr>
        <p:txBody>
          <a:bodyPr wrap="square" anchor="t" lIns="0" rIns="0" tIns="0" bIns="0">
            <a:spAutoFit/>
          </a:bodyPr>
          <a:lstStyle/>
          <a:p>
            <a:pPr algn="r"/>
            <a:r>
              <a:rPr sz="1300" b="1" i="0">
                <a:solidFill>
                  <a:srgbClr val="4A2A6A"/>
                </a:solidFill>
                <a:latin typeface="Courier New"/>
              </a:rPr>
              <a:t>kind</a:t>
            </a:r>
          </a:p>
          <a:p>
            <a:pPr algn="r"/>
            <a:r>
              <a:rPr sz="1200" b="0" i="0">
                <a:solidFill>
                  <a:srgbClr val="6B6050"/>
                </a:solidFill>
                <a:latin typeface="Calibri"/>
              </a:rPr>
              <a:t>generated</a:t>
            </a:r>
          </a:p>
        </p:txBody>
      </p:sp>
      <p:cxnSp>
        <p:nvCxnSpPr>
          <p:cNvPr id="11" name="Connector 10"/>
          <p:cNvCxnSpPr/>
          <p:nvPr/>
        </p:nvCxnSpPr>
        <p:spPr>
          <a:xfrm>
            <a:off x="2862072" y="2124320"/>
            <a:ext cx="543146"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62072" y="2124320"/>
            <a:ext cx="543146" cy="0"/>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807208" y="2069456"/>
            <a:ext cx="109728" cy="109728"/>
          </a:xfrm>
          <a:prstGeom prst="ellipse">
            <a:avLst/>
          </a:prstGeom>
          <a:solidFill>
            <a:srgbClr val="4A2A6A"/>
          </a:solidFill>
          <a:ln>
            <a:noFill/>
          </a:ln>
        </p:spPr>
        <p:txBody>
          <a:bodyPr rtlCol="0" anchor="ctr"/>
          <a:lstStyle/>
          <a:p>
            <a:pPr algn="ctr"/>
          </a:p>
        </p:txBody>
      </p:sp>
      <p:sp>
        <p:nvSpPr>
          <p:cNvPr id="14" name="TextBox 13"/>
          <p:cNvSpPr txBox="1"/>
          <p:nvPr/>
        </p:nvSpPr>
        <p:spPr>
          <a:xfrm>
            <a:off x="457200" y="2567804"/>
            <a:ext cx="2240280" cy="809244"/>
          </a:xfrm>
          <a:prstGeom prst="rect">
            <a:avLst/>
          </a:prstGeom>
          <a:noFill/>
        </p:spPr>
        <p:txBody>
          <a:bodyPr wrap="square" anchor="t" lIns="0" rIns="0" tIns="0" bIns="0">
            <a:spAutoFit/>
          </a:bodyPr>
          <a:lstStyle/>
          <a:p>
            <a:pPr algn="r"/>
            <a:r>
              <a:rPr sz="1300" b="1" i="0">
                <a:solidFill>
                  <a:srgbClr val="4A2A6A"/>
                </a:solidFill>
                <a:latin typeface="Courier New"/>
              </a:rPr>
              <a:t>text</a:t>
            </a:r>
          </a:p>
          <a:p>
            <a:pPr algn="r"/>
            <a:r>
              <a:rPr sz="1200" b="0" i="0">
                <a:solidFill>
                  <a:srgbClr val="6B6050"/>
                </a:solidFill>
                <a:latin typeface="Calibri"/>
              </a:rPr>
              <a:t>A prompt to the tutor, in the second person, not what the student reads</a:t>
            </a:r>
          </a:p>
        </p:txBody>
      </p:sp>
      <p:cxnSp>
        <p:nvCxnSpPr>
          <p:cNvPr id="15" name="Connector 14"/>
          <p:cNvCxnSpPr/>
          <p:nvPr/>
        </p:nvCxnSpPr>
        <p:spPr>
          <a:xfrm flipV="1">
            <a:off x="2862072" y="2547599"/>
            <a:ext cx="558263" cy="139077"/>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862072" y="2547599"/>
            <a:ext cx="558263" cy="139077"/>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2807208" y="2631812"/>
            <a:ext cx="109728" cy="109728"/>
          </a:xfrm>
          <a:prstGeom prst="ellipse">
            <a:avLst/>
          </a:prstGeom>
          <a:solidFill>
            <a:srgbClr val="4A2A6A"/>
          </a:solidFill>
          <a:ln>
            <a:noFill/>
          </a:ln>
        </p:spPr>
        <p:txBody>
          <a:bodyPr rtlCol="0" anchor="ctr"/>
          <a:lstStyle/>
          <a:p>
            <a:pPr algn="ctr"/>
          </a:p>
        </p:txBody>
      </p:sp>
      <p:sp>
        <p:nvSpPr>
          <p:cNvPr id="18" name="TextBox 17"/>
          <p:cNvSpPr txBox="1"/>
          <p:nvPr/>
        </p:nvSpPr>
        <p:spPr>
          <a:xfrm>
            <a:off x="457200" y="3505064"/>
            <a:ext cx="2240280" cy="621792"/>
          </a:xfrm>
          <a:prstGeom prst="rect">
            <a:avLst/>
          </a:prstGeom>
          <a:noFill/>
        </p:spPr>
        <p:txBody>
          <a:bodyPr wrap="square" anchor="t" lIns="0" rIns="0" tIns="0" bIns="0">
            <a:spAutoFit/>
          </a:bodyPr>
          <a:lstStyle/>
          <a:p>
            <a:pPr algn="r"/>
            <a:r>
              <a:rPr sz="1300" b="1" i="0">
                <a:solidFill>
                  <a:srgbClr val="4A2A6A"/>
                </a:solidFill>
                <a:latin typeface="Courier New"/>
              </a:rPr>
              <a:t>Insert field</a:t>
            </a:r>
          </a:p>
          <a:p>
            <a:pPr algn="r"/>
            <a:r>
              <a:rPr sz="1200" b="0" i="0">
                <a:solidFill>
                  <a:srgbClr val="6B6050"/>
                </a:solidFill>
                <a:latin typeface="Calibri"/>
              </a:rPr>
              <a:t>Lists what this step can use</a:t>
            </a:r>
          </a:p>
        </p:txBody>
      </p:sp>
      <p:cxnSp>
        <p:nvCxnSpPr>
          <p:cNvPr id="19" name="Connector 18"/>
          <p:cNvCxnSpPr/>
          <p:nvPr/>
        </p:nvCxnSpPr>
        <p:spPr>
          <a:xfrm flipV="1">
            <a:off x="2862072" y="2951981"/>
            <a:ext cx="558263" cy="671955"/>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862072" y="2951981"/>
            <a:ext cx="558263" cy="671955"/>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2807208" y="3569072"/>
            <a:ext cx="109728" cy="109728"/>
          </a:xfrm>
          <a:prstGeom prst="ellipse">
            <a:avLst/>
          </a:prstGeom>
          <a:solidFill>
            <a:srgbClr val="4A2A6A"/>
          </a:solidFill>
          <a:ln>
            <a:noFill/>
          </a:ln>
        </p:spPr>
        <p:txBody>
          <a:bodyPr rtlCol="0" anchor="ctr"/>
          <a:lstStyle/>
          <a:p>
            <a:pPr algn="ctr"/>
          </a:p>
        </p:txBody>
      </p:sp>
      <p:sp>
        <p:nvSpPr>
          <p:cNvPr id="22" name="TextBox 21"/>
          <p:cNvSpPr txBox="1"/>
          <p:nvPr/>
        </p:nvSpPr>
        <p:spPr>
          <a:xfrm>
            <a:off x="457200" y="4254872"/>
            <a:ext cx="2240280" cy="809244"/>
          </a:xfrm>
          <a:prstGeom prst="rect">
            <a:avLst/>
          </a:prstGeom>
          <a:noFill/>
        </p:spPr>
        <p:txBody>
          <a:bodyPr wrap="square" anchor="t" lIns="0" rIns="0" tIns="0" bIns="0">
            <a:spAutoFit/>
          </a:bodyPr>
          <a:lstStyle/>
          <a:p>
            <a:pPr algn="r"/>
            <a:r>
              <a:rPr sz="1300" b="1" i="0">
                <a:solidFill>
                  <a:srgbClr val="4A2A6A"/>
                </a:solidFill>
                <a:latin typeface="Courier New"/>
              </a:rPr>
              <a:t>isFinalFeedback</a:t>
            </a:r>
          </a:p>
          <a:p>
            <a:pPr algn="r"/>
            <a:r>
              <a:rPr sz="1200" b="0" i="0">
                <a:solidFill>
                  <a:srgbClr val="6B6050"/>
                </a:solidFill>
                <a:latin typeface="Calibri"/>
              </a:rPr>
              <a:t>Final step: feedback from {{transcript}} and {{evaluator.log}}</a:t>
            </a:r>
          </a:p>
        </p:txBody>
      </p:sp>
      <p:cxnSp>
        <p:nvCxnSpPr>
          <p:cNvPr id="23" name="Connector 22"/>
          <p:cNvCxnSpPr/>
          <p:nvPr/>
        </p:nvCxnSpPr>
        <p:spPr>
          <a:xfrm flipV="1">
            <a:off x="2862072" y="4330956"/>
            <a:ext cx="558263" cy="42788"/>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862072" y="4330956"/>
            <a:ext cx="558263" cy="42788"/>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2807208" y="4318880"/>
            <a:ext cx="109728" cy="109728"/>
          </a:xfrm>
          <a:prstGeom prst="ellipse">
            <a:avLst/>
          </a:prstGeom>
          <a:solidFill>
            <a:srgbClr val="4A2A6A"/>
          </a:solidFill>
          <a:ln>
            <a:noFill/>
          </a:ln>
        </p:spPr>
        <p:txBody>
          <a:bodyPr rtlCol="0" anchor="ctr"/>
          <a:lstStyle/>
          <a:p>
            <a:pPr algn="ctr"/>
          </a:p>
        </p:txBody>
      </p:sp>
      <p:sp>
        <p:nvSpPr>
          <p:cNvPr id="26" name="TextBox 25"/>
          <p:cNvSpPr txBox="1"/>
          <p:nvPr/>
        </p:nvSpPr>
        <p:spPr>
          <a:xfrm>
            <a:off x="457200" y="5192132"/>
            <a:ext cx="2240280" cy="621792"/>
          </a:xfrm>
          <a:prstGeom prst="rect">
            <a:avLst/>
          </a:prstGeom>
          <a:noFill/>
        </p:spPr>
        <p:txBody>
          <a:bodyPr wrap="square" anchor="t" lIns="0" rIns="0" tIns="0" bIns="0">
            <a:spAutoFit/>
          </a:bodyPr>
          <a:lstStyle/>
          <a:p>
            <a:pPr algn="r"/>
            <a:r>
              <a:rPr sz="1300" b="1" i="0">
                <a:solidFill>
                  <a:srgbClr val="4A2A6A"/>
                </a:solidFill>
                <a:latin typeface="Courier New"/>
              </a:rPr>
              <a:t>strategy</a:t>
            </a:r>
          </a:p>
          <a:p>
            <a:pPr algn="r"/>
            <a:r>
              <a:rPr sz="1200" b="0" i="0">
                <a:solidFill>
                  <a:srgbClr val="6B6050"/>
                </a:solidFill>
                <a:latin typeface="Calibri"/>
              </a:rPr>
              <a:t>Final feedback or Gamification</a:t>
            </a:r>
          </a:p>
        </p:txBody>
      </p:sp>
      <p:cxnSp>
        <p:nvCxnSpPr>
          <p:cNvPr id="27" name="Connector 26"/>
          <p:cNvCxnSpPr/>
          <p:nvPr/>
        </p:nvCxnSpPr>
        <p:spPr>
          <a:xfrm flipV="1">
            <a:off x="2862072" y="5064135"/>
            <a:ext cx="558263" cy="246869"/>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62072" y="5064135"/>
            <a:ext cx="558263" cy="246869"/>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2807208" y="5256140"/>
            <a:ext cx="109728" cy="109728"/>
          </a:xfrm>
          <a:prstGeom prst="ellipse">
            <a:avLst/>
          </a:prstGeom>
          <a:solidFill>
            <a:srgbClr val="4A2A6A"/>
          </a:solidFill>
          <a:ln>
            <a:noFill/>
          </a:ln>
        </p:spPr>
        <p:txBody>
          <a:bodyPr rtlCol="0" anchor="ctr"/>
          <a:lstStyle/>
          <a:p>
            <a:pPr algn="ctr"/>
          </a:p>
        </p:txBody>
      </p:sp>
      <p:sp>
        <p:nvSpPr>
          <p:cNvPr id="30" name="TextBox 29"/>
          <p:cNvSpPr txBox="1"/>
          <p:nvPr/>
        </p:nvSpPr>
        <p:spPr>
          <a:xfrm>
            <a:off x="9509760" y="2111268"/>
            <a:ext cx="2240280" cy="621792"/>
          </a:xfrm>
          <a:prstGeom prst="rect">
            <a:avLst/>
          </a:prstGeom>
          <a:noFill/>
        </p:spPr>
        <p:txBody>
          <a:bodyPr wrap="square" anchor="t" lIns="0" rIns="0" tIns="0" bIns="0">
            <a:spAutoFit/>
          </a:bodyPr>
          <a:lstStyle/>
          <a:p>
            <a:pPr algn="l"/>
            <a:r>
              <a:rPr sz="1300" b="1" i="0">
                <a:solidFill>
                  <a:srgbClr val="4A2A6A"/>
                </a:solidFill>
                <a:latin typeface="Courier New"/>
              </a:rPr>
              <a:t>assistant</a:t>
            </a:r>
          </a:p>
          <a:p>
            <a:pPr algn="l"/>
            <a:r>
              <a:rPr sz="1200" b="0" i="0">
                <a:solidFill>
                  <a:srgbClr val="6B6050"/>
                </a:solidFill>
                <a:latin typeface="Calibri"/>
              </a:rPr>
              <a:t>Drafts the prompt, or one that writes a vignette</a:t>
            </a:r>
          </a:p>
        </p:txBody>
      </p:sp>
      <p:cxnSp>
        <p:nvCxnSpPr>
          <p:cNvPr id="31" name="Connector 30"/>
          <p:cNvCxnSpPr/>
          <p:nvPr/>
        </p:nvCxnSpPr>
        <p:spPr>
          <a:xfrm flipH="1">
            <a:off x="7758942" y="2230140"/>
            <a:ext cx="1586225"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758942" y="2230140"/>
            <a:ext cx="1586225" cy="0"/>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290303" y="2175276"/>
            <a:ext cx="109728" cy="109728"/>
          </a:xfrm>
          <a:prstGeom prst="ellipse">
            <a:avLst/>
          </a:prstGeom>
          <a:solidFill>
            <a:srgbClr val="4A2A6A"/>
          </a:solidFill>
          <a:ln>
            <a:noFill/>
          </a:ln>
        </p:spPr>
        <p:txBody>
          <a:bodyPr rtlCol="0" anchor="ctr"/>
          <a:lstStyle/>
          <a:p>
            <a:pPr algn="ctr"/>
          </a:p>
        </p:txBody>
      </p:sp>
      <p:sp>
        <p:nvSpPr>
          <p:cNvPr id="34" name="TextBox 33"/>
          <p:cNvSpPr txBox="1"/>
          <p:nvPr/>
        </p:nvSpPr>
        <p:spPr>
          <a:xfrm>
            <a:off x="9509760" y="3769908"/>
            <a:ext cx="2240280" cy="434340"/>
          </a:xfrm>
          <a:prstGeom prst="rect">
            <a:avLst/>
          </a:prstGeom>
          <a:noFill/>
        </p:spPr>
        <p:txBody>
          <a:bodyPr wrap="square" anchor="t" lIns="0" rIns="0" tIns="0" bIns="0">
            <a:spAutoFit/>
          </a:bodyPr>
          <a:lstStyle/>
          <a:p>
            <a:pPr algn="l"/>
            <a:r>
              <a:rPr sz="1300" b="1" i="0">
                <a:solidFill>
                  <a:srgbClr val="4A2A6A"/>
                </a:solidFill>
                <a:latin typeface="Courier New"/>
              </a:rPr>
              <a:t>strategies</a:t>
            </a:r>
          </a:p>
          <a:p>
            <a:pPr algn="l"/>
            <a:r>
              <a:rPr sz="1200" b="0" i="0">
                <a:solidFill>
                  <a:srgbClr val="6B6050"/>
                </a:solidFill>
                <a:latin typeface="Calibri"/>
              </a:rPr>
              <a:t>One attached: 1</a:t>
            </a:r>
          </a:p>
        </p:txBody>
      </p:sp>
      <p:cxnSp>
        <p:nvCxnSpPr>
          <p:cNvPr id="35" name="Connector 34"/>
          <p:cNvCxnSpPr/>
          <p:nvPr/>
        </p:nvCxnSpPr>
        <p:spPr>
          <a:xfrm flipH="1">
            <a:off x="8461887" y="3888780"/>
            <a:ext cx="88328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8461887" y="3888780"/>
            <a:ext cx="883280" cy="0"/>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9290303" y="3833916"/>
            <a:ext cx="109728" cy="109728"/>
          </a:xfrm>
          <a:prstGeom prst="ellipse">
            <a:avLst/>
          </a:prstGeom>
          <a:solidFill>
            <a:srgbClr val="4A2A6A"/>
          </a:solidFill>
          <a:ln>
            <a:noFill/>
          </a:ln>
        </p:spPr>
        <p:txBody>
          <a:bodyPr rtlCol="0" anchor="ctr"/>
          <a:lstStyle/>
          <a:p>
            <a:pPr algn="ctr"/>
          </a:p>
        </p:txBody>
      </p:sp>
      <p:sp>
        <p:nvSpPr>
          <p:cNvPr id="38" name="TextBox 37"/>
          <p:cNvSpPr txBox="1"/>
          <p:nvPr/>
        </p:nvSpPr>
        <p:spPr>
          <a:xfrm>
            <a:off x="9509760" y="4332264"/>
            <a:ext cx="2240280" cy="621792"/>
          </a:xfrm>
          <a:prstGeom prst="rect">
            <a:avLst/>
          </a:prstGeom>
          <a:noFill/>
        </p:spPr>
        <p:txBody>
          <a:bodyPr wrap="square" anchor="t" lIns="0" rIns="0" tIns="0" bIns="0">
            <a:spAutoFit/>
          </a:bodyPr>
          <a:lstStyle/>
          <a:p>
            <a:pPr algn="l"/>
            <a:r>
              <a:rPr sz="1300" b="1" i="0">
                <a:solidFill>
                  <a:srgbClr val="7A3E1A"/>
                </a:solidFill>
                <a:latin typeface="Courier New"/>
              </a:rPr>
              <a:t>{{fields}}</a:t>
            </a:r>
          </a:p>
          <a:p>
            <a:pPr algn="l"/>
            <a:r>
              <a:rPr sz="1200" b="0" i="0">
                <a:solidFill>
                  <a:srgbClr val="6B6050"/>
                </a:solidFill>
                <a:latin typeface="Calibri"/>
              </a:rPr>
              <a:t>Amber when known; red when unknown or not yet available</a:t>
            </a:r>
          </a:p>
        </p:txBody>
      </p:sp>
      <p:cxnSp>
        <p:nvCxnSpPr>
          <p:cNvPr id="39" name="Connector 38"/>
          <p:cNvCxnSpPr/>
          <p:nvPr/>
        </p:nvCxnSpPr>
        <p:spPr>
          <a:xfrm flipH="1" flipV="1">
            <a:off x="7864761" y="4249701"/>
            <a:ext cx="1480406" cy="201435"/>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7864761" y="4249701"/>
            <a:ext cx="1480406" cy="201435"/>
          </a:xfrm>
          <a:prstGeom prst="line">
            <a:avLst/>
          </a:prstGeom>
          <a:ln w="19050">
            <a:solidFill>
              <a:srgbClr val="7A3E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9290303" y="4396272"/>
            <a:ext cx="109728" cy="109728"/>
          </a:xfrm>
          <a:prstGeom prst="ellipse">
            <a:avLst/>
          </a:prstGeom>
          <a:solidFill>
            <a:srgbClr val="7A3E1A"/>
          </a:solidFill>
          <a:ln>
            <a:noFill/>
          </a:ln>
        </p:spPr>
        <p:txBody>
          <a:bodyPr rtlCol="0" anchor="ctr"/>
          <a:lstStyle/>
          <a:p>
            <a:pPr algn="ctr"/>
          </a:p>
        </p:txBody>
      </p:sp>
      <p:sp>
        <p:nvSpPr>
          <p:cNvPr id="42" name="TextBox 41"/>
          <p:cNvSpPr txBox="1"/>
          <p:nvPr/>
        </p:nvSpPr>
        <p:spPr>
          <a:xfrm>
            <a:off x="9509760" y="5082072"/>
            <a:ext cx="2240280" cy="621792"/>
          </a:xfrm>
          <a:prstGeom prst="rect">
            <a:avLst/>
          </a:prstGeom>
          <a:noFill/>
        </p:spPr>
        <p:txBody>
          <a:bodyPr wrap="square" anchor="t" lIns="0" rIns="0" tIns="0" bIns="0">
            <a:spAutoFit/>
          </a:bodyPr>
          <a:lstStyle/>
          <a:p>
            <a:pPr algn="l"/>
            <a:r>
              <a:rPr sz="1300" b="1" i="0">
                <a:solidFill>
                  <a:srgbClr val="4A2A6A"/>
                </a:solidFill>
                <a:latin typeface="Courier New"/>
              </a:rPr>
              <a:t>moment</a:t>
            </a:r>
          </a:p>
          <a:p>
            <a:pPr algn="l"/>
            <a:r>
              <a:rPr sz="1200" b="0" i="0">
                <a:solidFill>
                  <a:srgbClr val="6B6050"/>
                </a:solidFill>
                <a:latin typeface="Calibri"/>
              </a:rPr>
              <a:t>on start · per turn · at end; click to change</a:t>
            </a:r>
          </a:p>
        </p:txBody>
      </p:sp>
      <p:cxnSp>
        <p:nvCxnSpPr>
          <p:cNvPr id="43" name="Connector 42"/>
          <p:cNvCxnSpPr/>
          <p:nvPr/>
        </p:nvCxnSpPr>
        <p:spPr>
          <a:xfrm flipH="1" flipV="1">
            <a:off x="4599468" y="5064135"/>
            <a:ext cx="4745699" cy="136809"/>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4599468" y="5064135"/>
            <a:ext cx="4745699" cy="136809"/>
          </a:xfrm>
          <a:prstGeom prst="line">
            <a:avLst/>
          </a:prstGeom>
          <a:ln w="19050">
            <a:solidFill>
              <a:srgbClr val="4A2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9290303" y="5146080"/>
            <a:ext cx="109728" cy="109728"/>
          </a:xfrm>
          <a:prstGeom prst="ellipse">
            <a:avLst/>
          </a:prstGeom>
          <a:solidFill>
            <a:srgbClr val="4A2A6A"/>
          </a:solidFill>
          <a:ln>
            <a:noFill/>
          </a:ln>
        </p:spPr>
        <p:txBody>
          <a:bodyPr rtlCol="0" anchor="ctr"/>
          <a:lstStyle/>
          <a:p>
            <a:pPr algn="ctr"/>
          </a:p>
        </p:txBody>
      </p:sp>
      <p:sp>
        <p:nvSpPr>
          <p:cNvPr id="46" name="TextBox 45"/>
          <p:cNvSpPr txBox="1"/>
          <p:nvPr/>
        </p:nvSpPr>
        <p:spPr>
          <a:xfrm>
            <a:off x="3291840" y="6172200"/>
            <a:ext cx="5623560" cy="274320"/>
          </a:xfrm>
          <a:prstGeom prst="rect">
            <a:avLst/>
          </a:prstGeom>
          <a:noFill/>
        </p:spPr>
        <p:txBody>
          <a:bodyPr wrap="square" anchor="t" lIns="0" rIns="0" tIns="0" bIns="0">
            <a:spAutoFit/>
          </a:bodyPr>
          <a:lstStyle/>
          <a:p>
            <a:pPr algn="l"/>
            <a:r>
              <a:rPr sz="1200" b="0" i="0">
                <a:solidFill>
                  <a:srgbClr val="6B6050"/>
                </a:solidFill>
                <a:latin typeface="Calibri"/>
              </a:rPr>
              <a:t>Also in the document: </a:t>
            </a:r>
            <a:r>
              <a:rPr sz="1200" b="1" i="0">
                <a:solidFill>
                  <a:srgbClr val="4A2A6A"/>
                </a:solidFill>
                <a:latin typeface="Courier New"/>
              </a:rPr>
              <a:t>ref</a:t>
            </a:r>
            <a:r>
              <a:rPr sz="1200" b="0" i="0">
                <a:solidFill>
                  <a:srgbClr val="6B6050"/>
                </a:solidFill>
                <a:latin typeface="Calibri"/>
              </a:rPr>
              <a:t>  makes the generated text a field for later steps.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Interaction</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A multi-turn conversation between the student and an agent</a:t>
            </a:r>
          </a:p>
        </p:txBody>
      </p:sp>
      <p:sp>
        <p:nvSpPr>
          <p:cNvPr id="4" name="Oval 3"/>
          <p:cNvSpPr/>
          <p:nvPr/>
        </p:nvSpPr>
        <p:spPr>
          <a:xfrm>
            <a:off x="10908792" y="457200"/>
            <a:ext cx="731520" cy="731520"/>
          </a:xfrm>
          <a:prstGeom prst="ellipse">
            <a:avLst/>
          </a:prstGeom>
          <a:solidFill>
            <a:srgbClr val="1A3A30"/>
          </a:solidFill>
          <a:ln>
            <a:noFill/>
          </a:ln>
        </p:spPr>
        <p:txBody>
          <a:bodyPr rtlCol="0" anchor="ctr"/>
          <a:lstStyle/>
          <a:p>
            <a:pPr algn="ctr"/>
          </a:p>
        </p:txBody>
      </p:sp>
      <p:pic>
        <p:nvPicPr>
          <p:cNvPr id="5" name="Picture 4" descr="image.png"/>
          <p:cNvPicPr>
            <a:picLocks noChangeAspect="1"/>
          </p:cNvPicPr>
          <p:nvPr/>
        </p:nvPicPr>
        <p:blipFill>
          <a:blip r:embed="rId2"/>
          <a:stretch>
            <a:fillRect/>
          </a:stretch>
        </p:blipFill>
        <p:spPr>
          <a:xfrm>
            <a:off x="11069726" y="618134"/>
            <a:ext cx="409651" cy="409651"/>
          </a:xfrm>
          <a:prstGeom prst="rect">
            <a:avLst/>
          </a:prstGeom>
        </p:spPr>
      </p:pic>
      <p:pic>
        <p:nvPicPr>
          <p:cNvPr id="6" name="Picture 5" descr="interaction.png"/>
          <p:cNvPicPr>
            <a:picLocks noChangeAspect="1"/>
          </p:cNvPicPr>
          <p:nvPr/>
        </p:nvPicPr>
        <p:blipFill>
          <a:blip r:embed="rId3"/>
          <a:stretch>
            <a:fillRect/>
          </a:stretch>
        </p:blipFill>
        <p:spPr>
          <a:xfrm>
            <a:off x="3154680" y="1691640"/>
            <a:ext cx="6348429" cy="4572000"/>
          </a:xfrm>
          <a:prstGeom prst="rect">
            <a:avLst/>
          </a:prstGeom>
          <a:ln w="9525">
            <a:solidFill>
              <a:srgbClr val="DDD6C8"/>
            </a:solidFill>
          </a:ln>
        </p:spPr>
      </p:pic>
      <p:sp>
        <p:nvSpPr>
          <p:cNvPr id="7" name="TextBox 6"/>
          <p:cNvSpPr txBox="1"/>
          <p:nvPr/>
        </p:nvSpPr>
        <p:spPr>
          <a:xfrm>
            <a:off x="457200" y="1803154"/>
            <a:ext cx="2103120" cy="434340"/>
          </a:xfrm>
          <a:prstGeom prst="rect">
            <a:avLst/>
          </a:prstGeom>
          <a:noFill/>
        </p:spPr>
        <p:txBody>
          <a:bodyPr wrap="square" anchor="t" lIns="0" rIns="0" tIns="0" bIns="0">
            <a:spAutoFit/>
          </a:bodyPr>
          <a:lstStyle/>
          <a:p>
            <a:pPr algn="r"/>
            <a:r>
              <a:rPr sz="1300" b="1" i="0">
                <a:solidFill>
                  <a:srgbClr val="1A3A30"/>
                </a:solidFill>
                <a:latin typeface="Courier New"/>
              </a:rPr>
              <a:t>kind</a:t>
            </a:r>
          </a:p>
          <a:p>
            <a:pPr algn="r"/>
            <a:r>
              <a:rPr sz="1200" b="0" i="0">
                <a:solidFill>
                  <a:srgbClr val="6B6050"/>
                </a:solidFill>
                <a:latin typeface="Calibri"/>
              </a:rPr>
              <a:t>interaction</a:t>
            </a:r>
          </a:p>
        </p:txBody>
      </p:sp>
      <p:cxnSp>
        <p:nvCxnSpPr>
          <p:cNvPr id="8" name="Connector 7"/>
          <p:cNvCxnSpPr/>
          <p:nvPr/>
        </p:nvCxnSpPr>
        <p:spPr>
          <a:xfrm>
            <a:off x="2724912" y="1922026"/>
            <a:ext cx="55776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724912" y="1922026"/>
            <a:ext cx="557760" cy="0"/>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2670048" y="1867162"/>
            <a:ext cx="109728" cy="109728"/>
          </a:xfrm>
          <a:prstGeom prst="ellipse">
            <a:avLst/>
          </a:prstGeom>
          <a:solidFill>
            <a:srgbClr val="1A3A30"/>
          </a:solidFill>
          <a:ln>
            <a:noFill/>
          </a:ln>
        </p:spPr>
        <p:txBody>
          <a:bodyPr rtlCol="0" anchor="ctr"/>
          <a:lstStyle/>
          <a:p>
            <a:pPr algn="ctr"/>
          </a:p>
        </p:txBody>
      </p:sp>
      <p:sp>
        <p:nvSpPr>
          <p:cNvPr id="11" name="TextBox 10"/>
          <p:cNvSpPr txBox="1"/>
          <p:nvPr/>
        </p:nvSpPr>
        <p:spPr>
          <a:xfrm>
            <a:off x="457200" y="2365510"/>
            <a:ext cx="2103120" cy="809244"/>
          </a:xfrm>
          <a:prstGeom prst="rect">
            <a:avLst/>
          </a:prstGeom>
          <a:noFill/>
        </p:spPr>
        <p:txBody>
          <a:bodyPr wrap="square" anchor="t" lIns="0" rIns="0" tIns="0" bIns="0">
            <a:spAutoFit/>
          </a:bodyPr>
          <a:lstStyle/>
          <a:p>
            <a:pPr algn="r"/>
            <a:r>
              <a:rPr sz="1300" b="1" i="0">
                <a:solidFill>
                  <a:srgbClr val="1A3A30"/>
                </a:solidFill>
                <a:latin typeface="Courier New"/>
              </a:rPr>
              <a:t>text</a:t>
            </a:r>
          </a:p>
          <a:p>
            <a:pPr algn="r"/>
            <a:r>
              <a:rPr sz="1200" b="0" i="0">
                <a:solidFill>
                  <a:srgbClr val="6B6050"/>
                </a:solidFill>
                <a:latin typeface="Calibri"/>
              </a:rPr>
              <a:t>The agent's prompt: what to discuss, what to compare, how to help</a:t>
            </a:r>
          </a:p>
        </p:txBody>
      </p:sp>
      <p:cxnSp>
        <p:nvCxnSpPr>
          <p:cNvPr id="12" name="Connector 11"/>
          <p:cNvCxnSpPr/>
          <p:nvPr/>
        </p:nvCxnSpPr>
        <p:spPr>
          <a:xfrm flipV="1">
            <a:off x="2724912" y="2449995"/>
            <a:ext cx="574826" cy="34387"/>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724912" y="2449995"/>
            <a:ext cx="574826" cy="34387"/>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670048" y="2429518"/>
            <a:ext cx="109728" cy="109728"/>
          </a:xfrm>
          <a:prstGeom prst="ellipse">
            <a:avLst/>
          </a:prstGeom>
          <a:solidFill>
            <a:srgbClr val="1A3A30"/>
          </a:solidFill>
          <a:ln>
            <a:noFill/>
          </a:ln>
        </p:spPr>
        <p:txBody>
          <a:bodyPr rtlCol="0" anchor="ctr"/>
          <a:lstStyle/>
          <a:p>
            <a:pPr algn="ctr"/>
          </a:p>
        </p:txBody>
      </p:sp>
      <p:sp>
        <p:nvSpPr>
          <p:cNvPr id="15" name="TextBox 14"/>
          <p:cNvSpPr txBox="1"/>
          <p:nvPr/>
        </p:nvSpPr>
        <p:spPr>
          <a:xfrm>
            <a:off x="457200" y="3492656"/>
            <a:ext cx="2103120" cy="809244"/>
          </a:xfrm>
          <a:prstGeom prst="rect">
            <a:avLst/>
          </a:prstGeom>
          <a:noFill/>
        </p:spPr>
        <p:txBody>
          <a:bodyPr wrap="square" anchor="t" lIns="0" rIns="0" tIns="0" bIns="0">
            <a:spAutoFit/>
          </a:bodyPr>
          <a:lstStyle/>
          <a:p>
            <a:pPr algn="r"/>
            <a:r>
              <a:rPr sz="1300" b="1" i="0">
                <a:solidFill>
                  <a:srgbClr val="1A3A30"/>
                </a:solidFill>
                <a:latin typeface="Courier New"/>
              </a:rPr>
              <a:t>endsWhen</a:t>
            </a:r>
          </a:p>
          <a:p>
            <a:pPr algn="r"/>
            <a:r>
              <a:rPr sz="1200" b="0" i="0">
                <a:solidFill>
                  <a:srgbClr val="6B6050"/>
                </a:solidFill>
                <a:latin typeface="Calibri"/>
              </a:rPr>
              <a:t>Optional end condition, checked by an LLM after each turn</a:t>
            </a:r>
          </a:p>
        </p:txBody>
      </p:sp>
      <p:cxnSp>
        <p:nvCxnSpPr>
          <p:cNvPr id="16" name="Connector 15"/>
          <p:cNvCxnSpPr/>
          <p:nvPr/>
        </p:nvCxnSpPr>
        <p:spPr>
          <a:xfrm>
            <a:off x="2724912" y="3611528"/>
            <a:ext cx="668687"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724912" y="3611528"/>
            <a:ext cx="668687" cy="0"/>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2670048" y="3556664"/>
            <a:ext cx="109728" cy="109728"/>
          </a:xfrm>
          <a:prstGeom prst="ellipse">
            <a:avLst/>
          </a:prstGeom>
          <a:solidFill>
            <a:srgbClr val="1A3A30"/>
          </a:solidFill>
          <a:ln>
            <a:noFill/>
          </a:ln>
        </p:spPr>
        <p:txBody>
          <a:bodyPr rtlCol="0" anchor="ctr"/>
          <a:lstStyle/>
          <a:p>
            <a:pPr algn="ctr"/>
          </a:p>
        </p:txBody>
      </p:sp>
      <p:sp>
        <p:nvSpPr>
          <p:cNvPr id="19" name="TextBox 18"/>
          <p:cNvSpPr txBox="1"/>
          <p:nvPr/>
        </p:nvSpPr>
        <p:spPr>
          <a:xfrm>
            <a:off x="457200" y="4429916"/>
            <a:ext cx="2103120" cy="621792"/>
          </a:xfrm>
          <a:prstGeom prst="rect">
            <a:avLst/>
          </a:prstGeom>
          <a:noFill/>
        </p:spPr>
        <p:txBody>
          <a:bodyPr wrap="square" anchor="t" lIns="0" rIns="0" tIns="0" bIns="0">
            <a:spAutoFit/>
          </a:bodyPr>
          <a:lstStyle/>
          <a:p>
            <a:pPr algn="r"/>
            <a:r>
              <a:rPr sz="1300" b="1" i="0">
                <a:solidFill>
                  <a:srgbClr val="1A3A30"/>
                </a:solidFill>
                <a:latin typeface="Courier New"/>
              </a:rPr>
              <a:t>maxTurns</a:t>
            </a:r>
          </a:p>
          <a:p>
            <a:pPr algn="r"/>
            <a:r>
              <a:rPr sz="1200" b="0" i="0">
                <a:solidFill>
                  <a:srgbClr val="6B6050"/>
                </a:solidFill>
                <a:latin typeface="Calibri"/>
              </a:rPr>
              <a:t>Required, 1–50: hard limit on student turns</a:t>
            </a:r>
          </a:p>
        </p:txBody>
      </p:sp>
      <p:cxnSp>
        <p:nvCxnSpPr>
          <p:cNvPr id="20" name="Connector 19"/>
          <p:cNvCxnSpPr/>
          <p:nvPr/>
        </p:nvCxnSpPr>
        <p:spPr>
          <a:xfrm flipV="1">
            <a:off x="2724912" y="4283488"/>
            <a:ext cx="1189190" cy="26530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724912" y="4283488"/>
            <a:ext cx="1189190" cy="265300"/>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2670048" y="4493924"/>
            <a:ext cx="109728" cy="109728"/>
          </a:xfrm>
          <a:prstGeom prst="ellipse">
            <a:avLst/>
          </a:prstGeom>
          <a:solidFill>
            <a:srgbClr val="1A3A30"/>
          </a:solidFill>
          <a:ln>
            <a:noFill/>
          </a:ln>
        </p:spPr>
        <p:txBody>
          <a:bodyPr rtlCol="0" anchor="ctr"/>
          <a:lstStyle/>
          <a:p>
            <a:pPr algn="ctr"/>
          </a:p>
        </p:txBody>
      </p:sp>
      <p:sp>
        <p:nvSpPr>
          <p:cNvPr id="23" name="TextBox 22"/>
          <p:cNvSpPr txBox="1"/>
          <p:nvPr/>
        </p:nvSpPr>
        <p:spPr>
          <a:xfrm>
            <a:off x="457200" y="5179724"/>
            <a:ext cx="2103120" cy="621792"/>
          </a:xfrm>
          <a:prstGeom prst="rect">
            <a:avLst/>
          </a:prstGeom>
          <a:noFill/>
        </p:spPr>
        <p:txBody>
          <a:bodyPr wrap="square" anchor="t" lIns="0" rIns="0" tIns="0" bIns="0">
            <a:spAutoFit/>
          </a:bodyPr>
          <a:lstStyle/>
          <a:p>
            <a:pPr algn="r"/>
            <a:r>
              <a:rPr sz="1300" b="1" i="0">
                <a:solidFill>
                  <a:srgbClr val="1A3A30"/>
                </a:solidFill>
                <a:latin typeface="Courier New"/>
              </a:rPr>
              <a:t>strategy</a:t>
            </a:r>
          </a:p>
          <a:p>
            <a:pPr algn="r"/>
            <a:r>
              <a:rPr sz="1200" b="0" i="0">
                <a:solidFill>
                  <a:srgbClr val="6B6050"/>
                </a:solidFill>
                <a:latin typeface="Calibri"/>
              </a:rPr>
              <a:t>Feedback, Patient or Gamification</a:t>
            </a:r>
          </a:p>
        </p:txBody>
      </p:sp>
      <p:cxnSp>
        <p:nvCxnSpPr>
          <p:cNvPr id="24" name="Connector 23"/>
          <p:cNvCxnSpPr/>
          <p:nvPr/>
        </p:nvCxnSpPr>
        <p:spPr>
          <a:xfrm flipV="1">
            <a:off x="2724912" y="4616269"/>
            <a:ext cx="574826" cy="682327"/>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24912" y="4616269"/>
            <a:ext cx="574826" cy="682327"/>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2670048" y="5243732"/>
            <a:ext cx="109728" cy="109728"/>
          </a:xfrm>
          <a:prstGeom prst="ellipse">
            <a:avLst/>
          </a:prstGeom>
          <a:solidFill>
            <a:srgbClr val="1A3A30"/>
          </a:solidFill>
          <a:ln>
            <a:noFill/>
          </a:ln>
        </p:spPr>
        <p:txBody>
          <a:bodyPr rtlCol="0" anchor="ctr"/>
          <a:lstStyle/>
          <a:p>
            <a:pPr algn="ctr"/>
          </a:p>
        </p:txBody>
      </p:sp>
      <p:sp>
        <p:nvSpPr>
          <p:cNvPr id="27" name="TextBox 26"/>
          <p:cNvSpPr txBox="1"/>
          <p:nvPr/>
        </p:nvSpPr>
        <p:spPr>
          <a:xfrm>
            <a:off x="9692640" y="1922614"/>
            <a:ext cx="2057399" cy="434340"/>
          </a:xfrm>
          <a:prstGeom prst="rect">
            <a:avLst/>
          </a:prstGeom>
          <a:noFill/>
        </p:spPr>
        <p:txBody>
          <a:bodyPr wrap="square" anchor="t" lIns="0" rIns="0" tIns="0" bIns="0">
            <a:spAutoFit/>
          </a:bodyPr>
          <a:lstStyle/>
          <a:p>
            <a:pPr algn="l"/>
            <a:r>
              <a:rPr sz="1300" b="1" i="0">
                <a:solidFill>
                  <a:srgbClr val="1A3A30"/>
                </a:solidFill>
                <a:latin typeface="Courier New"/>
              </a:rPr>
              <a:t>strategies</a:t>
            </a:r>
          </a:p>
          <a:p>
            <a:pPr algn="l"/>
            <a:r>
              <a:rPr sz="1200" b="0" i="0">
                <a:solidFill>
                  <a:srgbClr val="6B6050"/>
                </a:solidFill>
                <a:latin typeface="Calibri"/>
              </a:rPr>
              <a:t>Pick from the popover</a:t>
            </a:r>
          </a:p>
        </p:txBody>
      </p:sp>
      <p:cxnSp>
        <p:nvCxnSpPr>
          <p:cNvPr id="28" name="Connector 27"/>
          <p:cNvCxnSpPr/>
          <p:nvPr/>
        </p:nvCxnSpPr>
        <p:spPr>
          <a:xfrm flipH="1">
            <a:off x="8991139" y="2041486"/>
            <a:ext cx="536909"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991139" y="2041486"/>
            <a:ext cx="536909" cy="0"/>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9473184" y="1986622"/>
            <a:ext cx="109728" cy="109728"/>
          </a:xfrm>
          <a:prstGeom prst="ellipse">
            <a:avLst/>
          </a:prstGeom>
          <a:solidFill>
            <a:srgbClr val="1A3A30"/>
          </a:solidFill>
          <a:ln>
            <a:noFill/>
          </a:ln>
        </p:spPr>
        <p:txBody>
          <a:bodyPr rtlCol="0" anchor="ctr"/>
          <a:lstStyle/>
          <a:p>
            <a:pPr algn="ctr"/>
          </a:p>
        </p:txBody>
      </p:sp>
      <p:sp>
        <p:nvSpPr>
          <p:cNvPr id="31" name="TextBox 30"/>
          <p:cNvSpPr txBox="1"/>
          <p:nvPr/>
        </p:nvSpPr>
        <p:spPr>
          <a:xfrm>
            <a:off x="9692640" y="2484970"/>
            <a:ext cx="2057399" cy="434340"/>
          </a:xfrm>
          <a:prstGeom prst="rect">
            <a:avLst/>
          </a:prstGeom>
          <a:noFill/>
        </p:spPr>
        <p:txBody>
          <a:bodyPr wrap="square" anchor="t" lIns="0" rIns="0" tIns="0" bIns="0">
            <a:spAutoFit/>
          </a:bodyPr>
          <a:lstStyle/>
          <a:p>
            <a:pPr algn="l"/>
            <a:r>
              <a:rPr sz="1300" b="1" i="0">
                <a:solidFill>
                  <a:srgbClr val="1A3A5A"/>
                </a:solidFill>
                <a:latin typeface="Courier New"/>
              </a:rPr>
              <a:t>sideInfo</a:t>
            </a:r>
          </a:p>
          <a:p>
            <a:pPr algn="l"/>
            <a:r>
              <a:rPr sz="1200" b="0" i="0">
                <a:solidFill>
                  <a:srgbClr val="6B6050"/>
                </a:solidFill>
                <a:latin typeface="Calibri"/>
              </a:rPr>
              <a:t>Attach hidden information</a:t>
            </a:r>
          </a:p>
        </p:txBody>
      </p:sp>
      <p:cxnSp>
        <p:nvCxnSpPr>
          <p:cNvPr id="32" name="Connector 31"/>
          <p:cNvCxnSpPr/>
          <p:nvPr/>
        </p:nvCxnSpPr>
        <p:spPr>
          <a:xfrm flipH="1" flipV="1">
            <a:off x="8675424" y="2041486"/>
            <a:ext cx="852624" cy="562356"/>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8675424" y="2041486"/>
            <a:ext cx="852624" cy="562356"/>
          </a:xfrm>
          <a:prstGeom prst="line">
            <a:avLst/>
          </a:prstGeom>
          <a:ln w="19050">
            <a:solidFill>
              <a:srgbClr val="1A3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9473184" y="2548978"/>
            <a:ext cx="109728" cy="109728"/>
          </a:xfrm>
          <a:prstGeom prst="ellipse">
            <a:avLst/>
          </a:prstGeom>
          <a:solidFill>
            <a:srgbClr val="1A3A5A"/>
          </a:solidFill>
          <a:ln>
            <a:noFill/>
          </a:ln>
        </p:spPr>
        <p:txBody>
          <a:bodyPr rtlCol="0" anchor="ctr"/>
          <a:lstStyle/>
          <a:p>
            <a:pPr algn="ctr"/>
          </a:p>
        </p:txBody>
      </p:sp>
      <p:sp>
        <p:nvSpPr>
          <p:cNvPr id="35" name="TextBox 34"/>
          <p:cNvSpPr txBox="1"/>
          <p:nvPr/>
        </p:nvSpPr>
        <p:spPr>
          <a:xfrm>
            <a:off x="9692640" y="4164616"/>
            <a:ext cx="2057399" cy="621792"/>
          </a:xfrm>
          <a:prstGeom prst="rect">
            <a:avLst/>
          </a:prstGeom>
          <a:noFill/>
        </p:spPr>
        <p:txBody>
          <a:bodyPr wrap="square" anchor="t" lIns="0" rIns="0" tIns="0" bIns="0">
            <a:spAutoFit/>
          </a:bodyPr>
          <a:lstStyle/>
          <a:p>
            <a:pPr algn="l"/>
            <a:r>
              <a:rPr sz="1300" b="1" i="0">
                <a:solidFill>
                  <a:srgbClr val="1A3A30"/>
                </a:solidFill>
                <a:latin typeface="Courier New"/>
              </a:rPr>
              <a:t>allowStudentExit</a:t>
            </a:r>
          </a:p>
          <a:p>
            <a:pPr algn="l"/>
            <a:r>
              <a:rPr sz="1200" b="0" i="0">
                <a:solidFill>
                  <a:srgbClr val="6B6050"/>
                </a:solidFill>
                <a:latin typeface="Calibri"/>
              </a:rPr>
              <a:t>Shows an I'm done button (on by default)</a:t>
            </a:r>
          </a:p>
        </p:txBody>
      </p:sp>
      <p:cxnSp>
        <p:nvCxnSpPr>
          <p:cNvPr id="36" name="Connector 35"/>
          <p:cNvCxnSpPr/>
          <p:nvPr/>
        </p:nvCxnSpPr>
        <p:spPr>
          <a:xfrm flipH="1">
            <a:off x="6328894" y="4283488"/>
            <a:ext cx="3199154"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328894" y="4283488"/>
            <a:ext cx="3199154" cy="0"/>
          </a:xfrm>
          <a:prstGeom prst="line">
            <a:avLst/>
          </a:prstGeom>
          <a:ln w="19050">
            <a:solidFill>
              <a:srgbClr val="1A3A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9473184" y="4228624"/>
            <a:ext cx="109728" cy="109728"/>
          </a:xfrm>
          <a:prstGeom prst="ellipse">
            <a:avLst/>
          </a:prstGeom>
          <a:solidFill>
            <a:srgbClr val="1A3A30"/>
          </a:solidFill>
          <a:ln>
            <a:noFill/>
          </a:ln>
        </p:spPr>
        <p:txBody>
          <a:bodyPr rtlCol="0" anchor="ctr"/>
          <a:lstStyle/>
          <a:p>
            <a:pPr algn="ctr"/>
          </a:p>
        </p:txBody>
      </p:sp>
      <p:sp>
        <p:nvSpPr>
          <p:cNvPr id="39" name="TextBox 38"/>
          <p:cNvSpPr txBox="1"/>
          <p:nvPr/>
        </p:nvSpPr>
        <p:spPr>
          <a:xfrm>
            <a:off x="9692640" y="5090429"/>
            <a:ext cx="2057399" cy="621792"/>
          </a:xfrm>
          <a:prstGeom prst="rect">
            <a:avLst/>
          </a:prstGeom>
          <a:noFill/>
        </p:spPr>
        <p:txBody>
          <a:bodyPr wrap="square" anchor="t" lIns="0" rIns="0" tIns="0" bIns="0">
            <a:spAutoFit/>
          </a:bodyPr>
          <a:lstStyle/>
          <a:p>
            <a:pPr algn="l"/>
            <a:r>
              <a:rPr sz="1300" b="1" i="0">
                <a:solidFill>
                  <a:srgbClr val="1A3A5A"/>
                </a:solidFill>
                <a:latin typeface="Courier New"/>
              </a:rPr>
              <a:t>expert explanation</a:t>
            </a:r>
          </a:p>
          <a:p>
            <a:pPr algn="l"/>
            <a:r>
              <a:rPr sz="1200" b="0" i="0">
                <a:solidFill>
                  <a:srgbClr val="6B6050"/>
                </a:solidFill>
                <a:latin typeface="Calibri"/>
              </a:rPr>
              <a:t>{{case1.expert}}: the hidden evaluator's checklist</a:t>
            </a:r>
          </a:p>
        </p:txBody>
      </p:sp>
      <p:cxnSp>
        <p:nvCxnSpPr>
          <p:cNvPr id="40" name="Connector 39"/>
          <p:cNvCxnSpPr/>
          <p:nvPr/>
        </p:nvCxnSpPr>
        <p:spPr>
          <a:xfrm flipH="1">
            <a:off x="6977390" y="5209301"/>
            <a:ext cx="2550658"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6977390" y="5209301"/>
            <a:ext cx="2550658" cy="0"/>
          </a:xfrm>
          <a:prstGeom prst="line">
            <a:avLst/>
          </a:prstGeom>
          <a:ln w="19050">
            <a:solidFill>
              <a:srgbClr val="1A3A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9473184" y="5154437"/>
            <a:ext cx="109728" cy="109728"/>
          </a:xfrm>
          <a:prstGeom prst="ellipse">
            <a:avLst/>
          </a:prstGeom>
          <a:solidFill>
            <a:srgbClr val="1A3A5A"/>
          </a:solidFill>
          <a:ln>
            <a:noFill/>
          </a:ln>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How an interaction runs</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What the player does with the interaction's settings</a:t>
            </a:r>
          </a:p>
        </p:txBody>
      </p:sp>
      <p:sp>
        <p:nvSpPr>
          <p:cNvPr id="4" name="TextBox 3"/>
          <p:cNvSpPr txBox="1"/>
          <p:nvPr/>
        </p:nvSpPr>
        <p:spPr>
          <a:xfrm>
            <a:off x="548640" y="1645920"/>
            <a:ext cx="5486400" cy="365760"/>
          </a:xfrm>
          <a:prstGeom prst="rect">
            <a:avLst/>
          </a:prstGeom>
          <a:noFill/>
        </p:spPr>
        <p:txBody>
          <a:bodyPr wrap="square" anchor="t" lIns="0" rIns="0" tIns="0" bIns="0">
            <a:spAutoFit/>
          </a:bodyPr>
          <a:lstStyle/>
          <a:p>
            <a:pPr algn="l"/>
            <a:r>
              <a:rPr sz="1800" b="1" i="0">
                <a:solidFill>
                  <a:srgbClr val="1A1610"/>
                </a:solidFill>
                <a:latin typeface="Calibri"/>
              </a:rPr>
              <a:t>After each student turn</a:t>
            </a:r>
          </a:p>
        </p:txBody>
      </p:sp>
      <p:sp>
        <p:nvSpPr>
          <p:cNvPr id="5" name="Oval 4"/>
          <p:cNvSpPr/>
          <p:nvPr/>
        </p:nvSpPr>
        <p:spPr>
          <a:xfrm>
            <a:off x="548640" y="2194560"/>
            <a:ext cx="502920" cy="502920"/>
          </a:xfrm>
          <a:prstGeom prst="ellipse">
            <a:avLst/>
          </a:prstGeom>
          <a:solidFill>
            <a:srgbClr val="1A3A30"/>
          </a:solidFill>
          <a:ln>
            <a:noFill/>
          </a:ln>
        </p:spPr>
        <p:txBody>
          <a:bodyPr rtlCol="0" anchor="ctr"/>
          <a:lstStyle/>
          <a:p>
            <a:pPr algn="ctr"/>
          </a:p>
        </p:txBody>
      </p:sp>
      <p:sp>
        <p:nvSpPr>
          <p:cNvPr id="6" name="TextBox 5"/>
          <p:cNvSpPr txBox="1"/>
          <p:nvPr/>
        </p:nvSpPr>
        <p:spPr>
          <a:xfrm>
            <a:off x="548640" y="2194560"/>
            <a:ext cx="502920" cy="50292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7" name="Down Arrow 6"/>
          <p:cNvSpPr/>
          <p:nvPr/>
        </p:nvSpPr>
        <p:spPr>
          <a:xfrm>
            <a:off x="685800" y="2743200"/>
            <a:ext cx="228600" cy="228600"/>
          </a:xfrm>
          <a:prstGeom prst="downArrow">
            <a:avLst/>
          </a:prstGeom>
          <a:solidFill>
            <a:srgbClr val="DDD6C8"/>
          </a:solidFill>
          <a:ln>
            <a:noFill/>
          </a:ln>
        </p:spPr>
        <p:txBody>
          <a:bodyPr rtlCol="0" anchor="ctr"/>
          <a:lstStyle/>
          <a:p>
            <a:pPr algn="ctr"/>
          </a:p>
        </p:txBody>
      </p:sp>
      <p:sp>
        <p:nvSpPr>
          <p:cNvPr id="8" name="TextBox 7"/>
          <p:cNvSpPr txBox="1"/>
          <p:nvPr/>
        </p:nvSpPr>
        <p:spPr>
          <a:xfrm>
            <a:off x="1280160" y="2176272"/>
            <a:ext cx="4937760" cy="274320"/>
          </a:xfrm>
          <a:prstGeom prst="rect">
            <a:avLst/>
          </a:prstGeom>
          <a:noFill/>
        </p:spPr>
        <p:txBody>
          <a:bodyPr wrap="square" anchor="t" lIns="0" rIns="0" tIns="0" bIns="0">
            <a:spAutoFit/>
          </a:bodyPr>
          <a:lstStyle/>
          <a:p>
            <a:pPr algn="l"/>
            <a:r>
              <a:rPr sz="1500" b="1" i="0">
                <a:solidFill>
                  <a:srgbClr val="1A1610"/>
                </a:solidFill>
                <a:latin typeface="Calibri"/>
              </a:rPr>
              <a:t>Student replies</a:t>
            </a:r>
          </a:p>
        </p:txBody>
      </p:sp>
      <p:sp>
        <p:nvSpPr>
          <p:cNvPr id="9" name="TextBox 8"/>
          <p:cNvSpPr txBox="1"/>
          <p:nvPr/>
        </p:nvSpPr>
        <p:spPr>
          <a:xfrm>
            <a:off x="1280160" y="2441448"/>
            <a:ext cx="4937760" cy="502920"/>
          </a:xfrm>
          <a:prstGeom prst="rect">
            <a:avLst/>
          </a:prstGeom>
          <a:noFill/>
        </p:spPr>
        <p:txBody>
          <a:bodyPr wrap="square" anchor="t" lIns="0" rIns="0" tIns="0" bIns="0">
            <a:spAutoFit/>
          </a:bodyPr>
          <a:lstStyle/>
          <a:p>
            <a:pPr algn="l"/>
            <a:r>
              <a:rPr sz="1300" b="0" i="0">
                <a:solidFill>
                  <a:srgbClr val="6B6050"/>
                </a:solidFill>
                <a:latin typeface="Calibri"/>
              </a:rPr>
              <a:t>In the chat, or presses I'm done</a:t>
            </a:r>
          </a:p>
        </p:txBody>
      </p:sp>
      <p:sp>
        <p:nvSpPr>
          <p:cNvPr id="10" name="Oval 9"/>
          <p:cNvSpPr/>
          <p:nvPr/>
        </p:nvSpPr>
        <p:spPr>
          <a:xfrm>
            <a:off x="548640" y="3017520"/>
            <a:ext cx="502920" cy="502920"/>
          </a:xfrm>
          <a:prstGeom prst="ellipse">
            <a:avLst/>
          </a:prstGeom>
          <a:solidFill>
            <a:srgbClr val="1A3A30"/>
          </a:solidFill>
          <a:ln>
            <a:noFill/>
          </a:ln>
        </p:spPr>
        <p:txBody>
          <a:bodyPr rtlCol="0" anchor="ctr"/>
          <a:lstStyle/>
          <a:p>
            <a:pPr algn="ctr"/>
          </a:p>
        </p:txBody>
      </p:sp>
      <p:sp>
        <p:nvSpPr>
          <p:cNvPr id="11" name="TextBox 10"/>
          <p:cNvSpPr txBox="1"/>
          <p:nvPr/>
        </p:nvSpPr>
        <p:spPr>
          <a:xfrm>
            <a:off x="548640" y="3017520"/>
            <a:ext cx="502920" cy="50292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2" name="Down Arrow 11"/>
          <p:cNvSpPr/>
          <p:nvPr/>
        </p:nvSpPr>
        <p:spPr>
          <a:xfrm>
            <a:off x="685800" y="3566160"/>
            <a:ext cx="228600" cy="228600"/>
          </a:xfrm>
          <a:prstGeom prst="downArrow">
            <a:avLst/>
          </a:prstGeom>
          <a:solidFill>
            <a:srgbClr val="DDD6C8"/>
          </a:solidFill>
          <a:ln>
            <a:noFill/>
          </a:ln>
        </p:spPr>
        <p:txBody>
          <a:bodyPr rtlCol="0" anchor="ctr"/>
          <a:lstStyle/>
          <a:p>
            <a:pPr algn="ctr"/>
          </a:p>
        </p:txBody>
      </p:sp>
      <p:sp>
        <p:nvSpPr>
          <p:cNvPr id="13" name="TextBox 12"/>
          <p:cNvSpPr txBox="1"/>
          <p:nvPr/>
        </p:nvSpPr>
        <p:spPr>
          <a:xfrm>
            <a:off x="1280160" y="2999232"/>
            <a:ext cx="4937760" cy="274320"/>
          </a:xfrm>
          <a:prstGeom prst="rect">
            <a:avLst/>
          </a:prstGeom>
          <a:noFill/>
        </p:spPr>
        <p:txBody>
          <a:bodyPr wrap="square" anchor="t" lIns="0" rIns="0" tIns="0" bIns="0">
            <a:spAutoFit/>
          </a:bodyPr>
          <a:lstStyle/>
          <a:p>
            <a:pPr algn="l"/>
            <a:r>
              <a:rPr sz="1500" b="1" i="0">
                <a:solidFill>
                  <a:srgbClr val="1A1610"/>
                </a:solidFill>
                <a:latin typeface="Calibri"/>
              </a:rPr>
              <a:t>Hidden evaluator</a:t>
            </a:r>
          </a:p>
        </p:txBody>
      </p:sp>
      <p:sp>
        <p:nvSpPr>
          <p:cNvPr id="14" name="TextBox 13"/>
          <p:cNvSpPr txBox="1"/>
          <p:nvPr/>
        </p:nvSpPr>
        <p:spPr>
          <a:xfrm>
            <a:off x="1280160" y="3264408"/>
            <a:ext cx="4937760" cy="502920"/>
          </a:xfrm>
          <a:prstGeom prst="rect">
            <a:avLst/>
          </a:prstGeom>
          <a:noFill/>
        </p:spPr>
        <p:txBody>
          <a:bodyPr wrap="square" anchor="t" lIns="0" rIns="0" tIns="0" bIns="0">
            <a:spAutoFit/>
          </a:bodyPr>
          <a:lstStyle/>
          <a:p>
            <a:pPr algn="l"/>
            <a:r>
              <a:rPr sz="1300" b="0" i="0">
                <a:solidFill>
                  <a:srgbClr val="6B6050"/>
                </a:solidFill>
                <a:latin typeface="Calibri"/>
              </a:rPr>
              <a:t>Compares the answers with the expert explanation; the tutor sees what is covered or missing</a:t>
            </a:r>
          </a:p>
        </p:txBody>
      </p:sp>
      <p:sp>
        <p:nvSpPr>
          <p:cNvPr id="15" name="Oval 14"/>
          <p:cNvSpPr/>
          <p:nvPr/>
        </p:nvSpPr>
        <p:spPr>
          <a:xfrm>
            <a:off x="548640" y="3840480"/>
            <a:ext cx="502920" cy="502920"/>
          </a:xfrm>
          <a:prstGeom prst="ellipse">
            <a:avLst/>
          </a:prstGeom>
          <a:solidFill>
            <a:srgbClr val="1A3A30"/>
          </a:solidFill>
          <a:ln>
            <a:noFill/>
          </a:ln>
        </p:spPr>
        <p:txBody>
          <a:bodyPr rtlCol="0" anchor="ctr"/>
          <a:lstStyle/>
          <a:p>
            <a:pPr algn="ctr"/>
          </a:p>
        </p:txBody>
      </p:sp>
      <p:sp>
        <p:nvSpPr>
          <p:cNvPr id="16" name="TextBox 15"/>
          <p:cNvSpPr txBox="1"/>
          <p:nvPr/>
        </p:nvSpPr>
        <p:spPr>
          <a:xfrm>
            <a:off x="548640" y="3840480"/>
            <a:ext cx="502920" cy="50292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17" name="Down Arrow 16"/>
          <p:cNvSpPr/>
          <p:nvPr/>
        </p:nvSpPr>
        <p:spPr>
          <a:xfrm>
            <a:off x="685800" y="4389120"/>
            <a:ext cx="228600" cy="228600"/>
          </a:xfrm>
          <a:prstGeom prst="downArrow">
            <a:avLst/>
          </a:prstGeom>
          <a:solidFill>
            <a:srgbClr val="DDD6C8"/>
          </a:solidFill>
          <a:ln>
            <a:noFill/>
          </a:ln>
        </p:spPr>
        <p:txBody>
          <a:bodyPr rtlCol="0" anchor="ctr"/>
          <a:lstStyle/>
          <a:p>
            <a:pPr algn="ctr"/>
          </a:p>
        </p:txBody>
      </p:sp>
      <p:sp>
        <p:nvSpPr>
          <p:cNvPr id="18" name="TextBox 17"/>
          <p:cNvSpPr txBox="1"/>
          <p:nvPr/>
        </p:nvSpPr>
        <p:spPr>
          <a:xfrm>
            <a:off x="1280160" y="3822192"/>
            <a:ext cx="4937760" cy="274320"/>
          </a:xfrm>
          <a:prstGeom prst="rect">
            <a:avLst/>
          </a:prstGeom>
          <a:noFill/>
        </p:spPr>
        <p:txBody>
          <a:bodyPr wrap="square" anchor="t" lIns="0" rIns="0" tIns="0" bIns="0">
            <a:spAutoFit/>
          </a:bodyPr>
          <a:lstStyle/>
          <a:p>
            <a:pPr algn="l"/>
            <a:r>
              <a:rPr sz="1500" b="1" i="0">
                <a:solidFill>
                  <a:srgbClr val="1A1610"/>
                </a:solidFill>
                <a:latin typeface="Calibri"/>
              </a:rPr>
              <a:t>Turn limit</a:t>
            </a:r>
          </a:p>
        </p:txBody>
      </p:sp>
      <p:sp>
        <p:nvSpPr>
          <p:cNvPr id="19" name="TextBox 18"/>
          <p:cNvSpPr txBox="1"/>
          <p:nvPr/>
        </p:nvSpPr>
        <p:spPr>
          <a:xfrm>
            <a:off x="1280160" y="4087368"/>
            <a:ext cx="4937760" cy="502920"/>
          </a:xfrm>
          <a:prstGeom prst="rect">
            <a:avLst/>
          </a:prstGeom>
          <a:noFill/>
        </p:spPr>
        <p:txBody>
          <a:bodyPr wrap="square" anchor="t" lIns="0" rIns="0" tIns="0" bIns="0">
            <a:spAutoFit/>
          </a:bodyPr>
          <a:lstStyle/>
          <a:p>
            <a:pPr algn="l"/>
            <a:r>
              <a:rPr sz="1300" b="0" i="0">
                <a:solidFill>
                  <a:srgbClr val="6B6050"/>
                </a:solidFill>
                <a:latin typeface="Calibri"/>
              </a:rPr>
              <a:t>Stops when maxTurns is reached</a:t>
            </a:r>
          </a:p>
        </p:txBody>
      </p:sp>
      <p:sp>
        <p:nvSpPr>
          <p:cNvPr id="20" name="Oval 19"/>
          <p:cNvSpPr/>
          <p:nvPr/>
        </p:nvSpPr>
        <p:spPr>
          <a:xfrm>
            <a:off x="548640" y="4663440"/>
            <a:ext cx="502920" cy="502920"/>
          </a:xfrm>
          <a:prstGeom prst="ellipse">
            <a:avLst/>
          </a:prstGeom>
          <a:solidFill>
            <a:srgbClr val="1A3A30"/>
          </a:solidFill>
          <a:ln>
            <a:noFill/>
          </a:ln>
        </p:spPr>
        <p:txBody>
          <a:bodyPr rtlCol="0" anchor="ctr"/>
          <a:lstStyle/>
          <a:p>
            <a:pPr algn="ctr"/>
          </a:p>
        </p:txBody>
      </p:sp>
      <p:sp>
        <p:nvSpPr>
          <p:cNvPr id="21" name="TextBox 20"/>
          <p:cNvSpPr txBox="1"/>
          <p:nvPr/>
        </p:nvSpPr>
        <p:spPr>
          <a:xfrm>
            <a:off x="548640" y="4663440"/>
            <a:ext cx="502920" cy="50292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22" name="Down Arrow 21"/>
          <p:cNvSpPr/>
          <p:nvPr/>
        </p:nvSpPr>
        <p:spPr>
          <a:xfrm>
            <a:off x="685800" y="5212079"/>
            <a:ext cx="228600" cy="228600"/>
          </a:xfrm>
          <a:prstGeom prst="downArrow">
            <a:avLst/>
          </a:prstGeom>
          <a:solidFill>
            <a:srgbClr val="DDD6C8"/>
          </a:solidFill>
          <a:ln>
            <a:noFill/>
          </a:ln>
        </p:spPr>
        <p:txBody>
          <a:bodyPr rtlCol="0" anchor="ctr"/>
          <a:lstStyle/>
          <a:p>
            <a:pPr algn="ctr"/>
          </a:p>
        </p:txBody>
      </p:sp>
      <p:sp>
        <p:nvSpPr>
          <p:cNvPr id="23" name="TextBox 22"/>
          <p:cNvSpPr txBox="1"/>
          <p:nvPr/>
        </p:nvSpPr>
        <p:spPr>
          <a:xfrm>
            <a:off x="1280160" y="4645152"/>
            <a:ext cx="4937760" cy="274320"/>
          </a:xfrm>
          <a:prstGeom prst="rect">
            <a:avLst/>
          </a:prstGeom>
          <a:noFill/>
        </p:spPr>
        <p:txBody>
          <a:bodyPr wrap="square" anchor="t" lIns="0" rIns="0" tIns="0" bIns="0">
            <a:spAutoFit/>
          </a:bodyPr>
          <a:lstStyle/>
          <a:p>
            <a:pPr algn="l"/>
            <a:r>
              <a:rPr sz="1500" b="1" i="0">
                <a:solidFill>
                  <a:srgbClr val="1A1610"/>
                </a:solidFill>
                <a:latin typeface="Calibri"/>
              </a:rPr>
              <a:t>Ends when…</a:t>
            </a:r>
          </a:p>
        </p:txBody>
      </p:sp>
      <p:sp>
        <p:nvSpPr>
          <p:cNvPr id="24" name="TextBox 23"/>
          <p:cNvSpPr txBox="1"/>
          <p:nvPr/>
        </p:nvSpPr>
        <p:spPr>
          <a:xfrm>
            <a:off x="1280160" y="4910327"/>
            <a:ext cx="4937760" cy="502920"/>
          </a:xfrm>
          <a:prstGeom prst="rect">
            <a:avLst/>
          </a:prstGeom>
          <a:noFill/>
        </p:spPr>
        <p:txBody>
          <a:bodyPr wrap="square" anchor="t" lIns="0" rIns="0" tIns="0" bIns="0">
            <a:spAutoFit/>
          </a:bodyPr>
          <a:lstStyle/>
          <a:p>
            <a:pPr algn="l"/>
            <a:r>
              <a:rPr sz="1300" b="0" i="0">
                <a:solidFill>
                  <a:srgbClr val="6B6050"/>
                </a:solidFill>
                <a:latin typeface="Calibri"/>
              </a:rPr>
              <a:t>An LLM checks the author's end condition</a:t>
            </a:r>
          </a:p>
        </p:txBody>
      </p:sp>
      <p:sp>
        <p:nvSpPr>
          <p:cNvPr id="25" name="Oval 24"/>
          <p:cNvSpPr/>
          <p:nvPr/>
        </p:nvSpPr>
        <p:spPr>
          <a:xfrm>
            <a:off x="548640" y="5486400"/>
            <a:ext cx="502920" cy="502920"/>
          </a:xfrm>
          <a:prstGeom prst="ellipse">
            <a:avLst/>
          </a:prstGeom>
          <a:solidFill>
            <a:srgbClr val="1A3A30"/>
          </a:solidFill>
          <a:ln>
            <a:noFill/>
          </a:ln>
        </p:spPr>
        <p:txBody>
          <a:bodyPr rtlCol="0" anchor="ctr"/>
          <a:lstStyle/>
          <a:p>
            <a:pPr algn="ctr"/>
          </a:p>
        </p:txBody>
      </p:sp>
      <p:sp>
        <p:nvSpPr>
          <p:cNvPr id="26" name="TextBox 25"/>
          <p:cNvSpPr txBox="1"/>
          <p:nvPr/>
        </p:nvSpPr>
        <p:spPr>
          <a:xfrm>
            <a:off x="548640" y="5486400"/>
            <a:ext cx="502920" cy="50292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27" name="TextBox 26"/>
          <p:cNvSpPr txBox="1"/>
          <p:nvPr/>
        </p:nvSpPr>
        <p:spPr>
          <a:xfrm>
            <a:off x="1280160" y="5468112"/>
            <a:ext cx="4937760" cy="274320"/>
          </a:xfrm>
          <a:prstGeom prst="rect">
            <a:avLst/>
          </a:prstGeom>
          <a:noFill/>
        </p:spPr>
        <p:txBody>
          <a:bodyPr wrap="square" anchor="t" lIns="0" rIns="0" tIns="0" bIns="0">
            <a:spAutoFit/>
          </a:bodyPr>
          <a:lstStyle/>
          <a:p>
            <a:pPr algn="l"/>
            <a:r>
              <a:rPr sz="1500" b="1" i="0">
                <a:solidFill>
                  <a:srgbClr val="1A1610"/>
                </a:solidFill>
                <a:latin typeface="Calibri"/>
              </a:rPr>
              <a:t>Agent replies</a:t>
            </a:r>
          </a:p>
        </p:txBody>
      </p:sp>
      <p:sp>
        <p:nvSpPr>
          <p:cNvPr id="28" name="TextBox 27"/>
          <p:cNvSpPr txBox="1"/>
          <p:nvPr/>
        </p:nvSpPr>
        <p:spPr>
          <a:xfrm>
            <a:off x="1280160" y="5733288"/>
            <a:ext cx="4937760" cy="502920"/>
          </a:xfrm>
          <a:prstGeom prst="rect">
            <a:avLst/>
          </a:prstGeom>
          <a:noFill/>
        </p:spPr>
        <p:txBody>
          <a:bodyPr wrap="square" anchor="t" lIns="0" rIns="0" tIns="0" bIns="0">
            <a:spAutoFit/>
          </a:bodyPr>
          <a:lstStyle/>
          <a:p>
            <a:pPr algn="l"/>
            <a:r>
              <a:rPr sz="1300" b="0" i="0">
                <a:solidFill>
                  <a:srgbClr val="6B6050"/>
                </a:solidFill>
                <a:latin typeface="Calibri"/>
              </a:rPr>
              <a:t>Then back to 1, until the interaction ends</a:t>
            </a:r>
          </a:p>
        </p:txBody>
      </p:sp>
      <p:sp>
        <p:nvSpPr>
          <p:cNvPr id="29" name="Rounded Rectangle 28"/>
          <p:cNvSpPr/>
          <p:nvPr/>
        </p:nvSpPr>
        <p:spPr>
          <a:xfrm>
            <a:off x="6720840" y="1691640"/>
            <a:ext cx="4937760" cy="1371600"/>
          </a:xfrm>
          <a:prstGeom prst="roundRect">
            <a:avLst>
              <a:gd name="adj" fmla="val 8000"/>
            </a:avLst>
          </a:prstGeom>
          <a:solidFill>
            <a:srgbClr val="DAF5EE"/>
          </a:solidFill>
          <a:ln>
            <a:noFill/>
          </a:ln>
        </p:spPr>
        <p:txBody>
          <a:bodyPr rtlCol="0" anchor="ctr"/>
          <a:lstStyle/>
          <a:p>
            <a:pPr algn="ctr"/>
          </a:p>
        </p:txBody>
      </p:sp>
      <p:sp>
        <p:nvSpPr>
          <p:cNvPr id="30" name="Oval 29"/>
          <p:cNvSpPr/>
          <p:nvPr/>
        </p:nvSpPr>
        <p:spPr>
          <a:xfrm>
            <a:off x="6949440" y="1920240"/>
            <a:ext cx="548640" cy="548640"/>
          </a:xfrm>
          <a:prstGeom prst="ellipse">
            <a:avLst/>
          </a:prstGeom>
          <a:solidFill>
            <a:srgbClr val="1A3A30"/>
          </a:solidFill>
          <a:ln>
            <a:noFill/>
          </a:ln>
        </p:spPr>
        <p:txBody>
          <a:bodyPr rtlCol="0" anchor="ctr"/>
          <a:lstStyle/>
          <a:p>
            <a:pPr algn="ctr"/>
          </a:p>
        </p:txBody>
      </p:sp>
      <p:pic>
        <p:nvPicPr>
          <p:cNvPr id="31" name="Picture 30" descr="image.png"/>
          <p:cNvPicPr>
            <a:picLocks noChangeAspect="1"/>
          </p:cNvPicPr>
          <p:nvPr/>
        </p:nvPicPr>
        <p:blipFill>
          <a:blip r:embed="rId2"/>
          <a:stretch>
            <a:fillRect/>
          </a:stretch>
        </p:blipFill>
        <p:spPr>
          <a:xfrm>
            <a:off x="7070140" y="2040940"/>
            <a:ext cx="307238" cy="307238"/>
          </a:xfrm>
          <a:prstGeom prst="rect">
            <a:avLst/>
          </a:prstGeom>
        </p:spPr>
      </p:pic>
      <p:sp>
        <p:nvSpPr>
          <p:cNvPr id="32" name="TextBox 31"/>
          <p:cNvSpPr txBox="1"/>
          <p:nvPr/>
        </p:nvSpPr>
        <p:spPr>
          <a:xfrm>
            <a:off x="7726679" y="1920240"/>
            <a:ext cx="3749039" cy="365760"/>
          </a:xfrm>
          <a:prstGeom prst="rect">
            <a:avLst/>
          </a:prstGeom>
          <a:noFill/>
        </p:spPr>
        <p:txBody>
          <a:bodyPr wrap="square" anchor="t" lIns="0" rIns="0" tIns="0" bIns="0">
            <a:spAutoFit/>
          </a:bodyPr>
          <a:lstStyle/>
          <a:p>
            <a:pPr algn="l"/>
            <a:r>
              <a:rPr sz="1700" b="1" i="0">
                <a:solidFill>
                  <a:srgbClr val="1A3A30"/>
                </a:solidFill>
                <a:latin typeface="Calibri"/>
              </a:rPr>
              <a:t>Who opens</a:t>
            </a:r>
          </a:p>
        </p:txBody>
      </p:sp>
      <p:sp>
        <p:nvSpPr>
          <p:cNvPr id="33" name="TextBox 32"/>
          <p:cNvSpPr txBox="1"/>
          <p:nvPr/>
        </p:nvSpPr>
        <p:spPr>
          <a:xfrm>
            <a:off x="7726679" y="2286000"/>
            <a:ext cx="3749039" cy="731520"/>
          </a:xfrm>
          <a:prstGeom prst="rect">
            <a:avLst/>
          </a:prstGeom>
          <a:noFill/>
        </p:spPr>
        <p:txBody>
          <a:bodyPr wrap="square" anchor="t" lIns="0" rIns="0" tIns="0" bIns="0">
            <a:spAutoFit/>
          </a:bodyPr>
          <a:lstStyle/>
          <a:p>
            <a:pPr algn="l"/>
            <a:r>
              <a:rPr sz="1400" b="0" i="0">
                <a:solidFill>
                  <a:srgbClr val="1A1610"/>
                </a:solidFill>
                <a:latin typeface="Calibri"/>
              </a:rPr>
              <a:t>The student, if a literal opening question comes just before. Otherwise the agent opens.</a:t>
            </a:r>
          </a:p>
        </p:txBody>
      </p:sp>
      <p:sp>
        <p:nvSpPr>
          <p:cNvPr id="34" name="Rounded Rectangle 33"/>
          <p:cNvSpPr/>
          <p:nvPr/>
        </p:nvSpPr>
        <p:spPr>
          <a:xfrm>
            <a:off x="6720840" y="3264408"/>
            <a:ext cx="4937760" cy="1371600"/>
          </a:xfrm>
          <a:prstGeom prst="roundRect">
            <a:avLst>
              <a:gd name="adj" fmla="val 8000"/>
            </a:avLst>
          </a:prstGeom>
          <a:solidFill>
            <a:srgbClr val="DAF5EE"/>
          </a:solidFill>
          <a:ln>
            <a:noFill/>
          </a:ln>
        </p:spPr>
        <p:txBody>
          <a:bodyPr rtlCol="0" anchor="ctr"/>
          <a:lstStyle/>
          <a:p>
            <a:pPr algn="ctr"/>
          </a:p>
        </p:txBody>
      </p:sp>
      <p:sp>
        <p:nvSpPr>
          <p:cNvPr id="35" name="Oval 34"/>
          <p:cNvSpPr/>
          <p:nvPr/>
        </p:nvSpPr>
        <p:spPr>
          <a:xfrm>
            <a:off x="6949440" y="3493008"/>
            <a:ext cx="548640" cy="548640"/>
          </a:xfrm>
          <a:prstGeom prst="ellipse">
            <a:avLst/>
          </a:prstGeom>
          <a:solidFill>
            <a:srgbClr val="1A3A30"/>
          </a:solidFill>
          <a:ln>
            <a:noFill/>
          </a:ln>
        </p:spPr>
        <p:txBody>
          <a:bodyPr rtlCol="0" anchor="ctr"/>
          <a:lstStyle/>
          <a:p>
            <a:pPr algn="ctr"/>
          </a:p>
        </p:txBody>
      </p:sp>
      <p:pic>
        <p:nvPicPr>
          <p:cNvPr id="36" name="Picture 35" descr="image.png"/>
          <p:cNvPicPr>
            <a:picLocks noChangeAspect="1"/>
          </p:cNvPicPr>
          <p:nvPr/>
        </p:nvPicPr>
        <p:blipFill>
          <a:blip r:embed="rId3"/>
          <a:stretch>
            <a:fillRect/>
          </a:stretch>
        </p:blipFill>
        <p:spPr>
          <a:xfrm>
            <a:off x="7070140" y="3613708"/>
            <a:ext cx="307238" cy="307238"/>
          </a:xfrm>
          <a:prstGeom prst="rect">
            <a:avLst/>
          </a:prstGeom>
        </p:spPr>
      </p:pic>
      <p:sp>
        <p:nvSpPr>
          <p:cNvPr id="37" name="TextBox 36"/>
          <p:cNvSpPr txBox="1"/>
          <p:nvPr/>
        </p:nvSpPr>
        <p:spPr>
          <a:xfrm>
            <a:off x="7726679" y="3493008"/>
            <a:ext cx="3749039" cy="365760"/>
          </a:xfrm>
          <a:prstGeom prst="rect">
            <a:avLst/>
          </a:prstGeom>
          <a:noFill/>
        </p:spPr>
        <p:txBody>
          <a:bodyPr wrap="square" anchor="t" lIns="0" rIns="0" tIns="0" bIns="0">
            <a:spAutoFit/>
          </a:bodyPr>
          <a:lstStyle/>
          <a:p>
            <a:pPr algn="l"/>
            <a:r>
              <a:rPr sz="1700" b="1" i="0">
                <a:solidFill>
                  <a:srgbClr val="1A3A30"/>
                </a:solidFill>
                <a:latin typeface="Calibri"/>
              </a:rPr>
              <a:t>Who the agent is</a:t>
            </a:r>
          </a:p>
        </p:txBody>
      </p:sp>
      <p:sp>
        <p:nvSpPr>
          <p:cNvPr id="38" name="TextBox 37"/>
          <p:cNvSpPr txBox="1"/>
          <p:nvPr/>
        </p:nvSpPr>
        <p:spPr>
          <a:xfrm>
            <a:off x="7726679" y="3858768"/>
            <a:ext cx="3749039" cy="731520"/>
          </a:xfrm>
          <a:prstGeom prst="rect">
            <a:avLst/>
          </a:prstGeom>
          <a:noFill/>
        </p:spPr>
        <p:txBody>
          <a:bodyPr wrap="square" anchor="t" lIns="0" rIns="0" tIns="0" bIns="0">
            <a:spAutoFit/>
          </a:bodyPr>
          <a:lstStyle/>
          <a:p>
            <a:pPr algn="l"/>
            <a:r>
              <a:rPr sz="1400" b="0" i="0">
                <a:solidFill>
                  <a:srgbClr val="1A1610"/>
                </a:solidFill>
                <a:latin typeface="Calibri"/>
              </a:rPr>
              <a:t>The patient in an interview step, or when a Patient strategy is attached. Otherwise the tutor.</a:t>
            </a:r>
          </a:p>
        </p:txBody>
      </p:sp>
      <p:sp>
        <p:nvSpPr>
          <p:cNvPr id="39" name="Rounded Rectangle 38"/>
          <p:cNvSpPr/>
          <p:nvPr/>
        </p:nvSpPr>
        <p:spPr>
          <a:xfrm>
            <a:off x="6720840" y="4837176"/>
            <a:ext cx="4937760" cy="1371600"/>
          </a:xfrm>
          <a:prstGeom prst="roundRect">
            <a:avLst>
              <a:gd name="adj" fmla="val 8000"/>
            </a:avLst>
          </a:prstGeom>
          <a:solidFill>
            <a:srgbClr val="DAF5EE"/>
          </a:solidFill>
          <a:ln>
            <a:noFill/>
          </a:ln>
        </p:spPr>
        <p:txBody>
          <a:bodyPr rtlCol="0" anchor="ctr"/>
          <a:lstStyle/>
          <a:p>
            <a:pPr algn="ctr"/>
          </a:p>
        </p:txBody>
      </p:sp>
      <p:sp>
        <p:nvSpPr>
          <p:cNvPr id="40" name="Oval 39"/>
          <p:cNvSpPr/>
          <p:nvPr/>
        </p:nvSpPr>
        <p:spPr>
          <a:xfrm>
            <a:off x="6949440" y="5065776"/>
            <a:ext cx="548640" cy="548640"/>
          </a:xfrm>
          <a:prstGeom prst="ellipse">
            <a:avLst/>
          </a:prstGeom>
          <a:solidFill>
            <a:srgbClr val="1A3A30"/>
          </a:solidFill>
          <a:ln>
            <a:noFill/>
          </a:ln>
        </p:spPr>
        <p:txBody>
          <a:bodyPr rtlCol="0" anchor="ctr"/>
          <a:lstStyle/>
          <a:p>
            <a:pPr algn="ctr"/>
          </a:p>
        </p:txBody>
      </p:sp>
      <p:pic>
        <p:nvPicPr>
          <p:cNvPr id="41" name="Picture 40" descr="image.png"/>
          <p:cNvPicPr>
            <a:picLocks noChangeAspect="1"/>
          </p:cNvPicPr>
          <p:nvPr/>
        </p:nvPicPr>
        <p:blipFill>
          <a:blip r:embed="rId4"/>
          <a:stretch>
            <a:fillRect/>
          </a:stretch>
        </p:blipFill>
        <p:spPr>
          <a:xfrm>
            <a:off x="7070140" y="5186476"/>
            <a:ext cx="307238" cy="307238"/>
          </a:xfrm>
          <a:prstGeom prst="rect">
            <a:avLst/>
          </a:prstGeom>
        </p:spPr>
      </p:pic>
      <p:sp>
        <p:nvSpPr>
          <p:cNvPr id="42" name="TextBox 41"/>
          <p:cNvSpPr txBox="1"/>
          <p:nvPr/>
        </p:nvSpPr>
        <p:spPr>
          <a:xfrm>
            <a:off x="7726679" y="5065776"/>
            <a:ext cx="3749039" cy="365760"/>
          </a:xfrm>
          <a:prstGeom prst="rect">
            <a:avLst/>
          </a:prstGeom>
          <a:noFill/>
        </p:spPr>
        <p:txBody>
          <a:bodyPr wrap="square" anchor="t" lIns="0" rIns="0" tIns="0" bIns="0">
            <a:spAutoFit/>
          </a:bodyPr>
          <a:lstStyle/>
          <a:p>
            <a:pPr algn="l"/>
            <a:r>
              <a:rPr sz="1700" b="1" i="0">
                <a:solidFill>
                  <a:srgbClr val="1A3A30"/>
                </a:solidFill>
                <a:latin typeface="Calibri"/>
              </a:rPr>
              <a:t>How it ends</a:t>
            </a:r>
          </a:p>
        </p:txBody>
      </p:sp>
      <p:sp>
        <p:nvSpPr>
          <p:cNvPr id="43" name="TextBox 42"/>
          <p:cNvSpPr txBox="1"/>
          <p:nvPr/>
        </p:nvSpPr>
        <p:spPr>
          <a:xfrm>
            <a:off x="7726679" y="5431536"/>
            <a:ext cx="3749039" cy="731520"/>
          </a:xfrm>
          <a:prstGeom prst="rect">
            <a:avLst/>
          </a:prstGeom>
          <a:noFill/>
        </p:spPr>
        <p:txBody>
          <a:bodyPr wrap="square" anchor="t" lIns="0" rIns="0" tIns="0" bIns="0">
            <a:spAutoFit/>
          </a:bodyPr>
          <a:lstStyle/>
          <a:p>
            <a:pPr algn="l"/>
            <a:r>
              <a:rPr sz="1400" b="0" i="0">
                <a:solidFill>
                  <a:srgbClr val="1A1610"/>
                </a:solidFill>
                <a:latin typeface="Calibri"/>
              </a:rPr>
              <a:t>Turn limit, the Ends when… condition, or I'm done. At-end strategies then get one closing turn.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058400" cy="685800"/>
          </a:xfrm>
          <a:prstGeom prst="rect">
            <a:avLst/>
          </a:prstGeom>
          <a:noFill/>
        </p:spPr>
        <p:txBody>
          <a:bodyPr wrap="square" anchor="ctr" lIns="0" rIns="0" tIns="0" bIns="0">
            <a:spAutoFit/>
          </a:bodyPr>
          <a:lstStyle/>
          <a:p>
            <a:pPr algn="l"/>
            <a:r>
              <a:rPr sz="3400" b="1" i="0">
                <a:solidFill>
                  <a:srgbClr val="1A1610"/>
                </a:solidFill>
                <a:latin typeface="Cambria"/>
              </a:rPr>
              <a:t>What every element can carry</a:t>
            </a:r>
          </a:p>
        </p:txBody>
      </p:sp>
      <p:sp>
        <p:nvSpPr>
          <p:cNvPr id="3" name="TextBox 2"/>
          <p:cNvSpPr txBox="1"/>
          <p:nvPr/>
        </p:nvSpPr>
        <p:spPr>
          <a:xfrm>
            <a:off x="548640" y="1024128"/>
            <a:ext cx="10058400" cy="411480"/>
          </a:xfrm>
          <a:prstGeom prst="rect">
            <a:avLst/>
          </a:prstGeom>
          <a:noFill/>
        </p:spPr>
        <p:txBody>
          <a:bodyPr wrap="square" anchor="t" lIns="0" rIns="0" tIns="0" bIns="0">
            <a:spAutoFit/>
          </a:bodyPr>
          <a:lstStyle/>
          <a:p>
            <a:pPr algn="l"/>
            <a:r>
              <a:rPr sz="1600" b="0" i="0">
                <a:solidFill>
                  <a:srgbClr val="6B6050"/>
                </a:solidFill>
                <a:latin typeface="Calibri"/>
              </a:rPr>
              <a:t>Side information, fields and strategies connect the pipeline to the agents</a:t>
            </a:r>
          </a:p>
        </p:txBody>
      </p:sp>
      <p:sp>
        <p:nvSpPr>
          <p:cNvPr id="4" name="Rounded Rectangle 3"/>
          <p:cNvSpPr/>
          <p:nvPr/>
        </p:nvSpPr>
        <p:spPr>
          <a:xfrm>
            <a:off x="548640" y="1645920"/>
            <a:ext cx="3511296" cy="4846320"/>
          </a:xfrm>
          <a:prstGeom prst="roundRect">
            <a:avLst>
              <a:gd name="adj" fmla="val 4000"/>
            </a:avLst>
          </a:prstGeom>
          <a:solidFill>
            <a:srgbClr val="DEEAF5"/>
          </a:solidFill>
          <a:ln>
            <a:noFill/>
          </a:ln>
        </p:spPr>
        <p:txBody>
          <a:bodyPr rtlCol="0" anchor="ctr"/>
          <a:lstStyle/>
          <a:p>
            <a:pPr algn="ctr"/>
          </a:p>
        </p:txBody>
      </p:sp>
      <p:sp>
        <p:nvSpPr>
          <p:cNvPr id="5" name="Oval 4"/>
          <p:cNvSpPr/>
          <p:nvPr/>
        </p:nvSpPr>
        <p:spPr>
          <a:xfrm>
            <a:off x="822959" y="1828800"/>
            <a:ext cx="548640" cy="548640"/>
          </a:xfrm>
          <a:prstGeom prst="ellipse">
            <a:avLst/>
          </a:prstGeom>
          <a:solidFill>
            <a:srgbClr val="1A3A5A"/>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43660" y="1949500"/>
            <a:ext cx="307238" cy="307238"/>
          </a:xfrm>
          <a:prstGeom prst="rect">
            <a:avLst/>
          </a:prstGeom>
        </p:spPr>
      </p:pic>
      <p:sp>
        <p:nvSpPr>
          <p:cNvPr id="7" name="TextBox 6"/>
          <p:cNvSpPr txBox="1"/>
          <p:nvPr/>
        </p:nvSpPr>
        <p:spPr>
          <a:xfrm>
            <a:off x="1508760" y="1828800"/>
            <a:ext cx="2322576" cy="548640"/>
          </a:xfrm>
          <a:prstGeom prst="rect">
            <a:avLst/>
          </a:prstGeom>
          <a:noFill/>
        </p:spPr>
        <p:txBody>
          <a:bodyPr wrap="square" anchor="ctr" lIns="0" rIns="0" tIns="0" bIns="0">
            <a:spAutoFit/>
          </a:bodyPr>
          <a:lstStyle/>
          <a:p>
            <a:pPr algn="l"/>
            <a:r>
              <a:rPr sz="2000" b="1" i="0">
                <a:solidFill>
                  <a:srgbClr val="1A3A5A"/>
                </a:solidFill>
                <a:latin typeface="Calibri"/>
              </a:rPr>
              <a:t>Side information</a:t>
            </a:r>
          </a:p>
        </p:txBody>
      </p:sp>
      <p:sp>
        <p:nvSpPr>
          <p:cNvPr id="8" name="TextBox 7"/>
          <p:cNvSpPr txBox="1"/>
          <p:nvPr/>
        </p:nvSpPr>
        <p:spPr>
          <a:xfrm>
            <a:off x="822959" y="2514600"/>
            <a:ext cx="2962656" cy="685800"/>
          </a:xfrm>
          <a:prstGeom prst="rect">
            <a:avLst/>
          </a:prstGeom>
          <a:noFill/>
        </p:spPr>
        <p:txBody>
          <a:bodyPr wrap="square" anchor="t" lIns="0" rIns="0" tIns="0" bIns="0">
            <a:spAutoFit/>
          </a:bodyPr>
          <a:lstStyle/>
          <a:p>
            <a:pPr algn="l"/>
            <a:r>
              <a:rPr sz="1300" b="0" i="0">
                <a:solidFill>
                  <a:srgbClr val="1A1610"/>
                </a:solidFill>
                <a:latin typeface="Calibri"/>
              </a:rPr>
              <a:t>Hidden text attached to an element. The expert explanation is the evaluator's checklist.</a:t>
            </a:r>
          </a:p>
        </p:txBody>
      </p:sp>
      <p:pic>
        <p:nvPicPr>
          <p:cNvPr id="9" name="Picture 8" descr="pop_attach.png"/>
          <p:cNvPicPr>
            <a:picLocks noChangeAspect="1"/>
          </p:cNvPicPr>
          <p:nvPr/>
        </p:nvPicPr>
        <p:blipFill>
          <a:blip r:embed="rId3"/>
          <a:stretch>
            <a:fillRect/>
          </a:stretch>
        </p:blipFill>
        <p:spPr>
          <a:xfrm>
            <a:off x="822960" y="3246120"/>
            <a:ext cx="2962656" cy="2845225"/>
          </a:xfrm>
          <a:prstGeom prst="rect">
            <a:avLst/>
          </a:prstGeom>
          <a:ln w="9525">
            <a:solidFill>
              <a:srgbClr val="DDD6C8"/>
            </a:solidFill>
          </a:ln>
        </p:spPr>
      </p:pic>
      <p:sp>
        <p:nvSpPr>
          <p:cNvPr id="10" name="Rounded Rectangle 9"/>
          <p:cNvSpPr/>
          <p:nvPr/>
        </p:nvSpPr>
        <p:spPr>
          <a:xfrm>
            <a:off x="4334255" y="1645920"/>
            <a:ext cx="3511296" cy="4846320"/>
          </a:xfrm>
          <a:prstGeom prst="roundRect">
            <a:avLst>
              <a:gd name="adj" fmla="val 4000"/>
            </a:avLst>
          </a:prstGeom>
          <a:solidFill>
            <a:srgbClr val="F0E8DE"/>
          </a:solidFill>
          <a:ln>
            <a:noFill/>
          </a:ln>
        </p:spPr>
        <p:txBody>
          <a:bodyPr rtlCol="0" anchor="ctr"/>
          <a:lstStyle/>
          <a:p>
            <a:pPr algn="ctr"/>
          </a:p>
        </p:txBody>
      </p:sp>
      <p:sp>
        <p:nvSpPr>
          <p:cNvPr id="11" name="Oval 10"/>
          <p:cNvSpPr/>
          <p:nvPr/>
        </p:nvSpPr>
        <p:spPr>
          <a:xfrm>
            <a:off x="4608575" y="1828800"/>
            <a:ext cx="548640" cy="548640"/>
          </a:xfrm>
          <a:prstGeom prst="ellipse">
            <a:avLst/>
          </a:prstGeom>
          <a:solidFill>
            <a:srgbClr val="7A3E1A"/>
          </a:solidFill>
          <a:ln>
            <a:noFill/>
          </a:ln>
        </p:spPr>
        <p:txBody>
          <a:bodyPr rtlCol="0" anchor="ctr"/>
          <a:lstStyle/>
          <a:p>
            <a:pPr algn="ctr"/>
          </a:p>
        </p:txBody>
      </p:sp>
      <p:pic>
        <p:nvPicPr>
          <p:cNvPr id="12" name="Picture 11" descr="image.png"/>
          <p:cNvPicPr>
            <a:picLocks noChangeAspect="1"/>
          </p:cNvPicPr>
          <p:nvPr/>
        </p:nvPicPr>
        <p:blipFill>
          <a:blip r:embed="rId4"/>
          <a:stretch>
            <a:fillRect/>
          </a:stretch>
        </p:blipFill>
        <p:spPr>
          <a:xfrm>
            <a:off x="4729276" y="1949500"/>
            <a:ext cx="307238" cy="307238"/>
          </a:xfrm>
          <a:prstGeom prst="rect">
            <a:avLst/>
          </a:prstGeom>
        </p:spPr>
      </p:pic>
      <p:sp>
        <p:nvSpPr>
          <p:cNvPr id="13" name="TextBox 12"/>
          <p:cNvSpPr txBox="1"/>
          <p:nvPr/>
        </p:nvSpPr>
        <p:spPr>
          <a:xfrm>
            <a:off x="5294375" y="1828800"/>
            <a:ext cx="2322576" cy="548640"/>
          </a:xfrm>
          <a:prstGeom prst="rect">
            <a:avLst/>
          </a:prstGeom>
          <a:noFill/>
        </p:spPr>
        <p:txBody>
          <a:bodyPr wrap="square" anchor="ctr" lIns="0" rIns="0" tIns="0" bIns="0">
            <a:spAutoFit/>
          </a:bodyPr>
          <a:lstStyle/>
          <a:p>
            <a:pPr algn="l"/>
            <a:r>
              <a:rPr sz="2000" b="1" i="0">
                <a:solidFill>
                  <a:srgbClr val="7A3E1A"/>
                </a:solidFill>
                <a:latin typeface="Calibri"/>
              </a:rPr>
              <a:t>Fields</a:t>
            </a:r>
          </a:p>
        </p:txBody>
      </p:sp>
      <p:sp>
        <p:nvSpPr>
          <p:cNvPr id="14" name="TextBox 13"/>
          <p:cNvSpPr txBox="1"/>
          <p:nvPr/>
        </p:nvSpPr>
        <p:spPr>
          <a:xfrm>
            <a:off x="4608575" y="2514600"/>
            <a:ext cx="2962656" cy="685800"/>
          </a:xfrm>
          <a:prstGeom prst="rect">
            <a:avLst/>
          </a:prstGeom>
          <a:noFill/>
        </p:spPr>
        <p:txBody>
          <a:bodyPr wrap="square" anchor="t" lIns="0" rIns="0" tIns="0" bIns="0">
            <a:spAutoFit/>
          </a:bodyPr>
          <a:lstStyle/>
          <a:p>
            <a:pPr algn="l"/>
            <a:r>
              <a:rPr sz="1300" b="0" i="0">
                <a:solidFill>
                  <a:srgbClr val="1A1610"/>
                </a:solidFill>
                <a:latin typeface="Calibri"/>
              </a:rPr>
              <a:t>{{name}} placeholders filled at run time. Never forward: only what exists at that step.</a:t>
            </a:r>
          </a:p>
        </p:txBody>
      </p:sp>
      <p:pic>
        <p:nvPicPr>
          <p:cNvPr id="15" name="Picture 14" descr="pop_fields.png"/>
          <p:cNvPicPr>
            <a:picLocks noChangeAspect="1"/>
          </p:cNvPicPr>
          <p:nvPr/>
        </p:nvPicPr>
        <p:blipFill>
          <a:blip r:embed="rId5"/>
          <a:stretch>
            <a:fillRect/>
          </a:stretch>
        </p:blipFill>
        <p:spPr>
          <a:xfrm>
            <a:off x="4608575" y="3246120"/>
            <a:ext cx="2962656" cy="1663245"/>
          </a:xfrm>
          <a:prstGeom prst="rect">
            <a:avLst/>
          </a:prstGeom>
          <a:ln w="9525">
            <a:solidFill>
              <a:srgbClr val="DDD6C8"/>
            </a:solidFill>
          </a:ln>
        </p:spPr>
      </p:pic>
      <p:sp>
        <p:nvSpPr>
          <p:cNvPr id="16" name="Rounded Rectangle 15"/>
          <p:cNvSpPr/>
          <p:nvPr/>
        </p:nvSpPr>
        <p:spPr>
          <a:xfrm>
            <a:off x="8119871" y="1645920"/>
            <a:ext cx="3511296" cy="4846320"/>
          </a:xfrm>
          <a:prstGeom prst="roundRect">
            <a:avLst>
              <a:gd name="adj" fmla="val 4000"/>
            </a:avLst>
          </a:prstGeom>
          <a:solidFill>
            <a:srgbClr val="EDE8F5"/>
          </a:solidFill>
          <a:ln>
            <a:noFill/>
          </a:ln>
        </p:spPr>
        <p:txBody>
          <a:bodyPr rtlCol="0" anchor="ctr"/>
          <a:lstStyle/>
          <a:p>
            <a:pPr algn="ctr"/>
          </a:p>
        </p:txBody>
      </p:sp>
      <p:sp>
        <p:nvSpPr>
          <p:cNvPr id="17" name="Oval 16"/>
          <p:cNvSpPr/>
          <p:nvPr/>
        </p:nvSpPr>
        <p:spPr>
          <a:xfrm>
            <a:off x="8394192" y="1828800"/>
            <a:ext cx="548640" cy="548640"/>
          </a:xfrm>
          <a:prstGeom prst="ellipse">
            <a:avLst/>
          </a:prstGeom>
          <a:solidFill>
            <a:srgbClr val="4A2A6A"/>
          </a:solidFill>
          <a:ln>
            <a:noFill/>
          </a:ln>
        </p:spPr>
        <p:txBody>
          <a:bodyPr rtlCol="0" anchor="ctr"/>
          <a:lstStyle/>
          <a:p>
            <a:pPr algn="ctr"/>
          </a:p>
        </p:txBody>
      </p:sp>
      <p:pic>
        <p:nvPicPr>
          <p:cNvPr id="18" name="Picture 17" descr="image.png"/>
          <p:cNvPicPr>
            <a:picLocks noChangeAspect="1"/>
          </p:cNvPicPr>
          <p:nvPr/>
        </p:nvPicPr>
        <p:blipFill>
          <a:blip r:embed="rId6"/>
          <a:stretch>
            <a:fillRect/>
          </a:stretch>
        </p:blipFill>
        <p:spPr>
          <a:xfrm>
            <a:off x="8514892" y="1949500"/>
            <a:ext cx="307238" cy="307238"/>
          </a:xfrm>
          <a:prstGeom prst="rect">
            <a:avLst/>
          </a:prstGeom>
        </p:spPr>
      </p:pic>
      <p:sp>
        <p:nvSpPr>
          <p:cNvPr id="19" name="TextBox 18"/>
          <p:cNvSpPr txBox="1"/>
          <p:nvPr/>
        </p:nvSpPr>
        <p:spPr>
          <a:xfrm>
            <a:off x="9079992" y="1828800"/>
            <a:ext cx="2322576" cy="548640"/>
          </a:xfrm>
          <a:prstGeom prst="rect">
            <a:avLst/>
          </a:prstGeom>
          <a:noFill/>
        </p:spPr>
        <p:txBody>
          <a:bodyPr wrap="square" anchor="ctr" lIns="0" rIns="0" tIns="0" bIns="0">
            <a:spAutoFit/>
          </a:bodyPr>
          <a:lstStyle/>
          <a:p>
            <a:pPr algn="l"/>
            <a:r>
              <a:rPr sz="2000" b="1" i="0">
                <a:solidFill>
                  <a:srgbClr val="4A2A6A"/>
                </a:solidFill>
                <a:latin typeface="Calibri"/>
              </a:rPr>
              <a:t>Strategies</a:t>
            </a:r>
          </a:p>
        </p:txBody>
      </p:sp>
      <p:sp>
        <p:nvSpPr>
          <p:cNvPr id="20" name="TextBox 19"/>
          <p:cNvSpPr txBox="1"/>
          <p:nvPr/>
        </p:nvSpPr>
        <p:spPr>
          <a:xfrm>
            <a:off x="8394192" y="2514600"/>
            <a:ext cx="2962656" cy="685800"/>
          </a:xfrm>
          <a:prstGeom prst="rect">
            <a:avLst/>
          </a:prstGeom>
          <a:noFill/>
        </p:spPr>
        <p:txBody>
          <a:bodyPr wrap="square" anchor="t" lIns="0" rIns="0" tIns="0" bIns="0">
            <a:spAutoFit/>
          </a:bodyPr>
          <a:lstStyle/>
          <a:p>
            <a:pPr algn="l"/>
            <a:r>
              <a:rPr sz="1300" b="0" i="0">
                <a:solidFill>
                  <a:srgbClr val="1A1610"/>
                </a:solidFill>
                <a:latin typeface="Calibri"/>
              </a:rPr>
              <a:t>Reusable instructions with a moment: on start, per turn or at end.</a:t>
            </a:r>
          </a:p>
        </p:txBody>
      </p:sp>
      <p:pic>
        <p:nvPicPr>
          <p:cNvPr id="21" name="Picture 20" descr="pop_strat.png"/>
          <p:cNvPicPr>
            <a:picLocks noChangeAspect="1"/>
          </p:cNvPicPr>
          <p:nvPr/>
        </p:nvPicPr>
        <p:blipFill>
          <a:blip r:embed="rId7"/>
          <a:stretch>
            <a:fillRect/>
          </a:stretch>
        </p:blipFill>
        <p:spPr>
          <a:xfrm>
            <a:off x="9028400" y="3246120"/>
            <a:ext cx="1694239" cy="3108960"/>
          </a:xfrm>
          <a:prstGeom prst="rect">
            <a:avLst/>
          </a:prstGeom>
          <a:ln w="9525">
            <a:solidFill>
              <a:srgbClr val="DDD6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